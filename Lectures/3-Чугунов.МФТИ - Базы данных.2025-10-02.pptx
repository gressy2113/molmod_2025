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sldIdLst>
    <p:sldId id="312" r:id="rId2"/>
    <p:sldId id="259" r:id="rId3"/>
    <p:sldId id="271" r:id="rId4"/>
    <p:sldId id="272" r:id="rId5"/>
    <p:sldId id="330" r:id="rId6"/>
    <p:sldId id="273" r:id="rId7"/>
    <p:sldId id="347" r:id="rId8"/>
    <p:sldId id="326" r:id="rId9"/>
    <p:sldId id="274" r:id="rId10"/>
    <p:sldId id="275" r:id="rId11"/>
    <p:sldId id="327" r:id="rId12"/>
    <p:sldId id="277" r:id="rId13"/>
    <p:sldId id="278" r:id="rId14"/>
    <p:sldId id="279" r:id="rId15"/>
    <p:sldId id="328" r:id="rId16"/>
    <p:sldId id="306" r:id="rId17"/>
    <p:sldId id="307" r:id="rId18"/>
    <p:sldId id="308" r:id="rId19"/>
    <p:sldId id="309" r:id="rId20"/>
    <p:sldId id="332" r:id="rId21"/>
    <p:sldId id="336" r:id="rId22"/>
    <p:sldId id="310" r:id="rId23"/>
    <p:sldId id="329" r:id="rId24"/>
    <p:sldId id="331" r:id="rId25"/>
    <p:sldId id="348" r:id="rId26"/>
    <p:sldId id="337" r:id="rId27"/>
    <p:sldId id="338" r:id="rId28"/>
    <p:sldId id="293" r:id="rId29"/>
  </p:sldIdLst>
  <p:sldSz cx="12192000" cy="6858000"/>
  <p:notesSz cx="6858000" cy="9144000"/>
  <p:defaultTextStyle>
    <a:defPPr>
      <a:defRPr lang="ru-RU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Georgia" pitchFamily="18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Georgia" pitchFamily="18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Georgia" pitchFamily="18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Georgia" pitchFamily="18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Georgia" pitchFamily="18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Georgia" pitchFamily="18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Georgia" pitchFamily="18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Georgia" pitchFamily="18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Georgia" pitchFamily="18" charset="0"/>
        <a:ea typeface="+mn-ea"/>
        <a:cs typeface="Arial" charset="0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BEF21698-FC29-4AEE-A8FC-E1B7A64CA708}">
          <p14:sldIdLst>
            <p14:sldId id="312"/>
            <p14:sldId id="259"/>
            <p14:sldId id="271"/>
            <p14:sldId id="272"/>
            <p14:sldId id="330"/>
            <p14:sldId id="273"/>
            <p14:sldId id="347"/>
            <p14:sldId id="326"/>
            <p14:sldId id="274"/>
            <p14:sldId id="275"/>
            <p14:sldId id="327"/>
            <p14:sldId id="277"/>
            <p14:sldId id="278"/>
            <p14:sldId id="279"/>
            <p14:sldId id="328"/>
            <p14:sldId id="306"/>
            <p14:sldId id="307"/>
            <p14:sldId id="308"/>
            <p14:sldId id="309"/>
            <p14:sldId id="332"/>
            <p14:sldId id="336"/>
            <p14:sldId id="310"/>
            <p14:sldId id="329"/>
            <p14:sldId id="331"/>
            <p14:sldId id="348"/>
            <p14:sldId id="337"/>
            <p14:sldId id="338"/>
            <p14:sldId id="29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527" userDrawn="1">
          <p15:clr>
            <a:srgbClr val="A4A3A4"/>
          </p15:clr>
        </p15:guide>
        <p15:guide id="2" pos="39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5828"/>
    <a:srgbClr val="CCFFFF"/>
    <a:srgbClr val="336699"/>
    <a:srgbClr val="448CA9"/>
    <a:srgbClr val="5FC6F1"/>
    <a:srgbClr val="BCCF17"/>
    <a:srgbClr val="5FF8F1"/>
    <a:srgbClr val="00CC66"/>
    <a:srgbClr val="66FFFF"/>
    <a:srgbClr val="99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284" autoAdjust="0"/>
  </p:normalViewPr>
  <p:slideViewPr>
    <p:cSldViewPr>
      <p:cViewPr varScale="1">
        <p:scale>
          <a:sx n="97" d="100"/>
          <a:sy n="97" d="100"/>
        </p:scale>
        <p:origin x="840" y="306"/>
      </p:cViewPr>
      <p:guideLst>
        <p:guide orient="horz" pos="527"/>
        <p:guide pos="39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6B13D8-A60D-47B0-AC7D-ED6F4BD7BBCF}" type="datetimeFigureOut">
              <a:rPr lang="ru-RU" smtClean="0"/>
              <a:t>01.10.2025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D5B228-6F08-47CA-BA1F-30201343BAC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437219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D5B228-6F08-47CA-BA1F-30201343BAC0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990889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8768CB-FF07-4957-8F04-A857B66DD236}" type="datetimeFigureOut">
              <a:rPr lang="ru-RU"/>
              <a:pPr>
                <a:defRPr/>
              </a:pPr>
              <a:t>01.10.2025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8AA814-C8C6-4217-9B40-C128ACB5CB23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420041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D843063-D736-4C25-89EB-EE556E6AA182}" type="datetimeFigureOut">
              <a:rPr lang="ru-RU"/>
              <a:pPr>
                <a:defRPr/>
              </a:pPr>
              <a:t>01.10.2025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425332-9822-4525-B28C-0D3AE9DC822F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776149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DEAC2B-B556-456E-ADA4-6EB0A095807D}" type="datetimeFigureOut">
              <a:rPr lang="ru-RU"/>
              <a:pPr>
                <a:defRPr/>
              </a:pPr>
              <a:t>01.10.2025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5088B0B-BD04-43CF-A720-C389A7D24206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963701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6AF90F-C566-4417-9397-CEF163D55471}" type="datetimeFigureOut">
              <a:rPr lang="ru-RU"/>
              <a:pPr>
                <a:defRPr/>
              </a:pPr>
              <a:t>01.10.2025</a:t>
            </a:fld>
            <a:endParaRPr lang="ru-RU"/>
          </a:p>
        </p:txBody>
      </p:sp>
      <p:sp>
        <p:nvSpPr>
          <p:cNvPr id="6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EEB065-2079-4EC1-921E-C4A6A0C5B8D0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82855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5154F8-1BF9-4683-B656-3A88547DEDDE}" type="datetimeFigureOut">
              <a:rPr lang="ru-RU"/>
              <a:pPr>
                <a:defRPr/>
              </a:pPr>
              <a:t>01.10.2025</a:t>
            </a:fld>
            <a:endParaRPr lang="ru-RU"/>
          </a:p>
        </p:txBody>
      </p:sp>
      <p:sp>
        <p:nvSpPr>
          <p:cNvPr id="8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C8F9C9-72FC-41FC-A357-AEA1B4347E9F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816578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142470F-1283-492B-ADF6-0406CB2F5430}" type="datetimeFigureOut">
              <a:rPr lang="ru-RU"/>
              <a:pPr>
                <a:defRPr/>
              </a:pPr>
              <a:t>01.10.2025</a:t>
            </a:fld>
            <a:endParaRPr lang="ru-RU"/>
          </a:p>
        </p:txBody>
      </p:sp>
      <p:sp>
        <p:nvSpPr>
          <p:cNvPr id="4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0D29DB-B74D-4A92-AC71-9130648E2BF1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862121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BA9BB1-E405-4268-A388-837F2ACCC321}" type="datetimeFigureOut">
              <a:rPr lang="ru-RU"/>
              <a:pPr>
                <a:defRPr/>
              </a:pPr>
              <a:t>01.10.2025</a:t>
            </a:fld>
            <a:endParaRPr lang="ru-RU"/>
          </a:p>
        </p:txBody>
      </p:sp>
      <p:sp>
        <p:nvSpPr>
          <p:cNvPr id="3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4966F14-DF8B-4696-A9C2-69B5A7727B1B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079723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20B905-C717-4E97-BA8F-9A744BB62A78}" type="datetimeFigureOut">
              <a:rPr lang="ru-RU"/>
              <a:pPr>
                <a:defRPr/>
              </a:pPr>
              <a:t>01.10.2025</a:t>
            </a:fld>
            <a:endParaRPr lang="ru-RU"/>
          </a:p>
        </p:txBody>
      </p:sp>
      <p:sp>
        <p:nvSpPr>
          <p:cNvPr id="6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2620EE-A8E9-4686-8872-F08E9DBBBBFC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05400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ru-RU" noProof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AC6DEE9-572C-4908-B72C-3364F6E8C73C}" type="datetimeFigureOut">
              <a:rPr lang="ru-RU"/>
              <a:pPr>
                <a:defRPr/>
              </a:pPr>
              <a:t>01.10.2025</a:t>
            </a:fld>
            <a:endParaRPr lang="ru-RU"/>
          </a:p>
        </p:txBody>
      </p:sp>
      <p:sp>
        <p:nvSpPr>
          <p:cNvPr id="6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8B3597B-C3A2-4CE4-8A55-6F8E245C889C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068763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CE90D9-3113-4E7C-9883-E686B5E48018}" type="datetimeFigureOut">
              <a:rPr lang="ru-RU"/>
              <a:pPr>
                <a:defRPr/>
              </a:pPr>
              <a:t>01.10.2025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B50A90-16EF-40C4-A67F-928077424201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18393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3C8F8D-1EBD-460C-B956-DA6611AF4057}" type="datetimeFigureOut">
              <a:rPr lang="ru-RU"/>
              <a:pPr>
                <a:defRPr/>
              </a:pPr>
              <a:t>01.10.2025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DD602C-32E3-47D6-AAF3-670D1428164D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907459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Заголовок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/>
              <a:t>Образец заголовка</a:t>
            </a:r>
          </a:p>
        </p:txBody>
      </p:sp>
      <p:sp>
        <p:nvSpPr>
          <p:cNvPr id="1027" name="Текст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3452E8F3-F39E-491A-B87C-B33B40487753}" type="datetimeFigureOut">
              <a:rPr lang="ru-RU"/>
              <a:pPr>
                <a:defRPr/>
              </a:pPr>
              <a:t>01.10.2025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54877C75-F312-49DC-AA1A-6D44C2C87A0D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ebuchet MS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ebuchet MS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ebuchet MS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ebuchet MS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ebuchet MS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ebuchet MS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ebuchet MS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ebuchet MS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wmf"/><Relationship Id="rId5" Type="http://schemas.openxmlformats.org/officeDocument/2006/relationships/image" Target="../media/image4.wmf"/><Relationship Id="rId4" Type="http://schemas.openxmlformats.org/officeDocument/2006/relationships/hyperlink" Target="https://www.ibch.ru/structure/groups/giamps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jpe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://bit.ly/BM-InSilico" TargetMode="Externa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3.png"/><Relationship Id="rId7" Type="http://schemas.openxmlformats.org/officeDocument/2006/relationships/image" Target="../media/image16.png"/><Relationship Id="rId12" Type="http://schemas.openxmlformats.org/officeDocument/2006/relationships/hyperlink" Target="http://bit.ly/BM-InSilico" TargetMode="External"/><Relationship Id="rId2" Type="http://schemas.openxmlformats.org/officeDocument/2006/relationships/hyperlink" Target="http://www.ncbi.nlm.nih.gov/genbank" TargetMode="Externa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11" Type="http://schemas.openxmlformats.org/officeDocument/2006/relationships/image" Target="../media/image19.png"/><Relationship Id="rId5" Type="http://schemas.openxmlformats.org/officeDocument/2006/relationships/hyperlink" Target="https://www.uniprot.org/" TargetMode="External"/><Relationship Id="rId10" Type="http://schemas.openxmlformats.org/officeDocument/2006/relationships/image" Target="../media/image18.png"/><Relationship Id="rId4" Type="http://schemas.openxmlformats.org/officeDocument/2006/relationships/image" Target="../media/image14.png"/><Relationship Id="rId9" Type="http://schemas.openxmlformats.org/officeDocument/2006/relationships/hyperlink" Target="https://www.rcsb.org/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eepmind.com/blog/alphafold-reveals-the-structure-of-the-protein-universe" TargetMode="External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5" Type="http://schemas.openxmlformats.org/officeDocument/2006/relationships/hyperlink" Target="http://bit.ly/BM-Sequencing" TargetMode="External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://bit.ly/BM-Proteomics" TargetMode="Externa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hyperlink" Target="http://bit.ly/BM-StructBio" TargetMode="External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BM-InSilico" TargetMode="External"/><Relationship Id="rId2" Type="http://schemas.openxmlformats.org/officeDocument/2006/relationships/image" Target="../media/image33.gif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emf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e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jpe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92" y="2376264"/>
            <a:ext cx="5975648" cy="4481736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519691" cy="324835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079776" y="1700808"/>
            <a:ext cx="662473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ru-RU" sz="3200" dirty="0" err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/>
              </a:rPr>
              <a:t>Биоинформатика</a:t>
            </a:r>
            <a:r>
              <a:rPr lang="ru-RU" sz="32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/>
              </a:rPr>
              <a:t>:</a:t>
            </a:r>
            <a:br>
              <a:rPr lang="en-US" sz="320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/>
              </a:rPr>
            </a:br>
            <a:r>
              <a:rPr lang="ru-RU" sz="320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/>
              </a:rPr>
              <a:t>«</a:t>
            </a:r>
            <a:r>
              <a:rPr lang="ru-RU" sz="32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/>
              </a:rPr>
              <a:t>текстовая» и «структурная». Базы данных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71864" y="3356992"/>
            <a:ext cx="6552728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ru-RU" sz="2000" i="1" dirty="0">
                <a:solidFill>
                  <a:srgbClr val="C00000"/>
                </a:solidFill>
              </a:rPr>
              <a:t>Чугунов Антон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ru-RU" sz="1800" dirty="0">
                <a:solidFill>
                  <a:prstClr val="black">
                    <a:lumMod val="65000"/>
                    <a:lumOff val="35000"/>
                  </a:prstClr>
                </a:solidFill>
              </a:rPr>
              <a:t>Группа анализа структуры </a:t>
            </a:r>
            <a:br>
              <a:rPr lang="ru-RU" sz="1800" dirty="0">
                <a:solidFill>
                  <a:prstClr val="black">
                    <a:lumMod val="65000"/>
                    <a:lumOff val="35000"/>
                  </a:prstClr>
                </a:solidFill>
              </a:rPr>
            </a:br>
            <a:r>
              <a:rPr lang="ru-RU" sz="1800" dirty="0">
                <a:solidFill>
                  <a:prstClr val="black">
                    <a:lumMod val="65000"/>
                    <a:lumOff val="35000"/>
                  </a:prstClr>
                </a:solidFill>
              </a:rPr>
              <a:t>мембранных белков </a:t>
            </a:r>
            <a:r>
              <a:rPr lang="en-US" sz="1800" i="1" dirty="0">
                <a:solidFill>
                  <a:prstClr val="black">
                    <a:lumMod val="65000"/>
                    <a:lumOff val="35000"/>
                  </a:prstClr>
                </a:solidFill>
              </a:rPr>
              <a:t>in silico</a:t>
            </a:r>
            <a:endParaRPr lang="ru-RU" sz="1800" i="1" dirty="0">
              <a:solidFill>
                <a:prstClr val="black"/>
              </a:solidFill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600" dirty="0">
                <a:solidFill>
                  <a:srgbClr val="C00000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https://www.ibch.ru/structure/groups/giamps</a:t>
            </a:r>
            <a:r>
              <a:rPr lang="ru-RU" sz="1600" dirty="0">
                <a:solidFill>
                  <a:srgbClr val="C00000"/>
                </a:solidFill>
              </a:rPr>
              <a:t> </a:t>
            </a:r>
            <a:endParaRPr lang="en-US" sz="1600" dirty="0">
              <a:solidFill>
                <a:srgbClr val="C00000"/>
              </a:solidFill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1600" dirty="0">
              <a:solidFill>
                <a:prstClr val="black"/>
              </a:solidFill>
              <a:cs typeface="Arial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1600" dirty="0">
              <a:solidFill>
                <a:prstClr val="black"/>
              </a:solidFill>
              <a:cs typeface="Arial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ru-RU" sz="1600" dirty="0">
              <a:solidFill>
                <a:prstClr val="black"/>
              </a:solidFill>
              <a:cs typeface="Arial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1600" dirty="0">
              <a:solidFill>
                <a:prstClr val="black"/>
              </a:solidFill>
              <a:cs typeface="Arial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1600" dirty="0">
              <a:solidFill>
                <a:prstClr val="black"/>
              </a:solidFill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sz="1600" b="0" i="1" u="none" strike="noStrike" kern="1200" cap="none" spc="0" normalizeH="0" baseline="0" noProof="0" dirty="0">
              <a:ln>
                <a:noFill/>
              </a:ln>
              <a:uLnTx/>
              <a:uFillTx/>
              <a:latin typeface="Georgia" pitchFamily="18" charset="0"/>
              <a:ea typeface="+mn-ea"/>
              <a:cs typeface="Arial" charset="0"/>
            </a:endParaRPr>
          </a:p>
          <a:p>
            <a:pPr lvl="0">
              <a:defRPr/>
            </a:pPr>
            <a:r>
              <a:rPr lang="ru-RU" sz="1600" i="1" dirty="0"/>
              <a:t>Долгопрудный, МФТИ</a:t>
            </a:r>
            <a:endParaRPr lang="en-US" sz="1600" i="1" dirty="0"/>
          </a:p>
          <a:p>
            <a:pPr lvl="0">
              <a:defRPr/>
            </a:pPr>
            <a:r>
              <a:rPr lang="ru-RU" sz="1600" i="1" dirty="0"/>
              <a:t>2 октября 202</a:t>
            </a:r>
            <a:r>
              <a:rPr lang="en-US" sz="1600" i="1" dirty="0"/>
              <a:t>5</a:t>
            </a:r>
            <a:r>
              <a:rPr lang="ru-RU" sz="1600" i="1" dirty="0"/>
              <a:t> г.</a:t>
            </a:r>
            <a:endParaRPr kumimoji="0" lang="ru-RU" sz="1600" b="0" i="1" u="none" strike="noStrike" kern="1200" cap="none" spc="0" normalizeH="0" baseline="0" noProof="0" dirty="0">
              <a:ln>
                <a:noFill/>
              </a:ln>
              <a:uLnTx/>
              <a:uFillTx/>
              <a:latin typeface="Georgia" pitchFamily="18" charset="0"/>
              <a:ea typeface="+mn-ea"/>
              <a:cs typeface="Arial" charset="0"/>
            </a:endParaRPr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1127" y="3356993"/>
            <a:ext cx="526722" cy="1033233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33033D34-FDB5-4158-8B30-9A46EF4B8853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352" y="260648"/>
            <a:ext cx="1466564" cy="438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1292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72471" y="-99392"/>
            <a:ext cx="12949191" cy="77780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981200" y="908050"/>
            <a:ext cx="6347048" cy="4897214"/>
          </a:xfrm>
        </p:spPr>
        <p:txBody>
          <a:bodyPr/>
          <a:lstStyle/>
          <a:p>
            <a:pPr eaLnBrk="1" hangingPunct="1">
              <a:buFont typeface="+mj-lt"/>
              <a:buAutoNum type="arabicPeriod"/>
              <a:defRPr/>
            </a:pPr>
            <a:r>
              <a:rPr lang="ru-RU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Что такое </a:t>
            </a:r>
            <a:r>
              <a:rPr lang="ru-RU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биоинформатика</a:t>
            </a:r>
            <a:r>
              <a:rPr lang="ru-RU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?</a:t>
            </a:r>
          </a:p>
          <a:p>
            <a:pPr eaLnBrk="1" hangingPunct="1">
              <a:buFont typeface="+mj-lt"/>
              <a:buAutoNum type="arabicPeriod"/>
              <a:defRPr/>
            </a:pPr>
            <a:r>
              <a:rPr lang="ru-RU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Большие базы «сухой биологии»</a:t>
            </a:r>
          </a:p>
          <a:p>
            <a:pPr eaLnBrk="1" hangingPunct="1">
              <a:buFont typeface="+mj-lt"/>
              <a:buAutoNum type="arabicPeriod"/>
              <a:defRPr/>
            </a:pPr>
            <a:r>
              <a:rPr lang="ru-RU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Последовательности генов</a:t>
            </a:r>
          </a:p>
          <a:p>
            <a:pPr eaLnBrk="1" hangingPunct="1">
              <a:buFont typeface="+mj-lt"/>
              <a:buAutoNum type="arabicPeriod"/>
              <a:defRPr/>
            </a:pPr>
            <a:r>
              <a:rPr lang="ru-RU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Аминокислотные последовательности</a:t>
            </a:r>
          </a:p>
          <a:p>
            <a:pPr eaLnBrk="1" hangingPunct="1">
              <a:buFont typeface="+mj-lt"/>
              <a:buAutoNum type="arabicPeriod"/>
              <a:defRPr/>
            </a:pPr>
            <a:r>
              <a:rPr lang="ru-RU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Структуры белков</a:t>
            </a:r>
          </a:p>
          <a:p>
            <a:pPr eaLnBrk="1" hangingPunct="1">
              <a:buFont typeface="+mj-lt"/>
              <a:buAutoNum type="arabicPeriod"/>
              <a:defRPr/>
            </a:pPr>
            <a:r>
              <a:rPr lang="ru-RU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Выравнивание последовательностей</a:t>
            </a:r>
          </a:p>
          <a:p>
            <a:pPr eaLnBrk="1" hangingPunct="1">
              <a:buFont typeface="+mj-lt"/>
              <a:buAutoNum type="arabicPeriod"/>
              <a:defRPr/>
            </a:pPr>
            <a:r>
              <a:rPr lang="ru-RU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Поиск последовательностей в базах</a:t>
            </a:r>
          </a:p>
          <a:p>
            <a:pPr eaLnBrk="1" hangingPunct="1">
              <a:buFont typeface="+mj-lt"/>
              <a:buAutoNum type="arabicPeriod"/>
              <a:defRPr/>
            </a:pPr>
            <a:r>
              <a:rPr lang="ru-RU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Филогенетические деревья</a:t>
            </a:r>
          </a:p>
        </p:txBody>
      </p:sp>
      <p:sp>
        <p:nvSpPr>
          <p:cNvPr id="4" name="Text Box 16"/>
          <p:cNvSpPr txBox="1">
            <a:spLocks noChangeArrowheads="1"/>
          </p:cNvSpPr>
          <p:nvPr/>
        </p:nvSpPr>
        <p:spPr bwMode="auto">
          <a:xfrm>
            <a:off x="1992313" y="287339"/>
            <a:ext cx="7777162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 i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i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ru-RU" sz="3000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+mn-cs"/>
              </a:rPr>
              <a:t>План лекции</a:t>
            </a:r>
            <a:endParaRPr lang="en-US" sz="3000" dirty="0">
              <a:solidFill>
                <a:schemeClr val="accent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cs typeface="+mn-cs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6200" y="-66261"/>
            <a:ext cx="2771800" cy="2771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652316">
            <a:off x="1243243" y="3642759"/>
            <a:ext cx="9318627" cy="6464797"/>
          </a:xfrm>
          <a:prstGeom prst="rect">
            <a:avLst/>
          </a:prstGeom>
          <a:effectLst>
            <a:softEdge rad="635000"/>
          </a:effectLst>
        </p:spPr>
      </p:pic>
      <p:sp>
        <p:nvSpPr>
          <p:cNvPr id="4" name="Text Box 16"/>
          <p:cNvSpPr txBox="1">
            <a:spLocks noChangeArrowheads="1"/>
          </p:cNvSpPr>
          <p:nvPr/>
        </p:nvSpPr>
        <p:spPr bwMode="auto">
          <a:xfrm>
            <a:off x="1992313" y="287338"/>
            <a:ext cx="7777162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 i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i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ru-RU" sz="3000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+mn-cs"/>
              </a:rPr>
              <a:t>Что такое «</a:t>
            </a:r>
            <a:r>
              <a:rPr lang="ru-RU" sz="3000" dirty="0" err="1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+mn-cs"/>
              </a:rPr>
              <a:t>биоинформатика</a:t>
            </a:r>
            <a:r>
              <a:rPr lang="ru-RU" sz="3000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+mn-cs"/>
              </a:rPr>
              <a:t>»?</a:t>
            </a:r>
            <a:endParaRPr lang="en-US" sz="3000" dirty="0">
              <a:solidFill>
                <a:schemeClr val="accent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cs typeface="+mn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818961" y="0"/>
            <a:ext cx="3373039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sz="1600" b="1" i="1" dirty="0">
                <a:solidFill>
                  <a:srgbClr val="FFFF00"/>
                </a:solidFill>
                <a:latin typeface="+mj-lt"/>
              </a:rPr>
              <a:t>I. </a:t>
            </a:r>
            <a:r>
              <a:rPr lang="ru-RU" sz="1600" b="1" i="1" dirty="0">
                <a:solidFill>
                  <a:srgbClr val="FFFF00"/>
                </a:solidFill>
                <a:latin typeface="+mj-lt"/>
              </a:rPr>
              <a:t>Введение в «сухую биологию»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1992313" y="1052736"/>
            <a:ext cx="828015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/>
            <a:r>
              <a:rPr lang="ru-RU" dirty="0" err="1">
                <a:solidFill>
                  <a:srgbClr val="00B050"/>
                </a:solidFill>
                <a:latin typeface="+mn-lt"/>
              </a:rPr>
              <a:t>БИО</a:t>
            </a:r>
            <a:r>
              <a:rPr lang="ru-RU" dirty="0" err="1">
                <a:latin typeface="+mn-lt"/>
              </a:rPr>
              <a:t>логия</a:t>
            </a:r>
            <a:r>
              <a:rPr lang="ru-RU" dirty="0">
                <a:latin typeface="+mn-lt"/>
              </a:rPr>
              <a:t> + </a:t>
            </a:r>
            <a:r>
              <a:rPr lang="ru-RU" dirty="0">
                <a:solidFill>
                  <a:srgbClr val="00B050"/>
                </a:solidFill>
                <a:latin typeface="+mn-lt"/>
              </a:rPr>
              <a:t>ИНФОРМАТИКА</a:t>
            </a:r>
            <a:r>
              <a:rPr lang="ru-RU" dirty="0">
                <a:latin typeface="+mn-lt"/>
              </a:rPr>
              <a:t>: </a:t>
            </a:r>
            <a:r>
              <a:rPr lang="en-US" dirty="0">
                <a:latin typeface="+mn-lt"/>
              </a:rPr>
              <a:t>“computer science” </a:t>
            </a:r>
            <a:r>
              <a:rPr lang="ru-RU" dirty="0">
                <a:latin typeface="+mn-lt"/>
              </a:rPr>
              <a:t>в биологии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345805" y="1780461"/>
            <a:ext cx="206338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+mj-lt"/>
              </a:rPr>
              <a:t>Структурная</a:t>
            </a:r>
          </a:p>
          <a:p>
            <a:r>
              <a:rPr lang="ru-RU" dirty="0" err="1">
                <a:latin typeface="+mj-lt"/>
              </a:rPr>
              <a:t>биоинформатика</a:t>
            </a:r>
            <a:endParaRPr lang="ru-RU" dirty="0">
              <a:latin typeface="+mj-lt"/>
            </a:endParaRPr>
          </a:p>
        </p:txBody>
      </p:sp>
      <p:pic>
        <p:nvPicPr>
          <p:cNvPr id="7" name="Picture 5"/>
          <p:cNvPicPr/>
          <p:nvPr/>
        </p:nvPicPr>
        <p:blipFill rotWithShape="1">
          <a:blip r:embed="rId3"/>
          <a:srcRect t="19153"/>
          <a:stretch/>
        </p:blipFill>
        <p:spPr>
          <a:xfrm>
            <a:off x="1343472" y="2438033"/>
            <a:ext cx="1943448" cy="2781100"/>
          </a:xfrm>
          <a:prstGeom prst="rect">
            <a:avLst/>
          </a:prstGeom>
          <a:ln>
            <a:noFill/>
          </a:ln>
        </p:spPr>
      </p:pic>
      <p:sp>
        <p:nvSpPr>
          <p:cNvPr id="8" name="TextBox 7"/>
          <p:cNvSpPr txBox="1"/>
          <p:nvPr/>
        </p:nvSpPr>
        <p:spPr>
          <a:xfrm>
            <a:off x="1345804" y="5387386"/>
            <a:ext cx="1667764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6213" indent="-176213">
              <a:buFont typeface="Arial" panose="020B0604020202020204" pitchFamily="34" charset="0"/>
              <a:buChar char="•"/>
            </a:pPr>
            <a:r>
              <a:rPr lang="ru-RU" sz="1400" dirty="0">
                <a:latin typeface="+mj-lt"/>
              </a:rPr>
              <a:t>Молекулярное</a:t>
            </a:r>
            <a:br>
              <a:rPr lang="ru-RU" sz="1400" dirty="0">
                <a:latin typeface="+mj-lt"/>
              </a:rPr>
            </a:br>
            <a:r>
              <a:rPr lang="ru-RU" sz="1400" dirty="0">
                <a:latin typeface="+mj-lt"/>
              </a:rPr>
              <a:t>моделирование</a:t>
            </a:r>
          </a:p>
          <a:p>
            <a:pPr marL="176213" indent="-176213">
              <a:buFont typeface="Arial" panose="020B0604020202020204" pitchFamily="34" charset="0"/>
              <a:buChar char="•"/>
            </a:pPr>
            <a:r>
              <a:rPr lang="ru-RU" sz="1400" dirty="0">
                <a:latin typeface="+mj-lt"/>
              </a:rPr>
              <a:t>Дизайн белков</a:t>
            </a:r>
          </a:p>
          <a:p>
            <a:pPr marL="176213" indent="-176213">
              <a:buFont typeface="Arial" panose="020B0604020202020204" pitchFamily="34" charset="0"/>
              <a:buChar char="•"/>
            </a:pPr>
            <a:r>
              <a:rPr lang="ru-RU" sz="1400" dirty="0">
                <a:latin typeface="+mj-lt"/>
              </a:rPr>
              <a:t>Драг-дизайн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35321" y="1780461"/>
            <a:ext cx="206338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+mj-lt"/>
              </a:rPr>
              <a:t>«Текстовая»</a:t>
            </a:r>
          </a:p>
          <a:p>
            <a:r>
              <a:rPr lang="ru-RU" dirty="0" err="1">
                <a:latin typeface="+mj-lt"/>
              </a:rPr>
              <a:t>биоинформатика</a:t>
            </a:r>
            <a:endParaRPr lang="ru-RU" dirty="0">
              <a:latin typeface="+mj-lt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151784" y="5387385"/>
            <a:ext cx="252027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6213" indent="-176213">
              <a:buFont typeface="Arial" panose="020B0604020202020204" pitchFamily="34" charset="0"/>
              <a:buChar char="•"/>
            </a:pPr>
            <a:r>
              <a:rPr lang="ru-RU" sz="1400" dirty="0">
                <a:latin typeface="+mj-lt"/>
              </a:rPr>
              <a:t>«Биологические тексты»</a:t>
            </a:r>
          </a:p>
          <a:p>
            <a:pPr marL="176213" indent="-176213">
              <a:buFont typeface="Arial" panose="020B0604020202020204" pitchFamily="34" charset="0"/>
              <a:buChar char="•"/>
            </a:pPr>
            <a:r>
              <a:rPr lang="ru-RU" sz="1400" dirty="0">
                <a:latin typeface="+mj-lt"/>
              </a:rPr>
              <a:t>Компьютерная </a:t>
            </a:r>
            <a:r>
              <a:rPr lang="ru-RU" sz="1400" dirty="0" err="1">
                <a:latin typeface="+mj-lt"/>
              </a:rPr>
              <a:t>геномика</a:t>
            </a:r>
            <a:endParaRPr lang="ru-RU" sz="1400" dirty="0">
              <a:latin typeface="+mj-lt"/>
            </a:endParaRPr>
          </a:p>
          <a:p>
            <a:pPr marL="176213" indent="-176213">
              <a:buFont typeface="Arial" panose="020B0604020202020204" pitchFamily="34" charset="0"/>
              <a:buChar char="•"/>
            </a:pPr>
            <a:r>
              <a:rPr lang="ru-RU" sz="1400" dirty="0">
                <a:latin typeface="+mj-lt"/>
              </a:rPr>
              <a:t>Молекулярная эволюция</a:t>
            </a:r>
          </a:p>
        </p:txBody>
      </p:sp>
      <p:pic>
        <p:nvPicPr>
          <p:cNvPr id="13" name="Picture 3"/>
          <p:cNvPicPr/>
          <p:nvPr/>
        </p:nvPicPr>
        <p:blipFill rotWithShape="1">
          <a:blip r:embed="rId4"/>
          <a:srcRect r="37673"/>
          <a:stretch/>
        </p:blipFill>
        <p:spPr>
          <a:xfrm>
            <a:off x="4235321" y="2440399"/>
            <a:ext cx="1935019" cy="2789640"/>
          </a:xfrm>
          <a:prstGeom prst="rect">
            <a:avLst/>
          </a:prstGeom>
          <a:ln>
            <a:noFill/>
          </a:ln>
        </p:spPr>
      </p:pic>
      <p:sp>
        <p:nvSpPr>
          <p:cNvPr id="14" name="TextBox 13"/>
          <p:cNvSpPr txBox="1"/>
          <p:nvPr/>
        </p:nvSpPr>
        <p:spPr>
          <a:xfrm>
            <a:off x="7281404" y="1780461"/>
            <a:ext cx="206338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+mj-lt"/>
              </a:rPr>
              <a:t>Алгоритмическая</a:t>
            </a:r>
          </a:p>
          <a:p>
            <a:r>
              <a:rPr lang="ru-RU" dirty="0" err="1">
                <a:latin typeface="+mj-lt"/>
              </a:rPr>
              <a:t>биоинформатика</a:t>
            </a:r>
            <a:endParaRPr lang="ru-RU" dirty="0">
              <a:latin typeface="+mj-lt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197866" y="5387386"/>
            <a:ext cx="2930582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6213" indent="-176213">
              <a:buFont typeface="Arial" panose="020B0604020202020204" pitchFamily="34" charset="0"/>
              <a:buChar char="•"/>
            </a:pPr>
            <a:r>
              <a:rPr lang="ru-RU" sz="1400" dirty="0">
                <a:latin typeface="+mj-lt"/>
              </a:rPr>
              <a:t>Моделирование сложных систем</a:t>
            </a:r>
          </a:p>
          <a:p>
            <a:pPr marL="176213" indent="-176213">
              <a:buFont typeface="Arial" panose="020B0604020202020204" pitchFamily="34" charset="0"/>
              <a:buChar char="•"/>
            </a:pPr>
            <a:r>
              <a:rPr lang="ru-RU" sz="1400" dirty="0">
                <a:latin typeface="+mj-lt"/>
              </a:rPr>
              <a:t>Генные сети</a:t>
            </a:r>
          </a:p>
          <a:p>
            <a:pPr marL="176213" indent="-176213">
              <a:buFont typeface="Arial" panose="020B0604020202020204" pitchFamily="34" charset="0"/>
              <a:buChar char="•"/>
            </a:pPr>
            <a:r>
              <a:rPr lang="ru-RU" sz="1400" dirty="0">
                <a:latin typeface="+mj-lt"/>
              </a:rPr>
              <a:t>Алгоритмы </a:t>
            </a:r>
            <a:r>
              <a:rPr lang="ru-RU" sz="1400" dirty="0" err="1">
                <a:latin typeface="+mj-lt"/>
              </a:rPr>
              <a:t>биоинформатики</a:t>
            </a:r>
            <a:endParaRPr lang="ru-RU" sz="1400" dirty="0">
              <a:latin typeface="+mj-lt"/>
            </a:endParaRPr>
          </a:p>
          <a:p>
            <a:pPr marL="176213" indent="-176213">
              <a:buFont typeface="Arial" panose="020B0604020202020204" pitchFamily="34" charset="0"/>
              <a:buChar char="•"/>
            </a:pPr>
            <a:r>
              <a:rPr lang="ru-RU" sz="1400" dirty="0">
                <a:latin typeface="+mj-lt"/>
              </a:rPr>
              <a:t>и т.д.</a:t>
            </a:r>
          </a:p>
        </p:txBody>
      </p:sp>
      <p:pic>
        <p:nvPicPr>
          <p:cNvPr id="17" name="Picture 2" descr="ÐÐ°ÑÑÐ¸Ð½ÐºÐ¸ Ð¿Ð¾ Ð·Ð°Ð¿ÑÐ¾ÑÑ bioinformatics gene networks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81404" y="2438034"/>
            <a:ext cx="2775037" cy="27750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618299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8" grpId="0"/>
      <p:bldP spid="10" grpId="0"/>
      <p:bldP spid="12" grpId="0"/>
      <p:bldP spid="14" grpId="0"/>
      <p:bldP spid="1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6"/>
          <p:cNvSpPr txBox="1">
            <a:spLocks noChangeArrowheads="1"/>
          </p:cNvSpPr>
          <p:nvPr/>
        </p:nvSpPr>
        <p:spPr bwMode="auto">
          <a:xfrm>
            <a:off x="1992313" y="287338"/>
            <a:ext cx="7777162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 i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i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ru-RU" sz="3000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+mn-cs"/>
              </a:rPr>
              <a:t>Разновидности </a:t>
            </a:r>
            <a:r>
              <a:rPr lang="ru-RU" sz="3000" dirty="0" err="1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+mn-cs"/>
              </a:rPr>
              <a:t>биоинформатики</a:t>
            </a:r>
            <a:endParaRPr lang="en-US" sz="3000" dirty="0">
              <a:solidFill>
                <a:schemeClr val="accent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cs typeface="+mn-cs"/>
            </a:endParaRP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1981200" y="1052736"/>
            <a:ext cx="8229600" cy="187325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ru-RU" sz="2400" dirty="0"/>
              <a:t>Клиническая </a:t>
            </a:r>
            <a:r>
              <a:rPr lang="ru-RU" sz="2400" dirty="0" err="1"/>
              <a:t>биоинформатика</a:t>
            </a:r>
            <a:endParaRPr lang="ru-RU" sz="2400" dirty="0"/>
          </a:p>
          <a:p>
            <a:pPr eaLnBrk="1" hangingPunct="1">
              <a:lnSpc>
                <a:spcPct val="90000"/>
              </a:lnSpc>
            </a:pPr>
            <a:r>
              <a:rPr lang="ru-RU" sz="2400" dirty="0"/>
              <a:t>Структурная </a:t>
            </a:r>
            <a:r>
              <a:rPr lang="ru-RU" sz="2400" dirty="0" err="1"/>
              <a:t>геномика</a:t>
            </a:r>
            <a:endParaRPr lang="ru-RU" sz="2400" dirty="0"/>
          </a:p>
          <a:p>
            <a:pPr eaLnBrk="1" hangingPunct="1">
              <a:lnSpc>
                <a:spcPct val="90000"/>
              </a:lnSpc>
            </a:pPr>
            <a:r>
              <a:rPr lang="ru-RU" sz="2400" dirty="0"/>
              <a:t>Функциональная </a:t>
            </a:r>
            <a:r>
              <a:rPr lang="ru-RU" sz="2400" dirty="0" err="1"/>
              <a:t>геномика</a:t>
            </a:r>
            <a:endParaRPr lang="ru-RU" sz="2400" dirty="0"/>
          </a:p>
          <a:p>
            <a:pPr eaLnBrk="1" hangingPunct="1">
              <a:lnSpc>
                <a:spcPct val="90000"/>
              </a:lnSpc>
            </a:pPr>
            <a:r>
              <a:rPr lang="ru-RU" sz="2400" dirty="0" err="1"/>
              <a:t>Фармакогеномика</a:t>
            </a:r>
            <a:endParaRPr lang="ru-RU" sz="2400" dirty="0"/>
          </a:p>
          <a:p>
            <a:pPr eaLnBrk="1" hangingPunct="1">
              <a:lnSpc>
                <a:spcPct val="90000"/>
              </a:lnSpc>
            </a:pPr>
            <a:r>
              <a:rPr lang="ru-RU" sz="2400" dirty="0"/>
              <a:t>Клиническая </a:t>
            </a:r>
            <a:r>
              <a:rPr lang="ru-RU" sz="2400" dirty="0" err="1"/>
              <a:t>протеомика</a:t>
            </a:r>
            <a:endParaRPr lang="ru-RU" sz="2400" dirty="0"/>
          </a:p>
          <a:p>
            <a:pPr eaLnBrk="1" hangingPunct="1">
              <a:lnSpc>
                <a:spcPct val="90000"/>
              </a:lnSpc>
            </a:pPr>
            <a:r>
              <a:rPr lang="ru-RU" sz="2400" dirty="0"/>
              <a:t>Функциональная </a:t>
            </a:r>
            <a:r>
              <a:rPr lang="ru-RU" sz="2400" dirty="0" err="1"/>
              <a:t>протеомика</a:t>
            </a:r>
            <a:endParaRPr lang="ru-RU" sz="2400" dirty="0"/>
          </a:p>
          <a:p>
            <a:pPr eaLnBrk="1" hangingPunct="1">
              <a:lnSpc>
                <a:spcPct val="90000"/>
              </a:lnSpc>
            </a:pPr>
            <a:r>
              <a:rPr lang="ru-RU" sz="2400" dirty="0"/>
              <a:t>Структурная </a:t>
            </a:r>
            <a:r>
              <a:rPr lang="ru-RU" sz="2400" dirty="0" err="1"/>
              <a:t>протеомика</a:t>
            </a:r>
            <a:endParaRPr lang="ru-RU" sz="2400" dirty="0"/>
          </a:p>
          <a:p>
            <a:pPr eaLnBrk="1" hangingPunct="1">
              <a:lnSpc>
                <a:spcPct val="90000"/>
              </a:lnSpc>
            </a:pPr>
            <a:r>
              <a:rPr lang="ru-RU" sz="2400" dirty="0"/>
              <a:t>Другие «</a:t>
            </a:r>
            <a:r>
              <a:rPr lang="ru-RU" sz="2400" dirty="0" err="1"/>
              <a:t>омики</a:t>
            </a:r>
            <a:r>
              <a:rPr lang="ru-RU" sz="2400" dirty="0"/>
              <a:t>» </a:t>
            </a:r>
          </a:p>
          <a:p>
            <a:pPr marL="0" indent="0" eaLnBrk="1" hangingPunct="1">
              <a:lnSpc>
                <a:spcPct val="90000"/>
              </a:lnSpc>
              <a:buNone/>
            </a:pPr>
            <a:endParaRPr lang="ru-RU" sz="1600" dirty="0"/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ru-RU" sz="1600" dirty="0"/>
              <a:t>…и любые направления современной биологии и медицины, где необходимо систематизировать и анализировать данные биохимических экспериментов</a:t>
            </a:r>
          </a:p>
          <a:p>
            <a:pPr eaLnBrk="1" hangingPunct="1">
              <a:lnSpc>
                <a:spcPct val="90000"/>
              </a:lnSpc>
            </a:pPr>
            <a:endParaRPr lang="ru-RU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7066B7F-EDD2-BCF4-523E-E9C03F2C8B57}"/>
              </a:ext>
            </a:extLst>
          </p:cNvPr>
          <p:cNvSpPr txBox="1"/>
          <p:nvPr/>
        </p:nvSpPr>
        <p:spPr>
          <a:xfrm>
            <a:off x="8818961" y="0"/>
            <a:ext cx="3373039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sz="1600" b="1" i="1" dirty="0">
                <a:solidFill>
                  <a:srgbClr val="FFFF00"/>
                </a:solidFill>
                <a:latin typeface="+mj-lt"/>
              </a:rPr>
              <a:t>I. </a:t>
            </a:r>
            <a:r>
              <a:rPr lang="ru-RU" sz="1600" b="1" i="1" dirty="0">
                <a:solidFill>
                  <a:srgbClr val="FFFF00"/>
                </a:solidFill>
                <a:latin typeface="+mj-lt"/>
              </a:rPr>
              <a:t>Введение в «сухую биологию»</a:t>
            </a:r>
          </a:p>
        </p:txBody>
      </p:sp>
    </p:spTree>
    <p:extLst>
      <p:ext uri="{BB962C8B-B14F-4D97-AF65-F5344CB8AC3E}">
        <p14:creationId xmlns:p14="http://schemas.microsoft.com/office/powerpoint/2010/main" val="32324460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6"/>
          <p:cNvSpPr txBox="1">
            <a:spLocks noChangeArrowheads="1"/>
          </p:cNvSpPr>
          <p:nvPr/>
        </p:nvSpPr>
        <p:spPr bwMode="auto">
          <a:xfrm>
            <a:off x="1992313" y="287338"/>
            <a:ext cx="7777162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 i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i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ru-RU" sz="3000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+mn-cs"/>
              </a:rPr>
              <a:t>Немного истории</a:t>
            </a:r>
            <a:endParaRPr lang="en-US" sz="3000" dirty="0">
              <a:solidFill>
                <a:schemeClr val="accent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cs typeface="+mn-cs"/>
            </a:endParaRPr>
          </a:p>
        </p:txBody>
      </p:sp>
      <p:pic>
        <p:nvPicPr>
          <p:cNvPr id="13314" name="Picture 2" descr="https://biomolecula.ru/img/content/2301/01.istorija-suhoj-biologii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25068"/>
            <a:ext cx="12191999" cy="66763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9264352" y="6381328"/>
            <a:ext cx="28232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  <a:hlinkClick r:id="rId4"/>
              </a:rPr>
              <a:t>http://bit.ly/BM-InSilico</a:t>
            </a:r>
            <a:r>
              <a:rPr lang="ru-RU" dirty="0">
                <a:solidFill>
                  <a:srgbClr val="00B050"/>
                </a:solidFill>
              </a:rPr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EBD046-07FD-AA38-FE1A-83582D88D1F9}"/>
              </a:ext>
            </a:extLst>
          </p:cNvPr>
          <p:cNvSpPr txBox="1"/>
          <p:nvPr/>
        </p:nvSpPr>
        <p:spPr>
          <a:xfrm>
            <a:off x="8818961" y="0"/>
            <a:ext cx="3373039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sz="1600" b="1" i="1" dirty="0">
                <a:solidFill>
                  <a:srgbClr val="FFFF00"/>
                </a:solidFill>
                <a:latin typeface="+mj-lt"/>
              </a:rPr>
              <a:t>I. </a:t>
            </a:r>
            <a:r>
              <a:rPr lang="ru-RU" sz="1600" b="1" i="1" dirty="0">
                <a:solidFill>
                  <a:srgbClr val="FFFF00"/>
                </a:solidFill>
                <a:latin typeface="+mj-lt"/>
              </a:rPr>
              <a:t>Введение в «сухую биологию»</a:t>
            </a:r>
          </a:p>
        </p:txBody>
      </p:sp>
      <p:sp>
        <p:nvSpPr>
          <p:cNvPr id="6" name="Text Box 16">
            <a:extLst>
              <a:ext uri="{FF2B5EF4-FFF2-40B4-BE49-F238E27FC236}">
                <a16:creationId xmlns:a16="http://schemas.microsoft.com/office/drawing/2014/main" id="{A5537ACA-7047-14B5-83DC-22005FC881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3392" y="-70856"/>
            <a:ext cx="7777162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 i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i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ru-RU" sz="3000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+mn-cs"/>
              </a:rPr>
              <a:t>Немного истории</a:t>
            </a:r>
            <a:endParaRPr lang="en-US" sz="3000" dirty="0">
              <a:solidFill>
                <a:schemeClr val="accent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93481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6"/>
          <p:cNvSpPr txBox="1">
            <a:spLocks noChangeArrowheads="1"/>
          </p:cNvSpPr>
          <p:nvPr/>
        </p:nvSpPr>
        <p:spPr bwMode="auto">
          <a:xfrm>
            <a:off x="1992313" y="287338"/>
            <a:ext cx="7777162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 i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i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ru-RU" sz="3000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+mn-cs"/>
              </a:rPr>
              <a:t>Большие базы «сухой биологии»</a:t>
            </a:r>
            <a:endParaRPr lang="en-US" sz="3000" dirty="0">
              <a:solidFill>
                <a:schemeClr val="accent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439407" y="0"/>
            <a:ext cx="3706464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sz="1600" b="1" i="1" dirty="0">
                <a:solidFill>
                  <a:srgbClr val="FFFF00"/>
                </a:solidFill>
                <a:latin typeface="+mj-lt"/>
              </a:rPr>
              <a:t>II. </a:t>
            </a:r>
            <a:r>
              <a:rPr lang="ru-RU" sz="1600" b="1" i="1" dirty="0">
                <a:solidFill>
                  <a:srgbClr val="FFFF00"/>
                </a:solidFill>
                <a:latin typeface="+mj-lt"/>
              </a:rPr>
              <a:t>Большие базы «сухой» биологии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346" y="1143028"/>
            <a:ext cx="2374111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+mj-lt"/>
              </a:rPr>
              <a:t>Genbank</a:t>
            </a:r>
            <a:endParaRPr lang="en-US" dirty="0">
              <a:latin typeface="+mj-lt"/>
            </a:endParaRPr>
          </a:p>
          <a:p>
            <a:r>
              <a:rPr lang="en-US" sz="1200" dirty="0">
                <a:latin typeface="+mj-lt"/>
                <a:hlinkClick r:id="rId2"/>
              </a:rPr>
              <a:t>www.ncbi.nlm.nih.gov/genbank</a:t>
            </a:r>
            <a:endParaRPr lang="ru-RU" sz="1200" dirty="0">
              <a:latin typeface="+mj-lt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060345" y="2699466"/>
            <a:ext cx="2733204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6213" indent="-176213">
              <a:buFont typeface="Arial" panose="020B0604020202020204" pitchFamily="34" charset="0"/>
              <a:buChar char="•"/>
            </a:pPr>
            <a:r>
              <a:rPr lang="ru-RU" sz="1400" dirty="0">
                <a:latin typeface="+mj-lt"/>
              </a:rPr>
              <a:t>«Склад» генетических данных</a:t>
            </a:r>
          </a:p>
          <a:p>
            <a:pPr marL="176213" indent="-176213">
              <a:buFont typeface="Arial" panose="020B0604020202020204" pitchFamily="34" charset="0"/>
              <a:buChar char="•"/>
            </a:pPr>
            <a:r>
              <a:rPr lang="ru-RU" sz="1400" dirty="0">
                <a:latin typeface="+mj-lt"/>
              </a:rPr>
              <a:t>Сотни миллионов последовательностей генов</a:t>
            </a:r>
          </a:p>
          <a:p>
            <a:pPr marL="176213" indent="-176213">
              <a:buFont typeface="Arial" panose="020B0604020202020204" pitchFamily="34" charset="0"/>
              <a:buChar char="•"/>
            </a:pPr>
            <a:r>
              <a:rPr lang="ru-RU" sz="1400" dirty="0">
                <a:latin typeface="+mj-lt"/>
              </a:rPr>
              <a:t>Полные геномы</a:t>
            </a: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230" y="1727858"/>
            <a:ext cx="2533746" cy="90905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3230" y="4343137"/>
            <a:ext cx="2533746" cy="181385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39416" y="4127693"/>
            <a:ext cx="130195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latin typeface="+mj-lt"/>
              </a:rPr>
              <a:t># </a:t>
            </a:r>
            <a:r>
              <a:rPr lang="ru-RU" sz="800" dirty="0">
                <a:latin typeface="+mj-lt"/>
              </a:rPr>
              <a:t>последовательностей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381468" y="5422426"/>
            <a:ext cx="103746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solidFill>
                  <a:srgbClr val="0070C0"/>
                </a:solidFill>
                <a:latin typeface="+mj-lt"/>
              </a:rPr>
              <a:t>— </a:t>
            </a:r>
            <a:r>
              <a:rPr lang="en-US" sz="800" dirty="0" err="1">
                <a:solidFill>
                  <a:srgbClr val="0070C0"/>
                </a:solidFill>
                <a:latin typeface="+mj-lt"/>
              </a:rPr>
              <a:t>GenBank</a:t>
            </a:r>
            <a:endParaRPr lang="en-US" sz="800" dirty="0">
              <a:solidFill>
                <a:srgbClr val="0070C0"/>
              </a:solidFill>
              <a:latin typeface="+mj-lt"/>
            </a:endParaRPr>
          </a:p>
          <a:p>
            <a:r>
              <a:rPr lang="en-US" sz="800" dirty="0">
                <a:solidFill>
                  <a:srgbClr val="C00000"/>
                </a:solidFill>
                <a:latin typeface="+mj-lt"/>
              </a:rPr>
              <a:t>— </a:t>
            </a:r>
            <a:r>
              <a:rPr lang="ru-RU" sz="800" dirty="0">
                <a:solidFill>
                  <a:srgbClr val="C00000"/>
                </a:solidFill>
                <a:latin typeface="+mj-lt"/>
              </a:rPr>
              <a:t>Полные геномы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81683" y="1146077"/>
            <a:ext cx="1340175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+mj-lt"/>
              </a:rPr>
              <a:t>Uniprot</a:t>
            </a:r>
            <a:endParaRPr lang="en-US" dirty="0">
              <a:latin typeface="+mj-lt"/>
            </a:endParaRPr>
          </a:p>
          <a:p>
            <a:r>
              <a:rPr lang="en-US" sz="1200" dirty="0">
                <a:latin typeface="+mj-lt"/>
                <a:hlinkClick r:id="rId5"/>
              </a:rPr>
              <a:t>www.uniprot.org</a:t>
            </a:r>
            <a:endParaRPr lang="ru-RU" sz="1200" dirty="0">
              <a:latin typeface="+mj-lt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4081682" y="3005699"/>
            <a:ext cx="2733204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6213" indent="-176213">
              <a:buFont typeface="Arial" panose="020B0604020202020204" pitchFamily="34" charset="0"/>
              <a:buChar char="•"/>
            </a:pPr>
            <a:r>
              <a:rPr lang="ru-RU" sz="1400" dirty="0">
                <a:latin typeface="+mj-lt"/>
              </a:rPr>
              <a:t>«Склад» а</a:t>
            </a:r>
            <a:r>
              <a:rPr lang="en-US" sz="1400" dirty="0">
                <a:latin typeface="+mj-lt"/>
              </a:rPr>
              <a:t>/</a:t>
            </a:r>
            <a:r>
              <a:rPr lang="ru-RU" sz="1400" dirty="0">
                <a:latin typeface="+mj-lt"/>
              </a:rPr>
              <a:t>к последовательностей</a:t>
            </a:r>
          </a:p>
          <a:p>
            <a:pPr marL="176213" indent="-176213">
              <a:buFont typeface="Arial" panose="020B0604020202020204" pitchFamily="34" charset="0"/>
              <a:buChar char="•"/>
            </a:pPr>
            <a:r>
              <a:rPr lang="ru-RU" sz="1400" dirty="0">
                <a:latin typeface="+mj-lt"/>
              </a:rPr>
              <a:t>Курируемый и </a:t>
            </a:r>
            <a:r>
              <a:rPr lang="ru-RU" sz="1400" dirty="0" err="1">
                <a:latin typeface="+mj-lt"/>
              </a:rPr>
              <a:t>некурируемый</a:t>
            </a:r>
            <a:r>
              <a:rPr lang="ru-RU" sz="1400" dirty="0">
                <a:latin typeface="+mj-lt"/>
              </a:rPr>
              <a:t> разделы</a:t>
            </a:r>
          </a:p>
          <a:p>
            <a:pPr marL="176213" indent="-176213">
              <a:buFont typeface="Arial" panose="020B0604020202020204" pitchFamily="34" charset="0"/>
              <a:buChar char="•"/>
            </a:pPr>
            <a:r>
              <a:rPr lang="ru-RU" sz="1400" dirty="0">
                <a:latin typeface="+mj-lt"/>
              </a:rPr>
              <a:t>Подробные аннотации</a:t>
            </a:r>
          </a:p>
        </p:txBody>
      </p:sp>
      <p:pic>
        <p:nvPicPr>
          <p:cNvPr id="12" name="Рисунок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79776" y="1730907"/>
            <a:ext cx="2641448" cy="125680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5" name="AutoShape 78" descr="data:image/png;base64,iVBORw0KGgoAAAANSUhEUgAAAoAAAAFQCAYAAAAvG8+RAAA+aUlEQVR42u2dCXQUZbq/5+77vu/7Onc7995z94UEQjAnIUQOQXJdhjjx75CAYNBhVJwxKigzuGSYa5IbB3DGo8MxjolRwIWMCBpRIShIQIkBnECikrCThOT9+1ZP9VRXuruquqqT7urnOec7qa6vuqr6V2+lft9anxIAAAAAyCk+hQQAAAAAGEAAAAAAwAACAAAAAAYQAAAAADCAxg4/9amY9EM/9EPS19eXdJuMFiiLztUv4+Pj8tBDD8m//du/yc///M/LD/7gD+bE786Waz3Z5+fmeOk4p2T7tOeZ6Yd/+Ifl137t1+Syyy6TTZs2ZXWcrVq1KiZ/+fLljhr8wA/8gPz0T/+0/OVf/qVUVVXJ22+/nfQcduzYYXzvz/7sz6LrRkdHpaGhQfLy8uSXf/mXDU1/6qd+Sn7jN35D/uZv/kbKysrkpptuysn7LwxxBzz3J90AavrKV76CAcwCbrnlloT/6HLh2mAAs9cA2lN5eblcunQpI69Psu2am5tj8q666iqjYOZVgx/7sR+Tbdu2JTwHNXK63c0332x8PnPmjFHwc7NvDGB2xh0Ec49iAD3eKFp6xABmPr/yK78S81v1AWJ/+GAAMYCZZABNDh06JP/wD/8Qk/fVr341qx4ura2tRouJub6oqMiolXPzfd1u9erVMev/9V//NeE5/Omf/qmxzc6dO43PagSt3507d66h6cWLF+Xw4cPy5S9/WX79138dA5jFcQcYwCkxgJr27t2LAQzJzcH58s8yE03pd77znZi8v//7v8+ah8v27dvlx3/8x6Pr/uVf/kXOnTvn6TinTp2KWf8TP/ETcb9/4MABI/9Xf/VXZWxszFj3+7//+zHf7e/vn/A9rSW8+uqruReyNO4ArSbdAP7FX/yF8be2ttb1RUilBiBenv5zu+uuu+R3f/d35Sd/8ieNEvELL7xgbPvd737X+GemfV20ueTv/u7v5NFHH3U8F60Ru//++40StH7vj/7oj4w+O/FK6u+++64sWbJEPv3pTxv9c370R3/UOJeKigrp7Ox0pZ+WwG+44Qajdk5rB9zy1ltvyWc/+1n5kz/5E+NBoA+XP/7jP5Zrr73WyHNj2lO5UYL4zarxgw8+aJyvfl//rlu3ztP5Ws/ZraZOvzmV3/biiy/KvHnzjAesXgPtM6Q1KdOnT5e6ujrZt29fWmrGnDScDAOY6jmlev/bDZDe86neW0HfP8niUQvHP/dzPxf9/Od//ufy0Ucfeb4u9t//C7/wC3G/f++99xr5+ltMfuRHfiTmu/Z+24nQ/3/md/SaqqamWdR+iWb/RP2saL5uZ35HNXVzbb3eR0Hed2GJuyCfGX/7t38bcwytCbXWilrz9Nk61c9Gv/doun1GqppkvAHU/n/6VzsSm30jJssAajDHG5SiF0DPJ14APPPMM0n3uWjRorjfW7BgQcz3vvGNb8SU6O1JB1jcfffdjr/9iiuu8HwzNzY2TviHbk2ap9sEbQCD+s2LFy+O+/1vfetbgdzMiTRN9ptT+W2qcZD/oL3EvpOGU2EA3Z7TZBnARHGQjvsnWZxZ/xf99m//thw9etTzddH/raaxM9M111wT9/tmX7+2trbout/6rd+K+e5//dd/ySuvvBKtIUxETU1NzPfMJmX9a12v+1LMwSfWmHC6tl7vo6Dvu7DEXZDPDK0EseZv2LAhmrd+/fqYPC30TfWzMZ0GMAifkaomGW8AtSnBDKytW7d6NoBaekz14fDv//7vcvz4cWlqapqQ95//+Z9G3v/+7/9O+E6yff7VX/2VUcLRfjG6bM1raWkxvvP666/H9OXRf6bvvfeenDx50ujUbf3OU089lfR4v/M7v2M0D8WrYYyH/uO1jt5NdL66jflPOYjq8SB/sz6gtAbinnvuiVn/z//8z4E0uSXSNNH+Uv1tWnqz5n3hC18w7gdt2uvq6pL77rvPU3ORl9h3q+FkGsAgrqufpjg3cTAZ90+if/JaY7d//37P1yVe0lGpQ0NDE76r8afnribl/Pnz0fWf//zn4+7nZ37mZ4xasy996UvyzjvvTNifPsjiDfjT2QSs63V0saJ9Ca3rn332WUf9vN5HQd93YYm7IJ8ZAwMDMYZRR56bWA2R1mJZa7On8tnot5tGunyGH00y3gAqOn2ALv/P//yPZwNor9r1cmG0GUD5+OOPE+Zp04R1/S/+4i8m3ad21DbRZWteYWGhsV6bHqzrrdXn+o/Imvff//3fSY/ndWqByy+/3PX56rZB/SMJ8jeb1ed6AyRr0kr1Zk6kaaL9pfrbrE1d9rgKuv9KqhpOpgEM4rp66YxfX1/vOQ4m4/5JZNp0SpYPP/wwEAP4S7/0SxNqXhRzlPGcOXNi1g8PDxsjWJPtUwvj+kAym3kVNVXatGXX5HOf+1z02potJ9ZngSat8bCa0ET6eb2Pgr7vwhJ3QT8zNIbM9Tr9kInZ7SveuU7lszFdBtCvz/CjSVYYwPb29mjVuF2IdBpAfdCYzSP2PL1YJmZfFTf7tHaOtl8cbedXdF4ot1XOWsJ2ezw3aMdut+er5xnUP5Igf3Oy6xbEzZxI00T7S/W3/eM//mNMno7qvO222+TJJ5909aD380/JrYaTaQCDuK5+puNwEweTcf8kO281E9qk6PW6aP9KNSM6h581b+PGjTHfnT17trFem+nioU201113ndH3K9E5WvtzKzNnzoxpzrY2M5tdgMwaD3MksbXA7KSf1/vI6/Zumk7DEHdBPzO0NspaOND7W5+r1ufp008/nbbnhNdnY7oMoF+f4UeTrDCAKsxv/uZvRvsKpGoA9Z+c107nqeQl2+fIyEg0T5ftk4Iq+tftBfXyG9xgP3ay89Uq/KD+kaTrN6fDACbSNNH+Uv1tu3btinng2eO6uLjYkxFMh4bJsDZLxNNN+4d5KawFcV2TTcirDzJt+kzUz9FNHEzG/WPfbuHChTGf/+M//iPhCGCn42gTsjVPO+tba+u0c79eJzdxp831//d//yd/8Ad/ELNP/V9uxd4frKenR372Z3/WmExeawv1r37W9dbtHnjgAVe/y+t95HV7PwYwm+Iu6GeGNr1azaNW9KjhMz/rNbA3z07lszFdBtCvz/CjSVYYQMWcZFj7k6TaBzBeFWsQfYe85GnfB6caQHuJyu2IunSU5pKdb5AlyXT95nQYQK/b+flt+tDVpgodraY1HlqCs+6rtLQ0Y3RyuqZmSTfR/eglnib7t7j97mTcP/bttIBsb4bTWNFmWa+/48KFCwmngjFrbLRfkhfMaWOs/bqsdHd3x+TriEhzLkFrE6O53kwHDx50/bu83kdetk/FfGRj3KXjmbFs2bKYvpYrVqyIfo731pipfDamywD6zfOjSdYYQO3UqGbO2tk00UXQEqM13+zMrH2IptoAWkfO6XK8PoDWvhGatN/NZAW5tY+N0/kG2ZckXb85WZ49lhLNwO/3pvfz2+zYa0G0ZiRTDWBJSUnM9zZv3hyTb3btMJM2L2a7AfRz//iJRzV7M2bMmLD/ePtI9jt0epNED2yzptH+ZiZFDVFvb2/c89VO/NZ96tQqdqy1hL/3e79n/DVHjeoAEOt6Tbq9n/99Xu8jP/ddWOIuHc8MncLIOnhBCxfm53gDmqby2RjUMyPovCCfLxlrAJVp06a5qtL8p3/6p5j8tWvXGiNptGlkqg3gX//1Xxvz9egIKX3DiTXviSeeML7z8ssvx7T3a4ds7X+i/R817d692xiJpv19gg5y7cNjPXai89UbwZyyIYhjp+s3J8szuxWY6bnnnovbLODXAKb623Q+KH0Iag2K1sxoh3ftk2U9hs6jlqkGUPW0fk/nvnz11Vfl7Nmzxl+dL8ya//zzz2e9AfRz//iNR9VVJ4C25ukcYk6vglMS9QE05/rT5nqzpkF/T7xz0uY9PZ4ae635UVOqtXv22kl7H0DFHPRhTaahfP/99+NOp+VWF6/3UdD3XVjiLh3PDEVHPZu1zZp0WZ/hk/mccEsQz4yg8/xoklUGUOe6cWMAH3vssbjbxZtHbLIvWqJ5AHUkj5Wvfe1rrtr20xHkTsfWPB2WHvSx0/Gbk+XdeOONgTbfJNsuld/mtK3+Q9V7IlMNoKKvF4tXa2//HbrdVP4TDfIhnur9E0Q8ajO7PoCt+dXV1Z7iyjoy0+wob86/Zx2tmco+dcqeeINU7DVFWliwYi8s2AcHJNPF630U9H0XlrhLxzND0VHP9u11GqDJfE64JYh7NB15qWqSVQZQS2LWGe+T/SjzjQFaKtXSmnYY9joIJB15eg7qxvUfmvaF+cM//EOjb4u146yJDufWEXX6z1BHQOsF1iYZHcq9cuXKmNfjBRnkis53paV/1U6nW9Ck56rNQJqXrir2oH9zsjytodD5yXTmdLPkmc6+gl5/m25/++23G/la+6Id0HXKDG1C00lM9aEc1L2VLtOkaAn0+uuvN+YE075U+jv0r37W9Zo/1c0oQT/EU7l/gopHbe2wj8LVvlVOBkf/V2rHe21K1vfRau2XifbHMvtpxUP7y+lcgAUFBcb/Nn27gv5/06S1JrNmzTKaphLNuaa1l9bpV3SCaCvWCaP1HtDt3V4fr/dR0PddWOIuHc8Ms4uA9drr9wYHByf1OeGWIO7RdP3vSkWTjDOAAACQWehDRR866XqlFABkHxhAAAAAAAwgAAAAAGAAAQAAAAADCAAAAAAYQAAAAADAAAIAAAAABhAAAAAAMIAAAAAAgAEEAAAAAAwgAAAAAGAAAQAAAAADCAAAAAAYwIzgS1/6UsznL37xi8a6XE5Lly7NeQ3QD/3QD+1I6BdUwgBmgQH0eqHCyHe+8x0CA/3QD/3QDtAvDT4DA4gBzFjef/99AgP90A/90A7QDwOIAQQAAADAAGIAKcUB+qEf+qEdoB8GEAMYDujHgX7oh35oB+iHAcQAUooD9EM/9EM7QD8MIAYQAAAAAAOIAaQUB+iHfuiHdugH2W8Ap02bNiF5yR8fH5eGhgYpLi6WkpISaWpqMtYlwml7v/kYQHfQjwP90A/90A7QL8cNoJ/8trY2qaqqkr6+PiPpcnt7e8rb+83HAFKKQz/0Qz9AO/TDAKbZAFZXV0tnZ2f0sy7X1NSkvL3ffAwgAAAAODI8jAEsLS2VwsJCWbhwobS0tMjY2Jjr/KKiIhkaGop+HhwcNJpnE+G0vd98DCClOPRDP/QDtMsx/S5edL/tJ75BNmwQmTfPOYXZAJqMjIxId3e3UZu2bt061/l5eXkyOjoa/azL+fn5CY/jtL3ffPsFifeSZgwg/wTRD/3QLzfp6upChGzSz42x27fPnZmzJjWAagQDIhSjgPv7+5PWqNnzqQHkAYJ+gH7oh3boF4iZS9XY7d/vfr8BNv2GygAODAxIWVmZ63z6AAIAAOQgXgxdKrV0bo2dV2OZBrLSANbV1UlPT4/RlNrb2yu1tbVSX1/vOr+1tTXpqFz7IBKn7f3mYwApBaMf+qEfoF16DF1Uv1QMnZdaugwxdqE2gB0dHVJZWSkFBQVSUVEhzc3NMmypHnXKt87Lp6mxsTFmXr5k8wbG295vPgbQHczlhH7oh35oBwb6TE+3ocsiM5czBjDdOE0jMxUXBgNIKRj90A/90A4kMhDCg6GL6hdyQ4cBDOmFwQACAEBo8WLOdDSsJgwdBhADSCkY0A/90A/tstTYpdKU62E6FGIPA4gBzHLoB4N+6Id+aJdFBi9DpkQh9jCAGEBKwegH6Id+aBeU0XNj8DJgShRiDwOIAQQAAHBiZMS90Utm8OijhwEEDCClOPRDP/SDDNVOjdr58yLbt4vce697o5clBo/YwwBiALMc+nGgH/qhH9oFiH0uPTV/agLVDGah0SP2MIAYQErBgH7oh35oFw81czqCVqdRsdbu2Zt90Q8DiAHEAAIAQJZjr+1TA6hGkH56+AwMIAaQUhz6AfqhX4i0S1Tb53EaFWIPA4gBxABOKfTjQD/0Qz+0czB8JtT2EXsYQAwgpThAP/RDvxBql8jw5XBtH7EXcgM4bdq0CcnK+Pi4NDQ0SHFxsZSUlEhTU5Oxzm2+Hb/783o8DCAAAKRk+OJtCxAmA5iMtrY2qaqqkr6+PiPpcnt7u+v8oPfn9XgYQEpx6Id+6AemkTO0w/ARexhAZwNYXV0tnZ2d0c+6XFNT4zo/6P15PR4GMD7040A/9EO/nGLPHgwfsYcBtBvA0tJSKSwslIULF0pLS4uMjY1F84uKimRoaCj6eXBw0Gh+dZtvx+/+vB4PA0gpDv3QD/1ymEuXIuZv/nyRrq6Idhg+Yg8D+H1GRkaku7vbqE1bt25ddH1eXp6Mjo5GP+tyfn6+63w7fvfn5Xh6QcyEAQQAyDF0Qmazxu8T8weAAUxCf39/WmvkqAGkFId+gH7oNym8+67ITTfF1PihHbGHAUzAwMCAlJWVRT/TBzCc0I8D/dAP/ULP1q0iDQ1oR+xhAONRV1cnPT09RlNqb2+v1NbWSn19fTS/tbU16ahbp3z7IBO/+3PKxwBSikM/9EM/MHjoIZHnnkM7Yg8DGI+Ojg6prKyUgoICqaiokObmZhm2THZpnXdPU2NjY8J5+eLlJ5tXMJX9OeVjAAEAwGD5cpH33kMHwABOBU7TzEzFhcEAUopDP/RDv5Czd69IebnImTNoR+xhALkwGEAT+nGgH/qhX2g5fz4y8vett9CO2MMAcmEwgJTi0A/90C8nOHlSpKoK7Yg9DCAXBgMIAJAzaL+/m29GB8AAcmEwgJTi0A/90C9neOMNkXvuQTtiDwPIhcEA2qEfB/qhH/qFFp36pbER7Yg9DCAXBgNIKQ790A/9coZNmyIJ7Yg9DCAXBgMIAJAj6Ns/nn8eHQADyIXBAFKKQz/0Q7+cYfXqSD9AtCP2MIBcGAxgLPTjQD/0Q7/QoiOADx9GO2IPA8iFwQBSikM/9EO/nOGzn43MBYh2xB4GkAuDAQQACDkXL4q8/XbkLSD6NhAADCAXBgNIKQ790A/9QkxXV8T4adq3D+2IPQygF5YsWSLTpk2LWaef7cnK+Pi4NDQ0SHFxsZSUlEhTU5OxLhFO2/vNxwC6g34c6Id+6Bca+vtF5s+PmECtBUQ7Yg8D6J4tW7ZIdXV1XAOYjLa2NqmqqpK+vj4j6XJ7e3vK2/vNxwBSikM/9EO/HGPDBpGHH0Y7Yg8D6JXTp09LeXm5HD161LMBVNPY2dkZ/azLNTU1KW/vNx8DCACQQ2iN3yfPr0SDPgAwgElYu3atPP7443ENn34uLS2VwsJCWbhwobS0tMjY2Fg0v6ioSIaGhqKfBwcHjebZRDht7zcfA0gpDv3QD/1yiLNnRT7zGbQj9jCAXnnnnXeMWjWzH12iGr+RkRHp7u42atvWrVsXXZ+Xlyejo6PRz7qcn5+f8HhO2/vNt18QM2EAuYnRD/3QL4ScOCHi0ApkpUv7CULKoF+IDKCavyNHjkQ/OzX59vf3+6qRowaQBwj6AfqhX2DohM+f/zzaEXsYQK/EG+WbzAQODAxIWVlZjIGkDyAAAEwJb70lUleHDoABDMIQWqn75Mbq6ekxmlp7e3ultrZW6uvro/mtra1JR+Xa9+e0vd98DCClOPRDP/TLIV55ReS++9CO2MMABm0AOzo6pLKyUgoKCqSiokKam5tleHg4mm+dl09TY2NjzLx8yeYNjLe933wMoDuYywn90A/9QsHzz8snDwK0I/YwgJluKDPhwmAAKcWhH/qhX0j49rdFvvlNtCP2MICAAQQAyBnU/D31FDoABhAwgJTi0A/90C9naGiINAOjHbGHAQQMoDP040A/9EO/ULB2bWQgCNoRexhAwABSikM/9EO/HEGngNGpYNCO2MMAAgYQACBHuPnmyGTQABhAwABSikM/9EO/HKG6OvI6OLQj9jCAgAF0hn4c6Id+6BcKPvMZkbNn0Y7YwwACBpBSHPqhH/rlBKOjIvPmiVy6hHbEHgYQMIAAADlBX5+Iw7vgAUJpAPfu3StLliwxlj/66CNZvHixzJo1y3hf78mTJ7kiGEBKceiHfugXXnbvFrn7brQj9nLPAOoBX3jhBWO5vr7eeO2amdasWcMVwQAmhH4c6Id+6Jf1PPOMyMMPox2xl3sGsLy8XD7++GNj+dprrzWMX0dHh7z66qtGnle0NtH+7t7x8XFpaGiQ4uJiKSkpkaamJmOd23w7fvfn9XgYQEpx6Id+6BdS1Pw9+yzaEXu5ZwALCgpkdHTUMECFhYWGeTt37pyxTvO8sGXLFqmurp5gANva2qSqqkr6+vqMpMvt7e2u8+343Z/X42EAAQBCyl13RZqBAXLNAM6bN0927txp9AVU42bW+g0ODsqcOXNc7+f06dPGd48ePTrBAKop7OzsjH7W5RpLp1unfDt+9+f1eBhASnHoh37oF1J0DkAdCIJ2xF6uGcBVq1bF7fe3fft2Tyezdu1aefzxx41luwEsKiqSoaGh6Gc1l9r86jbfjt/9eT0eBjA+9ONAP/RDv6zmzTe1H5TIuXNoR+zlngH88MMP5YYbbjBG/mr/Pf2s3HjjjbJnzx5X+3jnnXeMWjWzH53dAObl5RlNyia6nJ+f7zrfjt/9eT0eBpBSHPqhH/qFjF27RObPF3H5nEM7Yi90BjAI1PwdOXIk+jlMNYB6QcyEAQQACJH5e/11tIDcNoCbN2+WK6+8MqYWTPvEab9AN1ibkK3JahDpA0gpDtAP/dAvDOaP2CP2QmEAdQBIPNOmI3rvvPPOlPZprwFsbW1NOurWKT/o/TnlYwDdQT8O9EM/9Ms180fsEXuhMYCLFi0yBoJoM6jVaJ04cULmzp0biAG0zrunqbGxMeG8fPHyg96fUz4GkFIc+qEf+oWEixcjf7WvX0DNvsQe+oXCAGp/OJ3CxW60RkZGZPr06Rkhit0AZsKFwQACAGQ4x4/rXGffT11daAIYQJPLLrvMaAa1G639+/dLaWkpVwQDSCkO/dAP/bIPbdW5/fbvv+XDrAlEO2IPAxhh2bJlxvQvhw8fNgygNgVr+/yCBQtk5cqVXBEMYELox4F+6Id+GYu+41cNoEP3HrQj9nLWAHZ1dRmjf+0jePU1cIcOHeKKYAApxaEf+qFfdmE2+Z44gXbEHgYwGbt37zZqAfVdwJqWLl0q+/bt42pgAAEAsou3346Yv1On0AIwgIABpBSHfugHoddPX+mm5k9NINoRexjAiVjn/Es0ibN9XkAuDAbQDv040A/90C+j+OgjkeuuQztiDwOIAcQAUopDP/SDnNHv4EGRW25BO2IPA+jWDAIGEAAg63nlFZG1a9EBMIBu0EEfY2NjKI8BpBSHfuiHftnN00+LbNiAdsQeBtAN119/vTEHIGAAvUI/DvRDP/TLKNT8qQlEO2IPA+jMtm3bDBOoc/6Njo5yBTCAlOLQD/3QLzvR5l9tBkY7Yg8D6AyDQDCAAAChQAeA6EAQAAzg5BjAzs5OYyJpfXvI3LlzZfXq1XLy5Mmkx7AyPj4uDQ0NUlxcLCUlJdLU1GSsS4TT9n7zMYCU4tAP/dAvC9EpYHQqGLQj9jCAk4O+T3j79u1y5swZOXfunGzcuNFYZzWAyWhra5Oqqirp6+szki63t7envL3ffAygO+jHgX7oh34Zw549IuXlIufPox2xhwF0QzJzlmoT8PlPbkAdXex2P9XV1UYtooku19TUpLy933wMIKU49EM/9Msi+vtF5s+PmEC0I/YwgP4MYG9vb0oG8MKFC/Loo4/KihUrYo5RWlpqmMKFCxdKS0tLzNQzRUVFMjQ0FP08ODhoNM8mwml7v/kYQACALOLhhyMJAAPozvg5Je3Pl8o+58yZIx988MGE/JGREenu7jZq29atWxddn5eXFzMCWZfz8/MTHsdpe7/59gtiJgxgLGqcAf3QD/2mlDfeELniikgt4CRx/PhxAgj9wmkA1SCp+du6davn/WofwPXr1xuDQhLR/8mN6qdGjhrAzIB+HOiHfug3xS420vT75ptoR+xhAFMxgkGjJnDWrFkJ8wcGBqSsrCz6mT6A2Qn9ONAP/dBvStm+XWT1arQj9jCAqaCjYG+44QZjCpdUp4FZtWqV0WdQm1K1du/BBx+M6QNYV1cnPT09Rr5uV1tbK/X19dH81tbWpKNy7efhtL3ffAwgAEAWcM89ERMIgAH0zi233OJ7HsCOjg6prKyUGTNmSHl5uaxdu1ZOnz49IV9NZkVFhTQ3N8vw8HA03zovn6bGxsaYefmSzRsYb3u/+RhASnHoh37ol+FcuBCZ9uXsWbQj9jCAqaATIT/yyCPG1C1OJmiqyIQ3kmAAJ0I/DvRDP/SbMvr6tD8P2hF7GMBU0Row7bMHGEBKceiHfuiXNezeLXL33WhH7GEAU0UHRLz33nsojwEEAMgennmGuf8AA+gHrYrVQRAHDhyImRsPMICU4tAP/dAvY1Hz9+yzaEfsYQBTxWkyaMAAJis8APqhH/pNCXfdFWkGRjtiDwOIAcQAUopDP/SDHNFP527VgSBoR+xhAAEDCACQA4yMiMybp+/xRAvAAPph8+bNcuWVV8a8D1ffjLF3716uCAaQUhz6oR/6ZRYffyxy3XVoR+xhAP2wc+fOuE2+W7ZskTvvvJMrggFMCP040A/90G9KePddEcvbptCO2MMApsCiRYuMV7kNDg7GGMATJ07I3LlzuSIYQEpx6Id+6JdZvPaayJo1aEfsYQD9UFRUFH1tm9UAjoyMyPTp07kiGEAAgMxi82aR5mZ0AAygHy677DLp+95IKqsB3L9/v5SWlnJFMICU4tAP/dAvs3j0UZEnn0Q7Yg8D6Idly5bJkiVL5PDhw4YB1KZgbZ9fsGCBrFy5kiuCAUwI/TjQD/3Qb0r46lf1B6AdsYcB9ENXV5cx+tc+/19BQYEcOnTI1T46OzsNE6nf0X6Dq1evlpMnT0bzx8fHpaGhwXjvcElJiTQ1NRnr3Obb8bs/r8fDAFKKQz/0Q78M4o47RN56C+2IPQygX3bv3m0YuMLCQiMtXbpU9u3b5/r7Wou4fft2OXPmjJw7d042btxorDNpa2szXjenTc2adLm9vd11vh2/+/N6PAwgAEAGccMNIh98gA6AAcw0zp8/bxhJk+rqaqOW0ESXdZ5Bt/l2/O7P6/EwgJTi0A/90C+DuOoqfdCgHbGHAcwkLly4II8++qissMzRpCONh4aGop+1n6E2v7rNt+N3f16PhwGMD/040A/90G8KahhErr4a7Yg9DGAmnbzZf3DOnDnygaV6Pi8vT0Ytr+zRZetbR5zy7fjdn5fj6QUxEwYwFjXOgH7oh36Tij5btAl4Cjl+/DgBhH4YQDvaB3D9+vVGn0ITagABACAQdPCHDgIBwAB6xzrfn3U5SBM4a9as6Gf6AIYT+nGgH/qh36SjzYc6DQzaEXsYQO9oE2hvb29gBlBfJaf706bU/v5+efDBB2P6ALa2tiYddeuUbz9Hv/tzyscAuv0/TD8O9EM/9JtkdAJonQga7Yg9DKB3dJJn+7x/iZIbOjo6pLKyUmbMmCHl5eWydu3a6OvlFOu8e5oaGxsTzssXL99+Hn7355SPAaQUh37oh34Zir4CTl8Fh3bEHgbQOy+//LJh1IIygOkmE84DAwgAkAGsWSPy2mvoABjAMJirbLwwGEBKceiHfug3BWj3onffRTtiDwOIZBjAqYJ+HOiHfug3qVy8KHLddSIff4x2xB4GMIiDvv7667J48eLoq+B0WdcBBpBSHPqhH/plBHv2iMybF0ljY2hH7GEA/R5w165dxqhge98/XYcJxAACAGSE+Zs/X6SrS0fxoQdgAIMwgDonns6Bt2/fPmP+Pk1vv/12dD1gACnFoR/6od+Uoc2+Wuun5g/tiD0MYHAGUJt8de4+O7pO8wADmAj6caAf+qFf2tFX1qkBHB5GO2IPAzgZBvDEiRMYQAwgpTj0Qz/0m1oeflhkwwa0I/YwgEEbQB3wYTYBnz9/3ki6rE3AmgcYQACASUdr/tT8ad+/gQH0AAxg0AZQB3owCAQDSCkO/dAP/TIGbe7VZl+t+ctA80fsoV8oDKBpArUW0JwGRpcxfxhAJ+jHgX7oh35pwZzyRQeAoB2xhwFMnwEEDCClOPRDP/TLCHbtyrhRv8Qe+mEAuTAYQACAdGHO90cLFOAzssMAvvbaa7Js2TKZOXOmzJ07V9asWSOnTp2K5tv7F9rfPzw+Pi4NDQ1SXFwsJSUl0tTUZKxLhNP2fvMxgJTi0A/90G+SycD5/og99MMAOrB8+XLp7Ow0RhAPDg7K2rVrZYW+sNtiAJPR1tYmVVVV0tfXZyRdbm9vT3l7v/kYQHfQjwP90A/9AsN8zRvaEXsYwMkxgE7mLBX0bSKzZs1yfQydckYNpIkuJ3sLidP2fvMxgJTi0A/90G8S2bcvowd9EHvoF0oDqKN+xwJ+sfaOHTtk6dKlMQawtLTUONbChQulpaUl5phFRUUyNDQU/ay1iNo8mwin7f3mYwABACYBc7oXTfv3owdgACfTAF5//fVy+PDhwH7AoUOHZMGCBXLs2LEJeSMjI9Ld3W3Utq1bty66XuccHB0djX7W5fz8/ITHcNreb779gpgJAxiLGmdAP/RDvxRP4PvmL0tq/kyOHz9OAKFf9hvAbdu2GSZQjZvVFKXCnj17pLy8XA4cOJB0O331nJ8aOWoAMwP6caAf+qFfymTgK96IPfTLKQMYb4RuotG6TkZSRwAfPHjQcduBgQEpKyuLfqYPYHZCPw70Qz/0S4k33ojU/MV5Dz3aEXsYwCwygJs2bTJq/o4cORI3v66uTnp6eowaxt7eXqmtrZX6+vpofmtra9JRufbzcNrebz4GEAAgTWjTr8719+abaAEwlQYwCBKZR50WRuno6JDKykopKCiQiooKaW5ulmHt/Ps9rPPyaWpsbIyZly/ZvIHxtvebjwGkFId+6Id+aWL7dpHVq9GO2INMMICbN2+WK6+8MmYghDaJ7t27NyNEScdUNX4vDAaQfhzoh37olwJq/tQEoh2xB1NrAHfu3Bm3yXfLli1y5513ckUwgJTi0A/90C8YtO+fNv9m+QhuYg/9QmEAFy1aJKtWrTJGwloN4IkTJ4xBHYABBADwjTntC33/ADLDAOqUKKdPnzaWrQZQ5+ybPn06VwQDSCkO/dAP/fwTgr5/xB76hcoAXnbZZcZIWLsB3L9/v/H2DsAAJoJ+HOiHfujnmhD0/SP20C9UBnDZsmWyZMkS420gagC1KVgvjr7NY+XKlVwRDCClOPRDP/Tzx+uvR5p/Q/L2FmIP/UJhALu6uozRv/YpXHTKFn07CGAAAQBSQl/xtmdPZOCHDgABgMwxgMru3buNWsDCwkIjLV26VPbt28fVwABSikM/9EO/1NBniPmu364utAP0y0QDCBjAVKAfB/qhH/rFxTR++/dHagHRDtAvMw3gm2++afQFLCkpkdmzZxvLWisIGEBKceiHfuiXkgEMofEj9tAvVAZw69atCV/l9vzzz3NFMIAAAO7RPn8hN4AAoTCAOtpXX/umff7OnTtnJF3WdfreXsAAUopDP/RDP9fmTwd8hKzPH7GHfqE0gDroo7+/f8J6XTdjxgxX+3jttdeMZuOZM2cabw9Zs2aNnDp1Kpo/Pj4uDQ0NUlxcbDQzNzU1Gevc5tvxuz+vx8MAxod+HOiHfugXRV8oEMIBH8Qe+oXWAF577bVxDaC+Cu6aa65xtY/ly5dLZ2ennD9/3phHcO3atbJixYpofltbm1RVVRkTTmvS5fb2dtf5dvzuz+vxMICU4tAP/dAvCeZr3jShHaBfdhjALVu2RJuA1cBp0uXq6mqjf2AqaDPyrFmzop91X2oQTXRZj+k2347f/Xk9HgYQACAJGzZEEgBktgFMNOgjXkqFHTt2GHMJmuj7hoeGhiyFxUGj+dVtvh2/+/N6PAwgpTj0Qz/0S4BZ8xeSt3wQe+iHAUzRAOrbQ3RgybFjx6Lr8vLyZHR0NPpZl/XtI27z7fjdn9fjYQDjQz8O9EO/HNdPR/qq+RseRjtAv2wwgOliz549Ul5eLgcOHIhZn801gHpBzIQBjGUwh0r86Id+6GdBDZ/1TR85xvHjxwkg9Mt+A9jb22v0idMRv35qALdt22aMAD548OCEPPoAAgCExjnGvukDALLTAC5evNgwetosmqoB3LRpk1Hzd+TIkbj5ra2tSUfdOuXbz8Pv/pzyMYDuoB8H+qFfDur38MORAR85PNEzsYd+oTCAOg9gR0eHXLp0KeV9JOo/qCOKFeu8e5oaGxsTzssXL99uAP3uzykfA+gO+nGgH/rlmH4DA5GaP/2LdoB+2W0AL7/8cjmtE3hmMKmORk7nhcEAUopDP/TLKf20xk9r/rQGEO0IIPTLfgO4ceNGWblypdF8ax0ZCxhAAAAD8/2+OTbdC0CoDeCrr74a+DyAGEBKcYB+6BcS/Uzzp694y7HpXog99Au1AaysrMQAYgBTgn4c6Id+IdfPnOcvB97vS+yhX84ZQJ3+RS/GxRwe0YUBpBSHfuiHfjbMJt8cnOeP2EO/nDCA+taOTB8EggEEAJhEzEmeqRgACK8BfPrpp6ODQPxMBYMBpBQH6Id+IdCPSZ6JPfTLDQMY9LuAMYC5A/040A/9Qqafaf6o+SP20A8DCBhASnHoh345oB/NvsQe+uWWAQQMIADkODT7AuSeAaQGEANIKQ790C+H9dOJndX8MRiQ2EM/DCAGEAPoBvpxoB/6hUA/fb2bJiD20C+3DKAdfR3cgQMHpKqqSl566SWuCAaQUhz6oV9Y9dNaP17vRuyhHwbQynvvvSeLFi1yta1TjaFTzeL4+Lg0NDRIcXGxlJSUSFNTk7EuEU7b+83HAAJA6DEHfTDRMwAG0Mq5c+dk5syZnr6TzAAmo62tzahx7OvrM5Iut7e3p7y933wMIKU49EO/0GK+3o1BH8Qe+mEAJ/5/uCiPPvqozJ49e1IMYHV1tXR2dkY/63JNTU3K2/vNxwC6g34c6Id+WcTwcEyt3/bnn0cTYg/9ctkAqjnLy8uT/Px8I+my2Ux76623BmYAS0tLpbCwUBYuXCgtLS0yNjYWzS8qKpKhoaHo58HBQaN5NhFO2/vNxwBSikM/9AsV5khfS60f+hF76IcBnJBmzJghN9xwgxw/fjwQA2gyMjIi3d3dRm3bunXrouvVdOrgExNdVjOaCKft/ebbL4iZMIAAkJU8/HBkpC+TPANgANOB22lj+vv7fdXIUQNIKQ79AP1c8vrrkZq/T/7voh+xh34YwCg6CEJr+woKCnzPA+h2+4GBASkrK4t+pg9gdkI/DvRDvwxGa/v27ImYvzfeQD9iD/0wgLHccsstgU0EnWj7uro66enpMZpae3t7pba2Vurr66P5ra2tSUfl2vfrtL3ffAwgpTj0Q7+sNn7WKV66utCP2EM/DOBEdB68Rx55RM6fP+84F14y45fMOHZ0dEhlZaVRy1hRUSHNzc0yrCPSvod1Xj5NjY2NMeeSbN7AeNv7zccAAkBWYtb4mYM96PMHgAFMhBognfMvk8mEV9JhACnFoR/6ZTS7dn2/xs+F8UM/Yg/9ctwAan84fesHYAC9Qj8O9EO/DMDs6zd/fmTAB/oRe+iHAXR7IbQPnL7/1zo1CmAAKcWhH/pluPFz0dcP/Yg99MMAxiXZAJBMaHrFAAIA2LAaP/r6AWAAMYAYQEpx6Id+IScg40f8EXvol+MGEDCAqUI/DvRDvykyfwHU+BF/aId+GEDAAFKKQz/0yxbzh37EHvphADGAGEAAyBHjF6D5AwAMIGAAKcWhH/plGtrEm2bjR/yhHfphAAEDmBL040A/9EsD1hG+6EfsoR8GEAOIAaQUh34Qcv2sI3zRj9hDPwwgBhADCAAhxtrcy5x+APgMDCAGkFIc+kHI9DMNntX0TcEAD+IP7dAPA+gbp4mjx8fHpaGhQYqLi6WkpESampqMdW7zg96f1+NhAONDPw70Qz+PWPv3TfGoXuIP7dAPAxioEYxHW1ub8b7hvr4+I+lye3u76/yg9+f1eBhASnHoh36+sI7qnYT+fcQf2qEfBjAjDGB1dbV0dnZGP+tyTU2N6/yg9+f1eBhAAEjJ9CnWWj/69wFALhnAoqIiGRoain4eHBw0ml/d5ge9P6/HwwBSikM/9PNk/OxNvRlS60f8oR36YQAn1QDm5eXJ6Oho9LMu5+fnu84Pen9ejqcXxEwYQG5i9EO/hKZPsRo/0/RlaK0f8Zc6XV1diIB+GEA3BpAaQB7AgH6h1G94OH5tXxY09RJ/aId+GMC0G0D6AAJA1mM1dZ8UGmXDhqyp7QMADOCUGMDW1tako26d8u379bs/p3wMIKU49EO/KPFq+TSpAVQjmKWmj/hDO/TDAAZi/OzJinXePU2NjY0J5+WLlx/0/pzyMYDuYC4n9AulfqahS1TLZ5pC9CP2AP1y3QBOhsHMtAuDAaQUh34h1E87p4eolo/4Qzv0wwACBhAArJim7vx5ke3bRVavjpi+vXsj60NQywcAGEDAAFKKQz/0U3QKKHufvnvvjZhAre1DP0A79MMAAgYwMfTjQL+s0E9r+t56S+Sxx0Ruu21in76REfQDtEM/DCBgACnFoV9W63fuXKzhu+oqkZUrRR5/PLJem3aZroX4Qzv0wwACBhAgS9HR+9/9rlYpiDQ3i9x8s0h5ecT4WQ0fAAAGEDCAlOLQL0s5dUrkjTcMc3f+lltEPvMZndld5IEHRHQuz4MHI4M6gPhDO/TDAAIGMD3QjwP9UsbyLu6EaN+87u6IsVODp0ZPDd9ddxkG8O2NGyOGEIg/tEM/DCBgACnFoV+GcuyYSFubSF3dxLdqJEorVkSadvWBoU29lgnbiT/iD+3QDwMIGECATOPsWZHXXxdpahJZtCiSdFmbcN0Mwrh0CQ0BAAOIAcQAUopDv4zl5EmRPXtEnnpK5MEHRZYti9Tg3XGHyNNPi3zwAfoRf2gH6IcBxACGAfpx5KB+Fy7of+9Ik6y+Jk2bcysrRa69NrKs/fI0T7fRbdGP+EM7QL/cNYD6Ll97sjI+Pi4NDQ1SXFwsJSUl0tTUZKxLhNP2fvMxgJTi0O97nD4tsmuXyCOPiHzhC5FaPa3dq6+P1Pbpu3O19g/9iD+0A/TDAMYzgMloa2uTqqoq6evrM5Iut+vIvxS395uPAYScpb8/UoP3SQFJli4VueYakbvvFmlpibw5gylWAAAwgEEZwOrqauns7Ix+1uWampqUt/ebjwGkFJcT+mmtt57Ds8+K3HefyHXXify//ydy//0imzdH8hxqxok/4g/tAP0wgEkNYGlpqRQWFsrChQulpaVFxsbGovlFRUUyNDQU/Tw4OGg0zybCaXu/+RhAd9CPI8v001ek7dsn8sQTkbn0tHZPa/kaG0VeeilS+4d+xB+gHfphAINmZGREuru7jdq2devWRdfn5eXJqGViWF3Oz89PuB+n7f3mYwApxYVCP629O3xY5MknRb74xcgr0vTtGd/4RmR6Fu3fh37EH6Ad+mEAJ4v+/n5fNXKTWQOoF8RMGEDIeD76SGTbtsibM3R0rg7Y0NG6u3dHagABAAADOFUMDAxIWVlZ9DN9ACnFoV+K6GTLau7Wr4805+p0LGr+1ASqGUQ/QD+0Qz8M4FRRV1cnPT09RlNrb2+v1NbWSr1OI/E9Wltbk47KtQ8icdrebz4G0B3045gC/dTwvfWWyGOPidx6a6RZV5t3v/1t+eQmy+hBG8Qf+qEdoF+OGcCOjg6prKyUgoICqaiokObmZhkeHo7mW+fl09TY2BgzL1+yeQPjbe83HwNIKS5j9NNXptkN3223iTz+eGR9DjfrEn/oh3bohwEMOU7TyEzFhcEAQlqwGj41elddJbJyJYYPAAADmHsGMBMvDAaQUlwg+qmhS2b4LDXlQPyhH9qhHwYQA4gBnHLox+ERfTfuu++KbN0q8tBDcuZzn5vYpIvhI/7QD+3QD5+BAcQAUooLh9mTm26KmL3lyyOvWXvuOel7+WVerUb8oR/aoR9gADGAkHVon72jR0V27ozU4n3lK5HpWGxmT957L2IKAQAAMIAYQEpxGYzlbTEGIyOxtXpq8NToqeFT4/etb4m88krEEKoxpBRM/KEf2gH6YQAxgGEjdP047AMy5s2bmLQpN6BaPfrBEH/oh3boBxhADCCluHRgr8UzSVSbl2xAxqVLlIKJP/QDtEM/DCAGEDKO06eda/ES1eYxIAMAADCAgAHMgFJcoho8O4ODIl//uvtpVQKuzaMUjH7oh3aAfhhADGBOEEg/DrvBs78JI1kNnj1t2CDy4Ye5pR/xB+iHduiHAQQMYMaV4uw1bW4MXipvwsjCCZQpBaMf+qEd+gEGEAOYfThNk6J97LwaPLdNvgAAABhA8ML4+Lg0NDRIcXGxlJSUSFNTk7EOA+jA2bPep0lRU4jBoxSMfuiHdoB+GMCppq2tTaqqqqSvr89Iutze3p47BtDtAAhrc+2tt04YYLH9hRdS2y8Y0A8G/dAP7dAPMICTSHV1tXR2dkY/63JNTU32G8B4tWtum2UTJWtzrU6UTCmOUjD6oR/aIQL6YQCzkaKiIhkaGop+HhwcNJqDJ80AunhNmOv9uBkx69Qs68VQAgAAAAYwG8nLy/vE24xafM6o5OfnT44B3LfPWw2clxq6eCNh09gsSykO/dAP/dAO0A8DmDV4qQHUC2KmROuTpk9/emKqrnb//WTp9tuD2U+KacWKFVN6/GxP6Id+6Jedafny5eiAfmlJGMA0k0ofQAAAAIBMAQOYAq2trZ5HAQMAAABgALMY6zyAmhobGx3nAQQAAADAAOY49FUgkUgkEolEH0DISRMM6Id+6Id2gH7UAAI3MaAf+qEf2gH6YQABAAAAAAMIAAAAABhAAAAAAMAAwiQxbdq0aIrHmTNnZNWqVVJSUiKlpaWyfv16T/nWaXd0m6amptBMu5Nu7az7T3acbOW1116TZcuWycyZM2Xu3LmyZs0aOXXqlOvY8ZuPfsnziT/3+sSD+POnX9jjDwMIGWVm4nHPPfdIXV2dnDx50kjagffZZ591nd/W1hb6ibfTpV3Y/+HpK6H0TTznz583Xsm4du1a4xVlbmPHbz76Jc8n/tzFTyKdiD9/+mH4MIAwxSZm9uzZxs1tokZl8eLFrvNz4dV76dIu1/4Bnjt3TmbNmuU6dvzmo1/yfOLPXfwk0on486cfBhADCBlmYnRZq/Td5hcVFcnQ0FDCfLRLnK/71abhwsJCWbhwobS0tMjY2FhoY3DHjh2ydOlS17HjNx/9kucTf+7iJ9H9T/z50y/X4g8DCBlnYrSP2l133WXcvJruvPNOmT59uuv8vLw8GR0djX7W5fz8fLRzkW8yMjIi3d3dRul53bp1oYy/Q4cOyYIFC+TYsWOuY8dvPvq504f4S65Povuf+POnXy7FHwYQMtLEnD592jAm2om3rKxMvvnNb8rll1/uOj+XawD9amenv78/lDUIe/bskfLycjlw4ICnGhRqANOrH/FHDeBU6pcr8YcBhIw1MXaeeuopw7S4zc/lPoB+tbMzMDBgGMUwsW3bNmME4cGDByfk0QdwavUj/ugDOJX65UL8YQAho02MNlHqjadTlrz44otGSe/o0aOu81tbW3N2FLBf7XSEcE9Pj9F00tvbK7W1tVJfXx8a3TZt2mT85iNHjsTNd4odv/nolzyf+Gv1NYqV+POnX9jjDwMIGWFeks21pNOSaAlPO+LqsH/t6+El3zoXlKbGxsZQzgOYDu06OjqksrJSCgoKpKKiQpqbm2V4eDjUsadJp5VwEzt+89EveT7xl1wfp/uf+POnX9jjDwMIAAAAABhAAAAAAMAAAgAAAAAGEAAAAAADCAAAAAAYQAAAAADAAAIAAAAABhAAAAAAMIAAENRN+qlPkUhZlwAAAwgAPg0gADELABhAAB6mAMQsAGAAAXiYAhCzAIABBOBhCkDMAgAGEICHKSRm2rRpWX+MyfgNxCwABhAAcvhh6tZspMuU+NlvvO9mmgFM5XwwgACAAQTAAGaMmcmGc8cAYgABMIAAEHoDOD4+Lo888ohcccUVUlJSIvfee69cuHAhxky0trbK/PnzZebMmbJo0SLp6emJ5lmT9TubNm2SefPmSV5e3gRT4nTMN998U6qqqozj6XHb29tdmZ1k5xrve4nOPdk+nM7dzujoqNx///3GtmVlZfLYY4/FHO/YsWNy++23G/lFRUWycuVKGRoaSnqOyb5jfk+PM2fOHGObBx54wDgPt99Ppr/b348BBMAAAkAGG0A1ajfeeKP09fXJ6dOn5e6775avfe1rMWbitttuk+PHjxsP+o0bN0pNTU1cA2Zdd+utt8pHH30UdzunY86dO1deeuklGRkZkf7+flmzZo1rA5jsXJN91+0+nM7dzvr166W2tlY+/PBDGRgYkGXLlsUct7KyUnbv3i0XL16Us2fPyoMPPihf/vKXk56jm++Yx9Skyxs2bHD9/WT6u/39GEAADCAAZLABvPrqq+Xo0aPRzydPnjRqfaxm4uOPP45+VtNQWFjoaKJOnDiR0Gw5HbO8vFxaWloM8+GE3QAmO1e3BjDZPpzO3U5FRYX09vZGP2ttYrIm2nPnzhk1p8nO0c13rMd8//33jfNw+/1k+rv9/RhAAAwgAARtAPVhnWqyoeYmPz/fSNpcq+bBbLZNZpKc8rWpMNF3nI556NAhoxZu9uzZcuWVV0pnZ6drA+jG5Hnd3su529Fm1OHh4ehnXbbur7u726gV1OZUs6lX953sfNx8x35MPQ+330+mv9vfjwEEwAACQNAGMECuuuoqo7kzVZMU7+Hv9B2nY5qoiXz11Vfl8ssvT4sBTOe5m9hrALU2zro/zd+6davRnDo2Nmb8ddLX6Tv2GkBdttYAOn0/mf5ufz8GEAADCAAZbACfeOIJo4+YmgQdKHD48GG54447XBsiHWhgNRtuvuN0zLq6umieGhDtk5YOA5iOc7fz9a9/XZYvXx7TH8+6PzVXL7/8stHfTvvV6eAMJ32dvqPL1mPqsp6H2+8n09/t78cAAmAAASCDDaDW8mh/L+3bVVBQYAwQ2LFjh2tDpIMCiouLPRkxp2O++OKLRk2TNlvqaFQdsJAOA5iOc7ejJuu+++4zmlvVzNlHAWvzqv7WGTNmRPveOenr9B37KGAdhazn4fb7yfR3+/sxgAAYQADIYAMIQMwCYAABgIcpADELgAEEAB6mAMQsAAYQAHiYAhCzABhAAOBhCkDMAmAAAYCHKRCzAIABBIBUH6YkUrYlAMAAAgAAAEAG8f8BdUpwfJmWn8sAAAAASUVORK5CYII="/>
          <p:cNvSpPr>
            <a:spLocks noChangeAspect="1" noChangeArrowheads="1"/>
          </p:cNvSpPr>
          <p:nvPr/>
        </p:nvSpPr>
        <p:spPr bwMode="auto">
          <a:xfrm>
            <a:off x="1679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37" name="Рисунок 3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79777" y="5520281"/>
            <a:ext cx="2641448" cy="1291560"/>
          </a:xfrm>
          <a:prstGeom prst="rect">
            <a:avLst/>
          </a:prstGeom>
        </p:spPr>
      </p:pic>
      <p:pic>
        <p:nvPicPr>
          <p:cNvPr id="38" name="Рисунок 3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79777" y="4184443"/>
            <a:ext cx="2641448" cy="1339443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8016759" y="1143029"/>
            <a:ext cx="2020490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+mj-lt"/>
              </a:rPr>
              <a:t>Protein Data Bank</a:t>
            </a:r>
          </a:p>
          <a:p>
            <a:r>
              <a:rPr lang="en-US" sz="1200" dirty="0">
                <a:latin typeface="+mj-lt"/>
                <a:hlinkClick r:id="rId9"/>
              </a:rPr>
              <a:t>www.rcsb.org</a:t>
            </a:r>
            <a:endParaRPr lang="ru-RU" sz="1200" dirty="0">
              <a:latin typeface="+mj-lt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8016759" y="3758362"/>
            <a:ext cx="311489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6213" indent="-176213">
              <a:buFont typeface="Arial" panose="020B0604020202020204" pitchFamily="34" charset="0"/>
              <a:buChar char="•"/>
            </a:pPr>
            <a:r>
              <a:rPr lang="ru-RU" sz="1400" dirty="0">
                <a:latin typeface="+mj-lt"/>
              </a:rPr>
              <a:t>«Склад» </a:t>
            </a:r>
            <a:r>
              <a:rPr lang="en-US" sz="1400" dirty="0">
                <a:latin typeface="+mj-lt"/>
              </a:rPr>
              <a:t>3D-</a:t>
            </a:r>
            <a:r>
              <a:rPr lang="ru-RU" sz="1400" dirty="0">
                <a:latin typeface="+mj-lt"/>
              </a:rPr>
              <a:t>структур белков</a:t>
            </a:r>
          </a:p>
          <a:p>
            <a:pPr marL="176213" indent="-176213">
              <a:buFont typeface="Arial" panose="020B0604020202020204" pitchFamily="34" charset="0"/>
              <a:buChar char="•"/>
            </a:pPr>
            <a:r>
              <a:rPr lang="ru-RU" sz="1400" dirty="0">
                <a:latin typeface="+mj-lt"/>
              </a:rPr>
              <a:t>≈240 тыс. структур</a:t>
            </a:r>
          </a:p>
          <a:p>
            <a:pPr marL="176213" indent="-176213">
              <a:buFont typeface="Arial" panose="020B0604020202020204" pitchFamily="34" charset="0"/>
              <a:buChar char="•"/>
            </a:pPr>
            <a:r>
              <a:rPr lang="ru-RU" sz="1400" dirty="0">
                <a:latin typeface="+mj-lt"/>
              </a:rPr>
              <a:t>Десятки тысяч разных белков</a:t>
            </a:r>
          </a:p>
          <a:p>
            <a:pPr marL="176213" indent="-176213">
              <a:buFont typeface="Arial" panose="020B0604020202020204" pitchFamily="34" charset="0"/>
              <a:buChar char="•"/>
            </a:pPr>
            <a:r>
              <a:rPr lang="ru-RU" sz="1400" dirty="0">
                <a:latin typeface="+mj-lt"/>
              </a:rPr>
              <a:t>Многих структур пока нет!</a:t>
            </a:r>
          </a:p>
        </p:txBody>
      </p:sp>
      <p:pic>
        <p:nvPicPr>
          <p:cNvPr id="43" name="Рисунок 4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16759" y="1727858"/>
            <a:ext cx="2492426" cy="195114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44" name="Рисунок 43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16760" y="4927912"/>
            <a:ext cx="2903776" cy="1458206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 rot="16200000">
            <a:off x="10850364" y="5472348"/>
            <a:ext cx="21066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  <a:latin typeface="+mj-lt"/>
                <a:hlinkClick r:id="rId12"/>
              </a:rPr>
              <a:t>bit.ly/BM-</a:t>
            </a:r>
            <a:r>
              <a:rPr lang="en-US" dirty="0" err="1">
                <a:solidFill>
                  <a:srgbClr val="00B050"/>
                </a:solidFill>
                <a:latin typeface="+mj-lt"/>
                <a:hlinkClick r:id="rId12"/>
              </a:rPr>
              <a:t>InSilico</a:t>
            </a:r>
            <a:r>
              <a:rPr lang="ru-RU" dirty="0">
                <a:solidFill>
                  <a:srgbClr val="00B050"/>
                </a:solidFill>
                <a:latin typeface="+mj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8620165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31" grpId="0"/>
      <p:bldP spid="11" grpId="0"/>
      <p:bldP spid="32" grpId="1"/>
      <p:bldP spid="33" grpId="0"/>
      <p:bldP spid="34" grpId="0"/>
      <p:bldP spid="39" grpId="0"/>
      <p:bldP spid="40" grpId="0"/>
      <p:bldP spid="4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5080FCA1-F9E0-61FA-F782-781AE2B673E4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97401" y="0"/>
            <a:ext cx="10797197" cy="6858000"/>
          </a:xfrm>
          <a:prstGeom prst="rect">
            <a:avLst/>
          </a:prstGeom>
        </p:spPr>
      </p:pic>
      <p:sp>
        <p:nvSpPr>
          <p:cNvPr id="2" name="Text Box 16">
            <a:extLst>
              <a:ext uri="{FF2B5EF4-FFF2-40B4-BE49-F238E27FC236}">
                <a16:creationId xmlns:a16="http://schemas.microsoft.com/office/drawing/2014/main" id="{F2E417BD-A7BA-576F-0B73-AB82E8AA66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4505" y="287338"/>
            <a:ext cx="8136135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>
            <a:lvl1pPr eaLnBrk="0" hangingPunct="0">
              <a:defRPr i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i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en-US" sz="3000" dirty="0" err="1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+mn-cs"/>
              </a:rPr>
              <a:t>AlphaFold</a:t>
            </a:r>
            <a:r>
              <a:rPr lang="en-US" sz="3000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+mn-cs"/>
              </a:rPr>
              <a:t> Database</a:t>
            </a:r>
            <a:endParaRPr lang="ru-RU" sz="3000" dirty="0">
              <a:solidFill>
                <a:schemeClr val="accent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A8C1A4A-DF48-82F3-6F67-20870683A948}"/>
              </a:ext>
            </a:extLst>
          </p:cNvPr>
          <p:cNvSpPr txBox="1"/>
          <p:nvPr/>
        </p:nvSpPr>
        <p:spPr>
          <a:xfrm rot="16200000">
            <a:off x="8818514" y="3514799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b="0" i="0" dirty="0" err="1">
                <a:solidFill>
                  <a:srgbClr val="0053D6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AlphaFold</a:t>
            </a:r>
            <a:r>
              <a:rPr lang="en-US" sz="1400" b="0" i="0" dirty="0">
                <a:solidFill>
                  <a:srgbClr val="0053D6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 reveals the structure of the protein universe</a:t>
            </a:r>
            <a:endParaRPr lang="en-US" sz="1400" b="0" i="0" dirty="0">
              <a:solidFill>
                <a:srgbClr val="0053D6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77371C-925D-FFB1-4FF3-0A685F48CC91}"/>
              </a:ext>
            </a:extLst>
          </p:cNvPr>
          <p:cNvSpPr txBox="1"/>
          <p:nvPr/>
        </p:nvSpPr>
        <p:spPr>
          <a:xfrm>
            <a:off x="8439407" y="0"/>
            <a:ext cx="3706464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sz="1600" b="1" i="1" dirty="0">
                <a:solidFill>
                  <a:srgbClr val="FFFF00"/>
                </a:solidFill>
                <a:latin typeface="+mj-lt"/>
              </a:rPr>
              <a:t>II. </a:t>
            </a:r>
            <a:r>
              <a:rPr lang="ru-RU" sz="1600" b="1" i="1" dirty="0">
                <a:solidFill>
                  <a:srgbClr val="FFFF00"/>
                </a:solidFill>
                <a:latin typeface="+mj-lt"/>
              </a:rPr>
              <a:t>Большие базы «сухой» биологии</a:t>
            </a:r>
          </a:p>
        </p:txBody>
      </p:sp>
    </p:spTree>
    <p:extLst>
      <p:ext uri="{BB962C8B-B14F-4D97-AF65-F5344CB8AC3E}">
        <p14:creationId xmlns:p14="http://schemas.microsoft.com/office/powerpoint/2010/main" val="22880489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16"/>
          <p:cNvSpPr txBox="1">
            <a:spLocks noChangeArrowheads="1"/>
          </p:cNvSpPr>
          <p:nvPr/>
        </p:nvSpPr>
        <p:spPr bwMode="auto">
          <a:xfrm>
            <a:off x="1992313" y="287338"/>
            <a:ext cx="7777162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 i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i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ru-RU" sz="3000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+mn-cs"/>
              </a:rPr>
              <a:t>Генетические последовательности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6239" y="0"/>
            <a:ext cx="4185761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sz="1600" b="1" i="1" dirty="0">
                <a:solidFill>
                  <a:srgbClr val="FFFF00"/>
                </a:solidFill>
                <a:latin typeface="+mj-lt"/>
              </a:rPr>
              <a:t>III. </a:t>
            </a:r>
            <a:r>
              <a:rPr lang="ru-RU" sz="1600" b="1" i="1" dirty="0">
                <a:solidFill>
                  <a:srgbClr val="FFFF00"/>
                </a:solidFill>
                <a:latin typeface="+mj-lt"/>
              </a:rPr>
              <a:t>Генетические последовательности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767408" y="1052736"/>
            <a:ext cx="9793088" cy="187325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1" hangingPunct="1">
              <a:lnSpc>
                <a:spcPct val="90000"/>
              </a:lnSpc>
              <a:buNone/>
            </a:pPr>
            <a:r>
              <a:rPr lang="ru-RU" sz="2400" dirty="0"/>
              <a:t>Источник генетических данных — геномные проекты, в том числе знаменитый «Геном человека». Секвенирование ДНК.</a:t>
            </a:r>
          </a:p>
        </p:txBody>
      </p:sp>
      <p:pic>
        <p:nvPicPr>
          <p:cNvPr id="14338" name="Picture 2" descr="ÐÐµÑÐ¾Ð´ Â«ÑÐµÑÐ¼Ð¸Ð½Ð°ÑÐ¾ÑÐ¾Ð²Â»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38" r="4172"/>
          <a:stretch/>
        </p:blipFill>
        <p:spPr bwMode="auto">
          <a:xfrm>
            <a:off x="839416" y="1976242"/>
            <a:ext cx="7573136" cy="25833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8484560" y="4036322"/>
            <a:ext cx="25922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latin typeface="+mj-lt"/>
              </a:rPr>
              <a:t>Метод «терминаторов» </a:t>
            </a:r>
            <a:r>
              <a:rPr lang="ru-RU" sz="1400" dirty="0" err="1">
                <a:latin typeface="+mj-lt"/>
              </a:rPr>
              <a:t>Сэнгера</a:t>
            </a:r>
            <a:endParaRPr lang="ru-RU" sz="1400" dirty="0">
              <a:latin typeface="+mj-lt"/>
            </a:endParaRPr>
          </a:p>
        </p:txBody>
      </p:sp>
      <p:pic>
        <p:nvPicPr>
          <p:cNvPr id="14340" name="Picture 4" descr="ÐÑÐ¸Ð½ÑÐ¸Ð¿ ÑÐµÐºÐ²ÐµÐ½Ð¸ÑÐ¾Ð²Ð°Ð½Ð¸Ñ Ð½Ð° Ð¼Ð¾Ð»ÐµÐºÑÐ»ÑÑÐ½ÑÑ ÐºÐ»Ð°ÑÑÐµÑÐ°Ñ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60"/>
          <a:stretch/>
        </p:blipFill>
        <p:spPr bwMode="auto">
          <a:xfrm>
            <a:off x="829767" y="5531024"/>
            <a:ext cx="3377807" cy="1326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751189" y="4704770"/>
            <a:ext cx="381642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b="1" dirty="0">
                <a:latin typeface="+mj-lt"/>
              </a:rPr>
              <a:t>Секвенирование «нового поколения» (</a:t>
            </a:r>
            <a:r>
              <a:rPr lang="en-US" sz="1200" b="1" dirty="0" err="1">
                <a:latin typeface="+mj-lt"/>
              </a:rPr>
              <a:t>NextGen</a:t>
            </a:r>
            <a:r>
              <a:rPr lang="ru-RU" sz="1200" b="1" dirty="0">
                <a:latin typeface="+mj-lt"/>
              </a:rPr>
              <a:t>)</a:t>
            </a:r>
            <a:endParaRPr lang="en-US" sz="1200" b="1" dirty="0">
              <a:latin typeface="+mj-lt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dirty="0">
                <a:latin typeface="+mj-lt"/>
              </a:rPr>
              <a:t>Фрагментация (</a:t>
            </a:r>
            <a:r>
              <a:rPr lang="en-US" sz="1200" dirty="0">
                <a:latin typeface="+mj-lt"/>
              </a:rPr>
              <a:t>shotgun</a:t>
            </a:r>
            <a:r>
              <a:rPr lang="ru-RU" sz="1200" dirty="0">
                <a:latin typeface="+mj-lt"/>
              </a:rPr>
              <a:t>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dirty="0">
                <a:latin typeface="+mj-lt"/>
              </a:rPr>
              <a:t>Регистрация включения нуклеотидов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dirty="0" err="1">
                <a:latin typeface="+mj-lt"/>
              </a:rPr>
              <a:t>Биоинформатическая</a:t>
            </a:r>
            <a:r>
              <a:rPr lang="ru-RU" sz="1200" dirty="0">
                <a:latin typeface="+mj-lt"/>
              </a:rPr>
              <a:t> «сборка»</a:t>
            </a:r>
          </a:p>
        </p:txBody>
      </p:sp>
      <p:pic>
        <p:nvPicPr>
          <p:cNvPr id="14342" name="Picture 6" descr="ÐÑÐ¸Ð½ÑÐ¸Ð¿ Ð½Ð°Ð½Ð¾Ð¿Ð¾ÑÐ¾Ð²Ð¾Ð³Ð¾ ÑÐµÐºÐ²ÐµÐ½Ð¸ÑÐ¾Ð²Ð°Ð½Ð¸Ñ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81" t="8275" r="7217" b="5379"/>
          <a:stretch/>
        </p:blipFill>
        <p:spPr bwMode="auto">
          <a:xfrm>
            <a:off x="5413822" y="4751546"/>
            <a:ext cx="2997646" cy="210645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/>
          <p:cNvSpPr txBox="1"/>
          <p:nvPr/>
        </p:nvSpPr>
        <p:spPr>
          <a:xfrm>
            <a:off x="8490998" y="4704996"/>
            <a:ext cx="25922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 err="1">
                <a:latin typeface="+mj-lt"/>
              </a:rPr>
              <a:t>Нанопоровое</a:t>
            </a:r>
            <a:r>
              <a:rPr lang="ru-RU" sz="1400" dirty="0">
                <a:latin typeface="+mj-lt"/>
              </a:rPr>
              <a:t> секвенирование</a:t>
            </a:r>
          </a:p>
        </p:txBody>
      </p:sp>
      <p:sp>
        <p:nvSpPr>
          <p:cNvPr id="6" name="TextBox 5"/>
          <p:cNvSpPr txBox="1"/>
          <p:nvPr/>
        </p:nvSpPr>
        <p:spPr>
          <a:xfrm rot="16200000">
            <a:off x="-1017071" y="5470280"/>
            <a:ext cx="24032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+mj-lt"/>
                <a:hlinkClick r:id="rId5"/>
              </a:rPr>
              <a:t>bit.ly/BM-Sequencing</a:t>
            </a:r>
            <a:endParaRPr lang="ru-RU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2649929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4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4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9" grpId="0"/>
      <p:bldP spid="11" grpId="1"/>
      <p:bldP spid="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6"/>
          <p:cNvSpPr txBox="1">
            <a:spLocks noChangeArrowheads="1"/>
          </p:cNvSpPr>
          <p:nvPr/>
        </p:nvSpPr>
        <p:spPr bwMode="auto">
          <a:xfrm>
            <a:off x="1992313" y="287338"/>
            <a:ext cx="7777162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 i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i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ru-RU" sz="3000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+mn-cs"/>
              </a:rPr>
              <a:t>Аминокислотные последовательности</a:t>
            </a:r>
          </a:p>
        </p:txBody>
      </p:sp>
      <p:sp>
        <p:nvSpPr>
          <p:cNvPr id="7" name="Text Box 6"/>
          <p:cNvSpPr txBox="1">
            <a:spLocks noChangeArrowheads="1"/>
          </p:cNvSpPr>
          <p:nvPr/>
        </p:nvSpPr>
        <p:spPr bwMode="auto">
          <a:xfrm>
            <a:off x="407369" y="824725"/>
            <a:ext cx="5544616" cy="28777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177800" indent="-1778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342900" indent="-342900" eaLnBrk="1" hangingPunct="1">
              <a:spcBef>
                <a:spcPct val="50000"/>
              </a:spcBef>
              <a:buFont typeface="Wingdings" pitchFamily="2" charset="2"/>
              <a:buChar char="§"/>
            </a:pPr>
            <a:r>
              <a:rPr lang="ru-RU" b="0" dirty="0">
                <a:latin typeface="+mn-lt"/>
              </a:rPr>
              <a:t>Химический метод</a:t>
            </a:r>
            <a:r>
              <a:rPr lang="en-US" b="0" dirty="0">
                <a:latin typeface="+mn-lt"/>
              </a:rPr>
              <a:t>. </a:t>
            </a:r>
            <a:r>
              <a:rPr lang="ru-RU" sz="1400" b="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Фрагментирование</a:t>
            </a:r>
            <a:r>
              <a:rPr lang="ru-RU" sz="1400" b="0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 полипептида химическими реагентами с последующей идентификацией фрагментов</a:t>
            </a:r>
          </a:p>
          <a:p>
            <a:pPr marL="342900" indent="-342900" eaLnBrk="1" hangingPunct="1">
              <a:spcBef>
                <a:spcPct val="50000"/>
              </a:spcBef>
              <a:buFont typeface="Wingdings" pitchFamily="2" charset="2"/>
              <a:buChar char="§"/>
            </a:pPr>
            <a:r>
              <a:rPr lang="ru-RU" b="0" dirty="0">
                <a:latin typeface="+mn-lt"/>
              </a:rPr>
              <a:t>Автоматическое секвенирование</a:t>
            </a:r>
            <a:r>
              <a:rPr lang="en-US" b="0" dirty="0">
                <a:latin typeface="+mn-lt"/>
              </a:rPr>
              <a:t> </a:t>
            </a:r>
            <a:r>
              <a:rPr lang="ru-RU" b="0" dirty="0">
                <a:latin typeface="+mn-lt"/>
              </a:rPr>
              <a:t>(метод </a:t>
            </a:r>
            <a:r>
              <a:rPr lang="ru-RU" b="0" dirty="0" err="1">
                <a:latin typeface="+mn-lt"/>
              </a:rPr>
              <a:t>Эдмана</a:t>
            </a:r>
            <a:r>
              <a:rPr lang="ru-RU" b="0" dirty="0">
                <a:latin typeface="+mn-lt"/>
              </a:rPr>
              <a:t>). </a:t>
            </a:r>
            <a:r>
              <a:rPr lang="ru-RU" sz="1200" b="0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Последовательная деградация белка с N-конца (реакция с </a:t>
            </a:r>
            <a:r>
              <a:rPr lang="ru-RU" sz="1200" b="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фенилизотиоцианатом</a:t>
            </a:r>
            <a:r>
              <a:rPr lang="ru-RU" sz="1200" b="0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; ФИТЦ) + идентификация </a:t>
            </a:r>
          </a:p>
          <a:p>
            <a:pPr marL="342900" indent="-342900" eaLnBrk="1" hangingPunct="1">
              <a:spcBef>
                <a:spcPct val="50000"/>
              </a:spcBef>
              <a:buFont typeface="Wingdings" pitchFamily="2" charset="2"/>
              <a:buChar char="§"/>
            </a:pPr>
            <a:r>
              <a:rPr lang="ru-RU" b="0" dirty="0">
                <a:latin typeface="+mn-lt"/>
              </a:rPr>
              <a:t>Ферментативный метод.</a:t>
            </a:r>
            <a:r>
              <a:rPr lang="ru-RU" sz="1200" b="0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 Отщепление </a:t>
            </a:r>
            <a:r>
              <a:rPr lang="ru-RU" sz="1200" b="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а.о</a:t>
            </a:r>
            <a:r>
              <a:rPr lang="ru-RU" sz="1200" b="0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. с помощью </a:t>
            </a:r>
            <a:r>
              <a:rPr lang="ru-RU" sz="1200" b="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карбоксипептидазы</a:t>
            </a:r>
            <a:r>
              <a:rPr lang="ru-RU" sz="1200" b="0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 + идентификация</a:t>
            </a:r>
          </a:p>
          <a:p>
            <a:pPr marL="342900" indent="-342900" eaLnBrk="1" hangingPunct="1">
              <a:spcBef>
                <a:spcPct val="50000"/>
              </a:spcBef>
              <a:buFont typeface="Wingdings" pitchFamily="2" charset="2"/>
              <a:buChar char="§"/>
            </a:pPr>
            <a:r>
              <a:rPr lang="ru-RU" b="0" dirty="0">
                <a:latin typeface="+mn-lt"/>
              </a:rPr>
              <a:t>Физический метод: масс-спектрометрия.</a:t>
            </a:r>
            <a:r>
              <a:rPr lang="ru-RU" sz="1200" b="0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 MS/MS анализ и </a:t>
            </a:r>
            <a:r>
              <a:rPr lang="ru-RU" sz="1200" b="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Peptide</a:t>
            </a:r>
            <a:r>
              <a:rPr lang="ru-RU" sz="1200" b="0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 </a:t>
            </a:r>
            <a:r>
              <a:rPr lang="ru-RU" sz="1200" b="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mass</a:t>
            </a:r>
            <a:r>
              <a:rPr lang="ru-RU" sz="1200" b="0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 </a:t>
            </a:r>
            <a:r>
              <a:rPr lang="ru-RU" sz="1200" b="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fingerprinting</a:t>
            </a:r>
            <a:endParaRPr lang="ru-RU" sz="1200" b="0" dirty="0">
              <a:solidFill>
                <a:schemeClr val="tx1">
                  <a:lumMod val="50000"/>
                  <a:lumOff val="50000"/>
                </a:schemeClr>
              </a:solidFill>
              <a:latin typeface="+mj-lt"/>
            </a:endParaRPr>
          </a:p>
        </p:txBody>
      </p:sp>
      <p:pic>
        <p:nvPicPr>
          <p:cNvPr id="15364" name="Picture 4" descr="https://biomolecula.ru/img/content/2289/03.sekvenirovanie-po-Edmanu.pn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04" r="2803"/>
          <a:stretch/>
        </p:blipFill>
        <p:spPr bwMode="auto">
          <a:xfrm>
            <a:off x="6096000" y="856011"/>
            <a:ext cx="5832648" cy="398101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66" name="Picture 6" descr="https://biomolecula.ru/img/content/2289/08.peptidnoe-kartirovanie.png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87" r="1806"/>
          <a:stretch/>
        </p:blipFill>
        <p:spPr bwMode="auto">
          <a:xfrm>
            <a:off x="623392" y="4028327"/>
            <a:ext cx="4561927" cy="265358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Box 15"/>
          <p:cNvSpPr txBox="1"/>
          <p:nvPr/>
        </p:nvSpPr>
        <p:spPr>
          <a:xfrm>
            <a:off x="6076062" y="4412221"/>
            <a:ext cx="17540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+mj-lt"/>
              </a:rPr>
              <a:t>Метод </a:t>
            </a:r>
            <a:r>
              <a:rPr lang="ru-RU" dirty="0" err="1">
                <a:latin typeface="+mj-lt"/>
              </a:rPr>
              <a:t>Эдмана</a:t>
            </a:r>
            <a:endParaRPr lang="ru-RU" dirty="0">
              <a:latin typeface="+mj-lt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355034" y="5949280"/>
            <a:ext cx="295144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err="1">
                <a:latin typeface="+mj-lt"/>
              </a:rPr>
              <a:t>Протеомика</a:t>
            </a:r>
            <a:r>
              <a:rPr lang="ru-RU" dirty="0">
                <a:latin typeface="+mj-lt"/>
              </a:rPr>
              <a:t>: </a:t>
            </a:r>
          </a:p>
          <a:p>
            <a:r>
              <a:rPr lang="en-US" dirty="0">
                <a:latin typeface="+mj-lt"/>
              </a:rPr>
              <a:t>MS-</a:t>
            </a:r>
            <a:r>
              <a:rPr lang="ru-RU" dirty="0">
                <a:latin typeface="+mj-lt"/>
              </a:rPr>
              <a:t>анализ + </a:t>
            </a:r>
            <a:r>
              <a:rPr lang="ru-RU" dirty="0" err="1">
                <a:latin typeface="+mj-lt"/>
              </a:rPr>
              <a:t>фингерпринт</a:t>
            </a:r>
            <a:endParaRPr lang="ru-RU" dirty="0">
              <a:latin typeface="+mj-lt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9530524" y="6385996"/>
            <a:ext cx="23731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  <a:latin typeface="+mj-lt"/>
                <a:hlinkClick r:id="rId4"/>
              </a:rPr>
              <a:t>bit.ly/BM-Proteomics</a:t>
            </a:r>
            <a:endParaRPr lang="ru-RU" dirty="0">
              <a:solidFill>
                <a:srgbClr val="00B050"/>
              </a:solidFill>
              <a:latin typeface="+mj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959E40-118C-3BC9-364F-9501BE017A8F}"/>
              </a:ext>
            </a:extLst>
          </p:cNvPr>
          <p:cNvSpPr txBox="1"/>
          <p:nvPr/>
        </p:nvSpPr>
        <p:spPr>
          <a:xfrm>
            <a:off x="8006239" y="0"/>
            <a:ext cx="4185761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sz="1600" b="1" i="1" dirty="0">
                <a:solidFill>
                  <a:srgbClr val="FFFF00"/>
                </a:solidFill>
                <a:latin typeface="+mj-lt"/>
              </a:rPr>
              <a:t>III. </a:t>
            </a:r>
            <a:r>
              <a:rPr lang="ru-RU" sz="1600" b="1" i="1" dirty="0">
                <a:solidFill>
                  <a:srgbClr val="FFFF00"/>
                </a:solidFill>
                <a:latin typeface="+mj-lt"/>
              </a:rPr>
              <a:t>Генетические последовательности</a:t>
            </a:r>
          </a:p>
        </p:txBody>
      </p:sp>
    </p:spTree>
    <p:extLst>
      <p:ext uri="{BB962C8B-B14F-4D97-AF65-F5344CB8AC3E}">
        <p14:creationId xmlns:p14="http://schemas.microsoft.com/office/powerpoint/2010/main" val="40992773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5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5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20" grpId="0"/>
      <p:bldP spid="1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Box 16"/>
          <p:cNvSpPr txBox="1">
            <a:spLocks noChangeArrowheads="1"/>
          </p:cNvSpPr>
          <p:nvPr/>
        </p:nvSpPr>
        <p:spPr bwMode="auto">
          <a:xfrm>
            <a:off x="1992313" y="287338"/>
            <a:ext cx="7777162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 i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i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ru-RU" sz="3000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+mn-cs"/>
              </a:rPr>
              <a:t>Формат файла </a:t>
            </a:r>
            <a:r>
              <a:rPr lang="en-US" sz="3000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+mn-cs"/>
              </a:rPr>
              <a:t>FASTA</a:t>
            </a:r>
            <a:endParaRPr lang="ru-RU" sz="3000" dirty="0">
              <a:solidFill>
                <a:schemeClr val="accent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cs typeface="+mn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639175" y="0"/>
            <a:ext cx="4538422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sz="1600" b="1" i="1" dirty="0">
                <a:solidFill>
                  <a:srgbClr val="FFFF00"/>
                </a:solidFill>
                <a:latin typeface="+mj-lt"/>
              </a:rPr>
              <a:t>IV. </a:t>
            </a:r>
            <a:r>
              <a:rPr lang="ru-RU" sz="1600" b="1" i="1" dirty="0">
                <a:solidFill>
                  <a:srgbClr val="FFFF00"/>
                </a:solidFill>
                <a:latin typeface="+mj-lt"/>
              </a:rPr>
              <a:t>Аминокислотные последовательности</a:t>
            </a:r>
          </a:p>
        </p:txBody>
      </p:sp>
      <p:sp>
        <p:nvSpPr>
          <p:cNvPr id="11" name="CustomShape 2"/>
          <p:cNvSpPr/>
          <p:nvPr/>
        </p:nvSpPr>
        <p:spPr>
          <a:xfrm>
            <a:off x="479376" y="1128674"/>
            <a:ext cx="10188624" cy="3740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ru-RU" b="1" spc="-1" dirty="0">
                <a:solidFill>
                  <a:srgbClr val="000000"/>
                </a:solidFill>
                <a:latin typeface="Consolas" panose="020B0609020204030204" pitchFamily="49" charset="0"/>
              </a:rPr>
              <a:t>&gt;gi|5524211|gb|AAD44166.1| </a:t>
            </a:r>
            <a:r>
              <a:rPr lang="ru-RU" b="1" spc="-1" dirty="0" err="1">
                <a:solidFill>
                  <a:srgbClr val="000000"/>
                </a:solidFill>
                <a:latin typeface="Consolas" panose="020B0609020204030204" pitchFamily="49" charset="0"/>
              </a:rPr>
              <a:t>cytochrome</a:t>
            </a:r>
            <a:r>
              <a:rPr lang="ru-RU" b="1" spc="-1" dirty="0">
                <a:solidFill>
                  <a:srgbClr val="000000"/>
                </a:solidFill>
                <a:latin typeface="Consolas" panose="020B0609020204030204" pitchFamily="49" charset="0"/>
              </a:rPr>
              <a:t> b [</a:t>
            </a:r>
            <a:r>
              <a:rPr lang="ru-RU" b="1" spc="-1" dirty="0" err="1">
                <a:solidFill>
                  <a:srgbClr val="000000"/>
                </a:solidFill>
                <a:latin typeface="Consolas" panose="020B0609020204030204" pitchFamily="49" charset="0"/>
              </a:rPr>
              <a:t>Elephas</a:t>
            </a:r>
            <a:r>
              <a:rPr lang="ru-RU" b="1" spc="-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ru-RU" b="1" spc="-1" dirty="0" err="1">
                <a:solidFill>
                  <a:srgbClr val="000000"/>
                </a:solidFill>
                <a:latin typeface="Consolas" panose="020B0609020204030204" pitchFamily="49" charset="0"/>
              </a:rPr>
              <a:t>maximus</a:t>
            </a:r>
            <a:r>
              <a:rPr lang="ru-RU" b="1" spc="-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ru-RU" b="1" spc="-1" dirty="0" err="1">
                <a:solidFill>
                  <a:srgbClr val="000000"/>
                </a:solidFill>
                <a:latin typeface="Consolas" panose="020B0609020204030204" pitchFamily="49" charset="0"/>
              </a:rPr>
              <a:t>maximus</a:t>
            </a:r>
            <a:r>
              <a:rPr lang="ru-RU" b="1" spc="-1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  <a:endParaRPr lang="ru-RU" spc="-1" dirty="0">
              <a:solidFill>
                <a:srgbClr val="FFFFFF"/>
              </a:solidFill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</a:pPr>
            <a:r>
              <a:rPr lang="ru-RU" spc="-1" dirty="0">
                <a:solidFill>
                  <a:srgbClr val="000000"/>
                </a:solidFill>
                <a:latin typeface="Consolas" panose="020B0609020204030204" pitchFamily="49" charset="0"/>
              </a:rPr>
              <a:t>LCLYTHIGRNIYYGSYLYSETWNTGIMLLLITMATAFMGYVLPWGQMSFWGATVITNLFSAIPYIGTNLV</a:t>
            </a:r>
            <a:endParaRPr lang="ru-RU" spc="-1" dirty="0">
              <a:solidFill>
                <a:srgbClr val="FFFFFF"/>
              </a:solidFill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</a:pPr>
            <a:r>
              <a:rPr lang="ru-RU" spc="-1" dirty="0">
                <a:solidFill>
                  <a:srgbClr val="000000"/>
                </a:solidFill>
                <a:latin typeface="Consolas" panose="020B0609020204030204" pitchFamily="49" charset="0"/>
              </a:rPr>
              <a:t>EWIWGGFSVDKATLNRFFAFHFILPFTMVALAGVHLTFLHETGSNNPLGLTSDSDKIPFHPYYTIKDFLG</a:t>
            </a:r>
            <a:endParaRPr lang="ru-RU" spc="-1" dirty="0">
              <a:solidFill>
                <a:srgbClr val="FFFFFF"/>
              </a:solidFill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</a:pPr>
            <a:r>
              <a:rPr lang="ru-RU" spc="-1" dirty="0">
                <a:solidFill>
                  <a:srgbClr val="000000"/>
                </a:solidFill>
                <a:latin typeface="Consolas" panose="020B0609020204030204" pitchFamily="49" charset="0"/>
              </a:rPr>
              <a:t>LLILILLLLLLALLSPDMLGDPDNHMPADPLNTPLHIKPEWYFLFAYAILRSVPNKLGGVLALFLSIVIL</a:t>
            </a:r>
            <a:endParaRPr lang="ru-RU" spc="-1" dirty="0">
              <a:solidFill>
                <a:srgbClr val="FFFFFF"/>
              </a:solidFill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</a:pPr>
            <a:r>
              <a:rPr lang="ru-RU" spc="-1" dirty="0">
                <a:solidFill>
                  <a:srgbClr val="000000"/>
                </a:solidFill>
                <a:latin typeface="Consolas" panose="020B0609020204030204" pitchFamily="49" charset="0"/>
              </a:rPr>
              <a:t>GLMPFLHTSKHRSMMLRPLSQALFWTLTMDLLTLTWIGSQPVEYPYTIIGQMASILYFSIILAFLPIAGX</a:t>
            </a:r>
            <a:endParaRPr lang="ru-RU" spc="-1" dirty="0">
              <a:solidFill>
                <a:srgbClr val="FFFFFF"/>
              </a:solidFill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</a:pPr>
            <a:r>
              <a:rPr lang="ru-RU" spc="-1" dirty="0">
                <a:solidFill>
                  <a:srgbClr val="000000"/>
                </a:solidFill>
                <a:latin typeface="Consolas" panose="020B0609020204030204" pitchFamily="49" charset="0"/>
              </a:rPr>
              <a:t>IENY</a:t>
            </a:r>
            <a:endParaRPr lang="ru-RU" spc="-1" dirty="0">
              <a:solidFill>
                <a:srgbClr val="FFFFFF"/>
              </a:solidFill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</a:pPr>
            <a:endParaRPr lang="ru-RU" spc="-1" dirty="0">
              <a:solidFill>
                <a:srgbClr val="FFFFFF"/>
              </a:solidFill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</a:pPr>
            <a:r>
              <a:rPr lang="ru-RU" b="1" spc="-1" dirty="0">
                <a:solidFill>
                  <a:srgbClr val="000000"/>
                </a:solidFill>
                <a:latin typeface="Consolas" panose="020B0609020204030204" pitchFamily="49" charset="0"/>
              </a:rPr>
              <a:t>&gt;SEQUENCE_1</a:t>
            </a:r>
            <a:endParaRPr lang="ru-RU" spc="-1" dirty="0">
              <a:solidFill>
                <a:srgbClr val="FFFFFF"/>
              </a:solidFill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</a:pPr>
            <a:r>
              <a:rPr lang="ru-RU" spc="-1" dirty="0">
                <a:solidFill>
                  <a:srgbClr val="000000"/>
                </a:solidFill>
                <a:latin typeface="Consolas" panose="020B0609020204030204" pitchFamily="49" charset="0"/>
              </a:rPr>
              <a:t>MTEITAAMVKELRESTGAGMMDCKNALSETNGDFDKAVQLLREKGLGKAAKKADRLAAEG</a:t>
            </a:r>
            <a:endParaRPr lang="ru-RU" spc="-1" dirty="0">
              <a:solidFill>
                <a:srgbClr val="FFFFFF"/>
              </a:solidFill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</a:pPr>
            <a:r>
              <a:rPr lang="ru-RU" spc="-1" dirty="0">
                <a:solidFill>
                  <a:srgbClr val="000000"/>
                </a:solidFill>
                <a:latin typeface="Consolas" panose="020B0609020204030204" pitchFamily="49" charset="0"/>
              </a:rPr>
              <a:t>LVSVKVSDDFTIAAMRPSYLSYEDLDMTFVENEYKALVAELEKENEERRRLKDPNKPEHK</a:t>
            </a:r>
            <a:endParaRPr lang="ru-RU" spc="-1" dirty="0">
              <a:solidFill>
                <a:srgbClr val="FFFFFF"/>
              </a:solidFill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</a:pPr>
            <a:r>
              <a:rPr lang="ru-RU" spc="-1" dirty="0">
                <a:solidFill>
                  <a:srgbClr val="000000"/>
                </a:solidFill>
                <a:latin typeface="Consolas" panose="020B0609020204030204" pitchFamily="49" charset="0"/>
              </a:rPr>
              <a:t>IPQFASRKQLSDAILKEAEEKIKEELKAQGKPEKIWDNIIPGKMNSFIADNSQLDSKLTL</a:t>
            </a:r>
            <a:endParaRPr lang="ru-RU" spc="-1" dirty="0">
              <a:solidFill>
                <a:srgbClr val="FFFFFF"/>
              </a:solidFill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</a:pPr>
            <a:r>
              <a:rPr lang="ru-RU" spc="-1" dirty="0">
                <a:solidFill>
                  <a:srgbClr val="000000"/>
                </a:solidFill>
                <a:latin typeface="Consolas" panose="020B0609020204030204" pitchFamily="49" charset="0"/>
              </a:rPr>
              <a:t>MGQFYVMDDKKTVEQVIAEKEKEFGGKIKIVEFICFEVGEGLEKKTEDFAAEVAAQL</a:t>
            </a:r>
            <a:endParaRPr lang="ru-RU" spc="-1" dirty="0">
              <a:solidFill>
                <a:srgbClr val="FFFFFF"/>
              </a:solidFill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</a:pPr>
            <a:endParaRPr lang="en-US" b="1" spc="-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</a:pPr>
            <a:r>
              <a:rPr lang="ru-RU" b="1" spc="-1" dirty="0">
                <a:solidFill>
                  <a:srgbClr val="000000"/>
                </a:solidFill>
                <a:latin typeface="Consolas" panose="020B0609020204030204" pitchFamily="49" charset="0"/>
              </a:rPr>
              <a:t>&gt;SEQUENCE_2</a:t>
            </a:r>
            <a:endParaRPr lang="ru-RU" spc="-1" dirty="0">
              <a:solidFill>
                <a:srgbClr val="FFFFFF"/>
              </a:solidFill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</a:pPr>
            <a:r>
              <a:rPr lang="ru-RU" spc="-1" dirty="0">
                <a:solidFill>
                  <a:srgbClr val="000000"/>
                </a:solidFill>
                <a:latin typeface="Consolas" panose="020B0609020204030204" pitchFamily="49" charset="0"/>
              </a:rPr>
              <a:t>SATVSEINSETDFVAKNDQFIALTKDTTAHIQSNSLQSVEELHSSTINGVKFEEYLKSQI</a:t>
            </a:r>
            <a:endParaRPr lang="ru-RU" spc="-1" dirty="0">
              <a:solidFill>
                <a:srgbClr val="FFFFFF"/>
              </a:solidFill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</a:pPr>
            <a:r>
              <a:rPr lang="ru-RU" spc="-1" dirty="0">
                <a:solidFill>
                  <a:srgbClr val="000000"/>
                </a:solidFill>
                <a:latin typeface="Consolas" panose="020B0609020204030204" pitchFamily="49" charset="0"/>
              </a:rPr>
              <a:t>ATIGENLVVRRFATLKAGANGVVNGYIHTNGRVGVVIAAACDSAEVASKSRDLLRQICMH</a:t>
            </a:r>
            <a:endParaRPr lang="ru-RU" spc="-1" dirty="0">
              <a:solidFill>
                <a:srgbClr val="FFFFFF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56465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6"/>
          <p:cNvSpPr txBox="1">
            <a:spLocks noChangeArrowheads="1"/>
          </p:cNvSpPr>
          <p:nvPr/>
        </p:nvSpPr>
        <p:spPr bwMode="auto">
          <a:xfrm>
            <a:off x="1992313" y="287338"/>
            <a:ext cx="7777162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 i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i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ru-RU" sz="3000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+mn-cs"/>
              </a:rPr>
              <a:t>Пространственные структуры белков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08368" y="0"/>
            <a:ext cx="2700997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sz="1600" b="1" i="1" dirty="0">
                <a:solidFill>
                  <a:srgbClr val="FFFF00"/>
                </a:solidFill>
                <a:latin typeface="+mj-lt"/>
              </a:rPr>
              <a:t>V. 3D-</a:t>
            </a:r>
            <a:r>
              <a:rPr lang="ru-RU" sz="1600" b="1" i="1" dirty="0">
                <a:solidFill>
                  <a:srgbClr val="FFFF00"/>
                </a:solidFill>
                <a:latin typeface="+mj-lt"/>
              </a:rPr>
              <a:t>структуры белков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5763" y="1161883"/>
            <a:ext cx="25891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+mj-lt"/>
              </a:rPr>
              <a:t>Рентгеноструктурный анализ</a:t>
            </a:r>
            <a:endParaRPr lang="ru-RU" sz="1200" dirty="0">
              <a:latin typeface="+mj-lt"/>
            </a:endParaRPr>
          </a:p>
        </p:txBody>
      </p:sp>
      <p:pic>
        <p:nvPicPr>
          <p:cNvPr id="16386" name="Picture 2" descr="ÐÑÐ¸ÑÑÐ°Ð»Ð»Ñ Ð±ÐµÐ»ÐºÐ¾Ð²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2442" y="1808213"/>
            <a:ext cx="2498803" cy="31235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388" name="Picture 4" descr="https://biomolecula.ru/img/content/2148/07.shema-RSA.png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93" r="10411"/>
          <a:stretch/>
        </p:blipFill>
        <p:spPr bwMode="auto">
          <a:xfrm>
            <a:off x="983432" y="4931717"/>
            <a:ext cx="2507813" cy="19442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4229906" y="1143028"/>
            <a:ext cx="2589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+mj-lt"/>
              </a:rPr>
              <a:t>ЯМР-Спектроскопия</a:t>
            </a:r>
            <a:endParaRPr lang="ru-RU" sz="1200" dirty="0">
              <a:latin typeface="+mj-lt"/>
            </a:endParaRPr>
          </a:p>
        </p:txBody>
      </p:sp>
      <p:pic>
        <p:nvPicPr>
          <p:cNvPr id="12" name="Picture 6" descr="ÐÐ¾Ð½ÑÑÐ°Ð½ÑÐ¸Ð½ ÐÐ¸Ð½ÐµÐµÐ²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514" t="11990" b="21763"/>
          <a:stretch/>
        </p:blipFill>
        <p:spPr bwMode="auto">
          <a:xfrm>
            <a:off x="4223792" y="1789360"/>
            <a:ext cx="2527020" cy="3007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392" name="Picture 8" descr="Ð¢Ð¸Ð¿Ð¸ÑÐ½ÑÐµ Ð´Ð²ÑÐ¼ÐµÑÐ½ÑÐµ ÑÐ¿ÐµÐºÑÑÑ Ð¯ÐÐ 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1084" y="3717033"/>
            <a:ext cx="1540583" cy="9166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394" name="Picture 10" descr="https://biomolecula.ru/img/content/2148/13.JaMR.png"/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930"/>
          <a:stretch/>
        </p:blipFill>
        <p:spPr bwMode="auto">
          <a:xfrm>
            <a:off x="4223792" y="4797153"/>
            <a:ext cx="2527020" cy="18333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/>
          <p:cNvSpPr txBox="1"/>
          <p:nvPr/>
        </p:nvSpPr>
        <p:spPr>
          <a:xfrm>
            <a:off x="7821628" y="1143029"/>
            <a:ext cx="25891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+mj-lt"/>
              </a:rPr>
              <a:t>Криоэлектронная микроскопия</a:t>
            </a:r>
            <a:endParaRPr lang="ru-RU" sz="1200" dirty="0">
              <a:latin typeface="+mj-lt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43303" y="1789359"/>
            <a:ext cx="2527021" cy="354050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827292" y="5390666"/>
            <a:ext cx="25891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latin typeface="+mj-lt"/>
              </a:rPr>
              <a:t>Нобелевская премия по химии 2017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69475" y="6420237"/>
            <a:ext cx="21788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+mj-lt"/>
                <a:hlinkClick r:id="rId8"/>
              </a:rPr>
              <a:t>bit.ly/BM-</a:t>
            </a:r>
            <a:r>
              <a:rPr lang="en-US" dirty="0" err="1">
                <a:latin typeface="+mj-lt"/>
                <a:hlinkClick r:id="rId8"/>
              </a:rPr>
              <a:t>StructBio</a:t>
            </a:r>
            <a:endParaRPr lang="ru-RU" dirty="0">
              <a:solidFill>
                <a:srgbClr val="00B050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7510868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638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63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63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638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63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63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63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63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63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639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63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63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  <p:bldP spid="15" grpId="0"/>
      <p:bldP spid="18" grpId="0"/>
      <p:bldP spid="1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 16"/>
          <p:cNvSpPr txBox="1">
            <a:spLocks noChangeArrowheads="1"/>
          </p:cNvSpPr>
          <p:nvPr/>
        </p:nvSpPr>
        <p:spPr bwMode="auto">
          <a:xfrm>
            <a:off x="1992313" y="287338"/>
            <a:ext cx="7777162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 i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i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ru-RU" sz="3000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+mn-cs"/>
              </a:rPr>
              <a:t>Формат файла </a:t>
            </a:r>
            <a:r>
              <a:rPr lang="en-US" sz="3000" dirty="0" err="1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+mn-cs"/>
              </a:rPr>
              <a:t>pdb</a:t>
            </a:r>
            <a:endParaRPr lang="ru-RU" sz="3000" dirty="0">
              <a:solidFill>
                <a:schemeClr val="accent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cs typeface="+mn-cs"/>
            </a:endParaRPr>
          </a:p>
        </p:txBody>
      </p:sp>
      <p:sp>
        <p:nvSpPr>
          <p:cNvPr id="9" name="CustomShape 2"/>
          <p:cNvSpPr/>
          <p:nvPr/>
        </p:nvSpPr>
        <p:spPr>
          <a:xfrm>
            <a:off x="1740000" y="864483"/>
            <a:ext cx="8715240" cy="5018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ru-RU" sz="1400" spc="-1" dirty="0">
                <a:solidFill>
                  <a:srgbClr val="000000"/>
                </a:solidFill>
                <a:latin typeface="Consolas" panose="020B0609020204030204" pitchFamily="49" charset="0"/>
              </a:rPr>
              <a:t>HEADER    EXTRACELLULAR MATRIX                    22-JAN-98   1A3I</a:t>
            </a:r>
            <a:endParaRPr lang="ru-RU" sz="1400" spc="-1" dirty="0">
              <a:solidFill>
                <a:srgbClr val="FFFFFF"/>
              </a:solidFill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</a:pPr>
            <a:r>
              <a:rPr lang="ru-RU" sz="1400" spc="-1" dirty="0">
                <a:solidFill>
                  <a:srgbClr val="000000"/>
                </a:solidFill>
                <a:latin typeface="Consolas" panose="020B0609020204030204" pitchFamily="49" charset="0"/>
              </a:rPr>
              <a:t>TITLE     X-RAY CRYSTALLOGRAPHIC DETERMINATION OF A COLLAGEN-LIKE</a:t>
            </a:r>
            <a:endParaRPr lang="ru-RU" sz="1400" spc="-1" dirty="0">
              <a:solidFill>
                <a:srgbClr val="FFFFFF"/>
              </a:solidFill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</a:pPr>
            <a:r>
              <a:rPr lang="ru-RU" sz="1400" spc="-1" dirty="0">
                <a:solidFill>
                  <a:srgbClr val="000000"/>
                </a:solidFill>
                <a:latin typeface="Consolas" panose="020B0609020204030204" pitchFamily="49" charset="0"/>
              </a:rPr>
              <a:t>TITLE    2 PEPTIDE WITH THE REPEATING SEQUENCE (PRO-PRO-GLY)</a:t>
            </a:r>
            <a:endParaRPr lang="ru-RU" sz="1400" spc="-1" dirty="0">
              <a:solidFill>
                <a:srgbClr val="FFFFFF"/>
              </a:solidFill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</a:pPr>
            <a:r>
              <a:rPr lang="ru-RU" sz="1400" spc="-1" dirty="0">
                <a:solidFill>
                  <a:srgbClr val="000000"/>
                </a:solidFill>
                <a:latin typeface="Consolas" panose="020B0609020204030204" pitchFamily="49" charset="0"/>
              </a:rPr>
              <a:t>...</a:t>
            </a:r>
            <a:endParaRPr lang="ru-RU" sz="1400" spc="-1" dirty="0">
              <a:solidFill>
                <a:srgbClr val="FFFFFF"/>
              </a:solidFill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</a:pPr>
            <a:r>
              <a:rPr lang="ru-RU" sz="1400" spc="-1" dirty="0">
                <a:solidFill>
                  <a:srgbClr val="000000"/>
                </a:solidFill>
                <a:latin typeface="Consolas" panose="020B0609020204030204" pitchFamily="49" charset="0"/>
              </a:rPr>
              <a:t>EXPDTA    X-RAY DIFFRACTION</a:t>
            </a:r>
            <a:endParaRPr lang="ru-RU" sz="1400" spc="-1" dirty="0">
              <a:solidFill>
                <a:srgbClr val="FFFFFF"/>
              </a:solidFill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</a:pPr>
            <a:r>
              <a:rPr lang="ru-RU" sz="1400" spc="-1" dirty="0">
                <a:solidFill>
                  <a:srgbClr val="000000"/>
                </a:solidFill>
                <a:latin typeface="Consolas" panose="020B0609020204030204" pitchFamily="49" charset="0"/>
              </a:rPr>
              <a:t>AUTHOR    R.Z.KRAMER,L.VITAGLIANO,J.BELLA,R.BERISIO,L.MAZZARELLA,</a:t>
            </a:r>
            <a:endParaRPr lang="ru-RU" sz="1400" spc="-1" dirty="0">
              <a:solidFill>
                <a:srgbClr val="FFFFFF"/>
              </a:solidFill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</a:pPr>
            <a:r>
              <a:rPr lang="ru-RU" sz="1400" spc="-1" dirty="0">
                <a:solidFill>
                  <a:srgbClr val="000000"/>
                </a:solidFill>
                <a:latin typeface="Consolas" panose="020B0609020204030204" pitchFamily="49" charset="0"/>
              </a:rPr>
              <a:t>AUTHOR   2 B.BRODSKY,A.ZAGARI,H.M.BERMAN</a:t>
            </a:r>
            <a:endParaRPr lang="ru-RU" sz="1400" spc="-1" dirty="0">
              <a:solidFill>
                <a:srgbClr val="FFFFFF"/>
              </a:solidFill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</a:pPr>
            <a:r>
              <a:rPr lang="ru-RU" sz="1400" spc="-1" dirty="0">
                <a:solidFill>
                  <a:srgbClr val="000000"/>
                </a:solidFill>
                <a:latin typeface="Consolas" panose="020B0609020204030204" pitchFamily="49" charset="0"/>
              </a:rPr>
              <a:t>...</a:t>
            </a:r>
            <a:endParaRPr lang="ru-RU" sz="1400" spc="-1" dirty="0">
              <a:solidFill>
                <a:srgbClr val="FFFFFF"/>
              </a:solidFill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</a:pPr>
            <a:r>
              <a:rPr lang="ru-RU" sz="1400" spc="-1" dirty="0">
                <a:solidFill>
                  <a:srgbClr val="000000"/>
                </a:solidFill>
                <a:latin typeface="Consolas" panose="020B0609020204030204" pitchFamily="49" charset="0"/>
              </a:rPr>
              <a:t>REMARK 350 BIOMOLECULE: 1</a:t>
            </a:r>
            <a:endParaRPr lang="ru-RU" sz="1400" spc="-1" dirty="0">
              <a:solidFill>
                <a:srgbClr val="FFFFFF"/>
              </a:solidFill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</a:pPr>
            <a:r>
              <a:rPr lang="ru-RU" sz="1400" spc="-1" dirty="0">
                <a:solidFill>
                  <a:srgbClr val="000000"/>
                </a:solidFill>
                <a:latin typeface="Consolas" panose="020B0609020204030204" pitchFamily="49" charset="0"/>
              </a:rPr>
              <a:t>REMARK 350 APPLY THE FOLLOWING TO CHAINS: A, B, C</a:t>
            </a:r>
            <a:endParaRPr lang="ru-RU" sz="1400" spc="-1" dirty="0">
              <a:solidFill>
                <a:srgbClr val="FFFFFF"/>
              </a:solidFill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</a:pPr>
            <a:r>
              <a:rPr lang="ru-RU" sz="1400" spc="-1" dirty="0">
                <a:solidFill>
                  <a:srgbClr val="000000"/>
                </a:solidFill>
                <a:latin typeface="Consolas" panose="020B0609020204030204" pitchFamily="49" charset="0"/>
              </a:rPr>
              <a:t>REMARK 350   BIOMT1   1  1.000000  0.000000  0.000000        0.00000</a:t>
            </a:r>
            <a:endParaRPr lang="ru-RU" sz="1400" spc="-1" dirty="0">
              <a:solidFill>
                <a:srgbClr val="FFFFFF"/>
              </a:solidFill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</a:pPr>
            <a:r>
              <a:rPr lang="ru-RU" sz="1400" spc="-1" dirty="0">
                <a:solidFill>
                  <a:srgbClr val="000000"/>
                </a:solidFill>
                <a:latin typeface="Consolas" panose="020B0609020204030204" pitchFamily="49" charset="0"/>
              </a:rPr>
              <a:t>REMARK 350   BIOMT2   1  0.000000  1.000000  0.000000        0.00000</a:t>
            </a:r>
            <a:endParaRPr lang="ru-RU" sz="1400" spc="-1" dirty="0">
              <a:solidFill>
                <a:srgbClr val="FFFFFF"/>
              </a:solidFill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</a:pPr>
            <a:r>
              <a:rPr lang="ru-RU" sz="1400" spc="-1" dirty="0">
                <a:solidFill>
                  <a:srgbClr val="000000"/>
                </a:solidFill>
                <a:latin typeface="Consolas" panose="020B0609020204030204" pitchFamily="49" charset="0"/>
              </a:rPr>
              <a:t>...</a:t>
            </a:r>
            <a:endParaRPr lang="ru-RU" sz="1400" spc="-1" dirty="0">
              <a:solidFill>
                <a:srgbClr val="FFFFFF"/>
              </a:solidFill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</a:pPr>
            <a:r>
              <a:rPr lang="ru-RU" sz="1400" spc="-1" dirty="0">
                <a:solidFill>
                  <a:srgbClr val="000000"/>
                </a:solidFill>
                <a:latin typeface="Consolas" panose="020B0609020204030204" pitchFamily="49" charset="0"/>
              </a:rPr>
              <a:t>SEQRES   1 A    9  PRO </a:t>
            </a:r>
            <a:r>
              <a:rPr lang="ru-RU" sz="1400" spc="-1" dirty="0" err="1">
                <a:solidFill>
                  <a:srgbClr val="000000"/>
                </a:solidFill>
                <a:latin typeface="Consolas" panose="020B0609020204030204" pitchFamily="49" charset="0"/>
              </a:rPr>
              <a:t>PRO</a:t>
            </a:r>
            <a:r>
              <a:rPr lang="ru-RU" sz="1400" spc="-1" dirty="0">
                <a:solidFill>
                  <a:srgbClr val="000000"/>
                </a:solidFill>
                <a:latin typeface="Consolas" panose="020B0609020204030204" pitchFamily="49" charset="0"/>
              </a:rPr>
              <a:t> GLY PRO </a:t>
            </a:r>
            <a:r>
              <a:rPr lang="ru-RU" sz="1400" spc="-1" dirty="0" err="1">
                <a:solidFill>
                  <a:srgbClr val="000000"/>
                </a:solidFill>
                <a:latin typeface="Consolas" panose="020B0609020204030204" pitchFamily="49" charset="0"/>
              </a:rPr>
              <a:t>PRO</a:t>
            </a:r>
            <a:r>
              <a:rPr lang="ru-RU" sz="1400" spc="-1" dirty="0">
                <a:solidFill>
                  <a:srgbClr val="000000"/>
                </a:solidFill>
                <a:latin typeface="Consolas" panose="020B0609020204030204" pitchFamily="49" charset="0"/>
              </a:rPr>
              <a:t> GLY PRO </a:t>
            </a:r>
            <a:r>
              <a:rPr lang="ru-RU" sz="1400" spc="-1" dirty="0" err="1">
                <a:solidFill>
                  <a:srgbClr val="000000"/>
                </a:solidFill>
                <a:latin typeface="Consolas" panose="020B0609020204030204" pitchFamily="49" charset="0"/>
              </a:rPr>
              <a:t>PRO</a:t>
            </a:r>
            <a:r>
              <a:rPr lang="ru-RU" sz="1400" spc="-1" dirty="0">
                <a:solidFill>
                  <a:srgbClr val="000000"/>
                </a:solidFill>
                <a:latin typeface="Consolas" panose="020B0609020204030204" pitchFamily="49" charset="0"/>
              </a:rPr>
              <a:t> GLY</a:t>
            </a:r>
            <a:endParaRPr lang="ru-RU" sz="1400" spc="-1" dirty="0">
              <a:solidFill>
                <a:srgbClr val="FFFFFF"/>
              </a:solidFill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</a:pPr>
            <a:r>
              <a:rPr lang="ru-RU" sz="1400" spc="-1" dirty="0">
                <a:solidFill>
                  <a:srgbClr val="000000"/>
                </a:solidFill>
                <a:latin typeface="Consolas" panose="020B0609020204030204" pitchFamily="49" charset="0"/>
              </a:rPr>
              <a:t>SEQRES   1 B    6  PRO </a:t>
            </a:r>
            <a:r>
              <a:rPr lang="ru-RU" sz="1400" spc="-1" dirty="0" err="1">
                <a:solidFill>
                  <a:srgbClr val="000000"/>
                </a:solidFill>
                <a:latin typeface="Consolas" panose="020B0609020204030204" pitchFamily="49" charset="0"/>
              </a:rPr>
              <a:t>PRO</a:t>
            </a:r>
            <a:r>
              <a:rPr lang="ru-RU" sz="1400" spc="-1" dirty="0">
                <a:solidFill>
                  <a:srgbClr val="000000"/>
                </a:solidFill>
                <a:latin typeface="Consolas" panose="020B0609020204030204" pitchFamily="49" charset="0"/>
              </a:rPr>
              <a:t> GLY PRO </a:t>
            </a:r>
            <a:r>
              <a:rPr lang="ru-RU" sz="1400" spc="-1" dirty="0" err="1">
                <a:solidFill>
                  <a:srgbClr val="000000"/>
                </a:solidFill>
                <a:latin typeface="Consolas" panose="020B0609020204030204" pitchFamily="49" charset="0"/>
              </a:rPr>
              <a:t>PRO</a:t>
            </a:r>
            <a:r>
              <a:rPr lang="ru-RU" sz="1400" spc="-1" dirty="0">
                <a:solidFill>
                  <a:srgbClr val="000000"/>
                </a:solidFill>
                <a:latin typeface="Consolas" panose="020B0609020204030204" pitchFamily="49" charset="0"/>
              </a:rPr>
              <a:t> GLY</a:t>
            </a:r>
            <a:endParaRPr lang="ru-RU" sz="1400" spc="-1" dirty="0">
              <a:solidFill>
                <a:srgbClr val="FFFFFF"/>
              </a:solidFill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</a:pPr>
            <a:r>
              <a:rPr lang="ru-RU" sz="1400" spc="-1" dirty="0">
                <a:solidFill>
                  <a:srgbClr val="000000"/>
                </a:solidFill>
                <a:latin typeface="Consolas" panose="020B0609020204030204" pitchFamily="49" charset="0"/>
              </a:rPr>
              <a:t>SEQRES   1 C    6  PRO </a:t>
            </a:r>
            <a:r>
              <a:rPr lang="ru-RU" sz="1400" spc="-1" dirty="0" err="1">
                <a:solidFill>
                  <a:srgbClr val="000000"/>
                </a:solidFill>
                <a:latin typeface="Consolas" panose="020B0609020204030204" pitchFamily="49" charset="0"/>
              </a:rPr>
              <a:t>PRO</a:t>
            </a:r>
            <a:r>
              <a:rPr lang="ru-RU" sz="1400" spc="-1" dirty="0">
                <a:solidFill>
                  <a:srgbClr val="000000"/>
                </a:solidFill>
                <a:latin typeface="Consolas" panose="020B0609020204030204" pitchFamily="49" charset="0"/>
              </a:rPr>
              <a:t> GLY PRO </a:t>
            </a:r>
            <a:r>
              <a:rPr lang="ru-RU" sz="1400" spc="-1" dirty="0" err="1">
                <a:solidFill>
                  <a:srgbClr val="000000"/>
                </a:solidFill>
                <a:latin typeface="Consolas" panose="020B0609020204030204" pitchFamily="49" charset="0"/>
              </a:rPr>
              <a:t>PRO</a:t>
            </a:r>
            <a:r>
              <a:rPr lang="ru-RU" sz="1400" spc="-1" dirty="0">
                <a:solidFill>
                  <a:srgbClr val="000000"/>
                </a:solidFill>
                <a:latin typeface="Consolas" panose="020B0609020204030204" pitchFamily="49" charset="0"/>
              </a:rPr>
              <a:t> GLY</a:t>
            </a:r>
            <a:endParaRPr lang="ru-RU" sz="1400" spc="-1" dirty="0">
              <a:solidFill>
                <a:srgbClr val="FFFFFF"/>
              </a:solidFill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</a:pPr>
            <a:r>
              <a:rPr lang="ru-RU" sz="1400" spc="-1" dirty="0">
                <a:solidFill>
                  <a:srgbClr val="000000"/>
                </a:solidFill>
                <a:latin typeface="Consolas" panose="020B0609020204030204" pitchFamily="49" charset="0"/>
              </a:rPr>
              <a:t>...</a:t>
            </a:r>
            <a:endParaRPr lang="ru-RU" sz="1400" spc="-1" dirty="0">
              <a:solidFill>
                <a:srgbClr val="FFFFFF"/>
              </a:solidFill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</a:pPr>
            <a:r>
              <a:rPr lang="ru-RU" sz="1400" spc="-1" dirty="0">
                <a:solidFill>
                  <a:srgbClr val="000000"/>
                </a:solidFill>
                <a:latin typeface="Consolas" panose="020B0609020204030204" pitchFamily="49" charset="0"/>
              </a:rPr>
              <a:t>ATOM      1  N   PRO A   1       8.316  21.206  21.530  1.00 17.44           N</a:t>
            </a:r>
            <a:endParaRPr lang="ru-RU" sz="1400" spc="-1" dirty="0">
              <a:solidFill>
                <a:srgbClr val="FFFFFF"/>
              </a:solidFill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</a:pPr>
            <a:r>
              <a:rPr lang="ru-RU" sz="1400" spc="-1" dirty="0">
                <a:solidFill>
                  <a:srgbClr val="000000"/>
                </a:solidFill>
                <a:latin typeface="Consolas" panose="020B0609020204030204" pitchFamily="49" charset="0"/>
              </a:rPr>
              <a:t>ATOM      2  CA  PRO A   1       7.608  20.729  20.336  1.00 17.44           C</a:t>
            </a:r>
            <a:endParaRPr lang="ru-RU" sz="1400" spc="-1" dirty="0">
              <a:solidFill>
                <a:srgbClr val="FFFFFF"/>
              </a:solidFill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</a:pPr>
            <a:r>
              <a:rPr lang="ru-RU" sz="1400" spc="-1" dirty="0">
                <a:solidFill>
                  <a:srgbClr val="000000"/>
                </a:solidFill>
                <a:latin typeface="Consolas" panose="020B0609020204030204" pitchFamily="49" charset="0"/>
              </a:rPr>
              <a:t>ATOM      3  C   PRO A   1       8.487  20.707  19.092  1.00 17.44           C</a:t>
            </a:r>
            <a:endParaRPr lang="ru-RU" sz="1400" spc="-1" dirty="0">
              <a:solidFill>
                <a:srgbClr val="FFFFFF"/>
              </a:solidFill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</a:pPr>
            <a:r>
              <a:rPr lang="ru-RU" sz="1400" spc="-1" dirty="0">
                <a:solidFill>
                  <a:srgbClr val="000000"/>
                </a:solidFill>
                <a:latin typeface="Consolas" panose="020B0609020204030204" pitchFamily="49" charset="0"/>
              </a:rPr>
              <a:t>ATOM      4  O   PRO A   1       9.466  21.457  19.005  1.00 17.44           O</a:t>
            </a:r>
            <a:endParaRPr lang="ru-RU" sz="1400" spc="-1" dirty="0">
              <a:solidFill>
                <a:srgbClr val="FFFFFF"/>
              </a:solidFill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</a:pPr>
            <a:r>
              <a:rPr lang="ru-RU" sz="1400" spc="-1" dirty="0">
                <a:solidFill>
                  <a:srgbClr val="000000"/>
                </a:solidFill>
                <a:latin typeface="Consolas" panose="020B0609020204030204" pitchFamily="49" charset="0"/>
              </a:rPr>
              <a:t>ATOM      5  CB  PRO A   1       6.460  21.723  20.211  1.00 22.26           C</a:t>
            </a:r>
            <a:endParaRPr lang="ru-RU" sz="1400" spc="-1" dirty="0">
              <a:solidFill>
                <a:srgbClr val="FFFFFF"/>
              </a:solidFill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</a:pPr>
            <a:r>
              <a:rPr lang="ru-RU" sz="1400" spc="-1" dirty="0">
                <a:solidFill>
                  <a:srgbClr val="000000"/>
                </a:solidFill>
                <a:latin typeface="Consolas" panose="020B0609020204030204" pitchFamily="49" charset="0"/>
              </a:rPr>
              <a:t>...</a:t>
            </a:r>
            <a:endParaRPr lang="ru-RU" sz="1400" spc="-1" dirty="0">
              <a:solidFill>
                <a:srgbClr val="FFFFFF"/>
              </a:solidFill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</a:pPr>
            <a:r>
              <a:rPr lang="ru-RU" sz="1400" spc="-1" dirty="0">
                <a:solidFill>
                  <a:srgbClr val="000000"/>
                </a:solidFill>
                <a:latin typeface="Consolas" panose="020B0609020204030204" pitchFamily="49" charset="0"/>
              </a:rPr>
              <a:t>HETATM  130  C   ACY   401       3.682  22.541  11.236  1.00 21.19           C</a:t>
            </a:r>
            <a:endParaRPr lang="ru-RU" sz="1400" spc="-1" dirty="0">
              <a:solidFill>
                <a:srgbClr val="FFFFFF"/>
              </a:solidFill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</a:pPr>
            <a:r>
              <a:rPr lang="ru-RU" sz="1400" spc="-1" dirty="0">
                <a:solidFill>
                  <a:srgbClr val="000000"/>
                </a:solidFill>
                <a:latin typeface="Consolas" panose="020B0609020204030204" pitchFamily="49" charset="0"/>
              </a:rPr>
              <a:t>HETATM  131  O   ACY   401       2.807  23.097  10.553  1.00 21.19           O</a:t>
            </a:r>
            <a:endParaRPr lang="ru-RU" sz="1400" spc="-1" dirty="0">
              <a:solidFill>
                <a:srgbClr val="FFFFFF"/>
              </a:solidFill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</a:pPr>
            <a:r>
              <a:rPr lang="ru-RU" sz="1400" spc="-1" dirty="0">
                <a:solidFill>
                  <a:srgbClr val="000000"/>
                </a:solidFill>
                <a:latin typeface="Consolas" panose="020B0609020204030204" pitchFamily="49" charset="0"/>
              </a:rPr>
              <a:t>HETATM  132  OXT ACY   401       4.306  23.101  12.291  1.00 21.19           O</a:t>
            </a:r>
            <a:endParaRPr lang="ru-RU" sz="1400" spc="-1" dirty="0">
              <a:solidFill>
                <a:srgbClr val="FFFFFF"/>
              </a:solidFill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</a:pPr>
            <a:r>
              <a:rPr lang="ru-RU" sz="1400" spc="-1" dirty="0">
                <a:solidFill>
                  <a:srgbClr val="000000"/>
                </a:solidFill>
                <a:latin typeface="Consolas" panose="020B0609020204030204" pitchFamily="49" charset="0"/>
              </a:rPr>
              <a:t>...</a:t>
            </a:r>
            <a:endParaRPr lang="ru-RU" sz="1400" spc="-1" dirty="0">
              <a:solidFill>
                <a:srgbClr val="FFFFFF"/>
              </a:solidFill>
              <a:latin typeface="Consolas" panose="020B06090202040302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89AA8D3-B047-AD1E-A182-9840EA83D34C}"/>
              </a:ext>
            </a:extLst>
          </p:cNvPr>
          <p:cNvSpPr txBox="1"/>
          <p:nvPr/>
        </p:nvSpPr>
        <p:spPr>
          <a:xfrm>
            <a:off x="9408368" y="0"/>
            <a:ext cx="2700997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sz="1600" b="1" i="1" dirty="0">
                <a:solidFill>
                  <a:srgbClr val="FFFF00"/>
                </a:solidFill>
                <a:latin typeface="+mj-lt"/>
              </a:rPr>
              <a:t>V. 3D-</a:t>
            </a:r>
            <a:r>
              <a:rPr lang="ru-RU" sz="1600" b="1" i="1" dirty="0">
                <a:solidFill>
                  <a:srgbClr val="FFFF00"/>
                </a:solidFill>
                <a:latin typeface="+mj-lt"/>
              </a:rPr>
              <a:t>структуры белков</a:t>
            </a:r>
          </a:p>
        </p:txBody>
      </p:sp>
    </p:spTree>
    <p:extLst>
      <p:ext uri="{BB962C8B-B14F-4D97-AF65-F5344CB8AC3E}">
        <p14:creationId xmlns:p14="http://schemas.microsoft.com/office/powerpoint/2010/main" val="4536100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Box 16"/>
          <p:cNvSpPr txBox="1">
            <a:spLocks noChangeArrowheads="1"/>
          </p:cNvSpPr>
          <p:nvPr/>
        </p:nvSpPr>
        <p:spPr bwMode="auto">
          <a:xfrm>
            <a:off x="1992313" y="287338"/>
            <a:ext cx="7777162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 i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i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ru-RU" sz="3000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+mn-cs"/>
              </a:rPr>
              <a:t>Формат файла </a:t>
            </a:r>
            <a:r>
              <a:rPr lang="en-US" sz="3000" dirty="0" err="1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+mn-cs"/>
              </a:rPr>
              <a:t>pdb</a:t>
            </a:r>
            <a:r>
              <a:rPr lang="ru-RU" sz="3000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+mn-cs"/>
              </a:rPr>
              <a:t>: секция </a:t>
            </a:r>
            <a:r>
              <a:rPr lang="en-US" sz="3000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+mn-cs"/>
              </a:rPr>
              <a:t>ATOM</a:t>
            </a:r>
            <a:endParaRPr lang="ru-RU" sz="3000" dirty="0">
              <a:solidFill>
                <a:schemeClr val="accent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cs typeface="+mn-cs"/>
            </a:endParaRPr>
          </a:p>
        </p:txBody>
      </p:sp>
      <p:sp>
        <p:nvSpPr>
          <p:cNvPr id="23" name="CustomShape 2"/>
          <p:cNvSpPr/>
          <p:nvPr/>
        </p:nvSpPr>
        <p:spPr>
          <a:xfrm>
            <a:off x="1740000" y="1548360"/>
            <a:ext cx="8792280" cy="52052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ru-RU" sz="1400" spc="-1" dirty="0">
                <a:solidFill>
                  <a:srgbClr val="000000"/>
                </a:solidFill>
                <a:latin typeface="Consolas" panose="020B0609020204030204" pitchFamily="49" charset="0"/>
              </a:rPr>
              <a:t>ATOM      1  N   ALA A   1       1.329   0.000   0.000  1.00  0.00           N  </a:t>
            </a:r>
            <a:br>
              <a:rPr sz="1400" dirty="0">
                <a:latin typeface="Consolas" panose="020B0609020204030204" pitchFamily="49" charset="0"/>
              </a:rPr>
            </a:br>
            <a:r>
              <a:rPr lang="ru-RU" sz="1400" spc="-1" dirty="0">
                <a:solidFill>
                  <a:srgbClr val="000000"/>
                </a:solidFill>
                <a:latin typeface="Consolas" panose="020B0609020204030204" pitchFamily="49" charset="0"/>
              </a:rPr>
              <a:t>ATOM      2  CA  ALA A   1       2.093  -0.001  -1.241  1.00 71.14           C  </a:t>
            </a:r>
            <a:br>
              <a:rPr sz="1400" dirty="0">
                <a:latin typeface="Consolas" panose="020B0609020204030204" pitchFamily="49" charset="0"/>
              </a:rPr>
            </a:br>
            <a:r>
              <a:rPr lang="ru-RU" sz="1400" spc="-1" dirty="0">
                <a:solidFill>
                  <a:srgbClr val="000000"/>
                </a:solidFill>
                <a:latin typeface="Consolas" panose="020B0609020204030204" pitchFamily="49" charset="0"/>
              </a:rPr>
              <a:t>ATOM      3  C   ALA A   1       2.542   1.409  -1.611  1.00 74.41           C  </a:t>
            </a:r>
            <a:br>
              <a:rPr sz="1400" dirty="0">
                <a:latin typeface="Consolas" panose="020B0609020204030204" pitchFamily="49" charset="0"/>
              </a:rPr>
            </a:br>
            <a:r>
              <a:rPr lang="ru-RU" sz="1400" spc="-1" dirty="0">
                <a:solidFill>
                  <a:srgbClr val="000000"/>
                </a:solidFill>
                <a:latin typeface="Consolas" panose="020B0609020204030204" pitchFamily="49" charset="0"/>
              </a:rPr>
              <a:t>ATOM      4  O   ALA A   1       2.089   2.390  -1.021  1.00  2.11           O  </a:t>
            </a:r>
            <a:br>
              <a:rPr sz="1400" dirty="0">
                <a:latin typeface="Consolas" panose="020B0609020204030204" pitchFamily="49" charset="0"/>
              </a:rPr>
            </a:br>
            <a:r>
              <a:rPr lang="ru-RU" sz="1400" spc="-1" dirty="0">
                <a:solidFill>
                  <a:srgbClr val="000000"/>
                </a:solidFill>
                <a:latin typeface="Consolas" panose="020B0609020204030204" pitchFamily="49" charset="0"/>
              </a:rPr>
              <a:t>ATOM      5  CB  ALA A   1       1.269  -0.607  -2.368  1.00 32.23           C  </a:t>
            </a:r>
            <a:br>
              <a:rPr sz="1400" dirty="0">
                <a:latin typeface="Consolas" panose="020B0609020204030204" pitchFamily="49" charset="0"/>
              </a:rPr>
            </a:br>
            <a:r>
              <a:rPr lang="ru-RU" sz="1400" spc="-1" dirty="0">
                <a:solidFill>
                  <a:srgbClr val="000000"/>
                </a:solidFill>
                <a:latin typeface="Consolas" panose="020B0609020204030204" pitchFamily="49" charset="0"/>
              </a:rPr>
              <a:t>ATOM      6  H1  ALA A   1       1.807  -0.001   0.855  1.00 11.33           H  </a:t>
            </a:r>
            <a:br>
              <a:rPr sz="1400" dirty="0">
                <a:latin typeface="Consolas" panose="020B0609020204030204" pitchFamily="49" charset="0"/>
              </a:rPr>
            </a:br>
            <a:r>
              <a:rPr lang="ru-RU" sz="1400" spc="-1" dirty="0">
                <a:solidFill>
                  <a:srgbClr val="000000"/>
                </a:solidFill>
                <a:latin typeface="Consolas" panose="020B0609020204030204" pitchFamily="49" charset="0"/>
              </a:rPr>
              <a:t>ATOM      7  HA  ALA A   1       2.967  -0.619  -1.095  1.00 31.51           H  </a:t>
            </a:r>
            <a:br>
              <a:rPr sz="1400" dirty="0">
                <a:latin typeface="Consolas" panose="020B0609020204030204" pitchFamily="49" charset="0"/>
              </a:rPr>
            </a:br>
            <a:r>
              <a:rPr lang="ru-RU" sz="1400" spc="-1" dirty="0">
                <a:solidFill>
                  <a:srgbClr val="000000"/>
                </a:solidFill>
                <a:latin typeface="Consolas" panose="020B0609020204030204" pitchFamily="49" charset="0"/>
              </a:rPr>
              <a:t>ATOM      8  HB1 ALA A   1       0.317  -0.939  -1.978  1.00 23.01           H  </a:t>
            </a:r>
            <a:br>
              <a:rPr sz="1400" dirty="0">
                <a:latin typeface="Consolas" panose="020B0609020204030204" pitchFamily="49" charset="0"/>
              </a:rPr>
            </a:br>
            <a:r>
              <a:rPr lang="ru-RU" sz="1400" spc="-1" dirty="0">
                <a:solidFill>
                  <a:srgbClr val="000000"/>
                </a:solidFill>
                <a:latin typeface="Consolas" panose="020B0609020204030204" pitchFamily="49" charset="0"/>
              </a:rPr>
              <a:t>ATOM      9  HB2 ALA A   1       1.105   0.136  -3.134  1.00 21.12           H  </a:t>
            </a:r>
            <a:br>
              <a:rPr sz="1400" dirty="0">
                <a:latin typeface="Consolas" panose="020B0609020204030204" pitchFamily="49" charset="0"/>
              </a:rPr>
            </a:br>
            <a:r>
              <a:rPr lang="ru-RU" sz="1400" spc="-1" dirty="0">
                <a:solidFill>
                  <a:srgbClr val="000000"/>
                </a:solidFill>
                <a:latin typeface="Consolas" panose="020B0609020204030204" pitchFamily="49" charset="0"/>
              </a:rPr>
              <a:t>ATOM     10  HB3 ALA A   1       1.799  -1.448  -2.789  1.00 33.44           H  </a:t>
            </a:r>
            <a:br>
              <a:rPr sz="1400" dirty="0">
                <a:latin typeface="Consolas" panose="020B0609020204030204" pitchFamily="49" charset="0"/>
              </a:rPr>
            </a:br>
            <a:r>
              <a:rPr lang="ru-RU" sz="1400" spc="-1" dirty="0">
                <a:solidFill>
                  <a:srgbClr val="000000"/>
                </a:solidFill>
                <a:latin typeface="Consolas" panose="020B0609020204030204" pitchFamily="49" charset="0"/>
              </a:rPr>
              <a:t>ATOM     11  N   CYS A   2       3.434   1.502  -2.591  1.00  3.51           N  </a:t>
            </a:r>
            <a:br>
              <a:rPr sz="1400" dirty="0">
                <a:latin typeface="Consolas" panose="020B0609020204030204" pitchFamily="49" charset="0"/>
              </a:rPr>
            </a:br>
            <a:r>
              <a:rPr lang="ru-RU" sz="1400" spc="-1" dirty="0">
                <a:solidFill>
                  <a:srgbClr val="000000"/>
                </a:solidFill>
                <a:latin typeface="Consolas" panose="020B0609020204030204" pitchFamily="49" charset="0"/>
              </a:rPr>
              <a:t>ATOM     12  CA  CYS A   2       3.946   2.792  -3.039  1.00 72.01           C  </a:t>
            </a:r>
            <a:br>
              <a:rPr sz="1400" dirty="0">
                <a:latin typeface="Consolas" panose="020B0609020204030204" pitchFamily="49" charset="0"/>
              </a:rPr>
            </a:br>
            <a:r>
              <a:rPr lang="ru-RU" sz="1400" spc="-1" dirty="0">
                <a:solidFill>
                  <a:srgbClr val="000000"/>
                </a:solidFill>
                <a:latin typeface="Consolas" panose="020B0609020204030204" pitchFamily="49" charset="0"/>
              </a:rPr>
              <a:t>ATOM     13  C   CYS A   2       3.460   3.109  -4.450  1.00 52.24           C  </a:t>
            </a:r>
            <a:br>
              <a:rPr sz="1400" dirty="0">
                <a:latin typeface="Consolas" panose="020B0609020204030204" pitchFamily="49" charset="0"/>
              </a:rPr>
            </a:br>
            <a:r>
              <a:rPr lang="ru-RU" sz="1400" spc="-1" dirty="0">
                <a:solidFill>
                  <a:srgbClr val="000000"/>
                </a:solidFill>
                <a:latin typeface="Consolas" panose="020B0609020204030204" pitchFamily="49" charset="0"/>
              </a:rPr>
              <a:t>ATOM     14  O   CYS A   2       3.184   2.207  -5.241  1.00 73.02           O  </a:t>
            </a:r>
            <a:br>
              <a:rPr sz="1400" dirty="0">
                <a:latin typeface="Consolas" panose="020B0609020204030204" pitchFamily="49" charset="0"/>
              </a:rPr>
            </a:br>
            <a:r>
              <a:rPr lang="ru-RU" sz="1400" spc="-1" dirty="0">
                <a:solidFill>
                  <a:srgbClr val="000000"/>
                </a:solidFill>
                <a:latin typeface="Consolas" panose="020B0609020204030204" pitchFamily="49" charset="0"/>
              </a:rPr>
              <a:t>ATOM     15  CB  CYS A   2       5.475   2.799  -3.001  1.00 63.31           C  </a:t>
            </a:r>
            <a:br>
              <a:rPr sz="1400" dirty="0">
                <a:latin typeface="Consolas" panose="020B0609020204030204" pitchFamily="49" charset="0"/>
              </a:rPr>
            </a:br>
            <a:r>
              <a:rPr lang="ru-RU" sz="1400" spc="-1" dirty="0">
                <a:solidFill>
                  <a:srgbClr val="000000"/>
                </a:solidFill>
                <a:latin typeface="Consolas" panose="020B0609020204030204" pitchFamily="49" charset="0"/>
              </a:rPr>
              <a:t>ATOM     16  SG  CYS A   2       6.182   2.219  -1.426  1.00 24.53           S  </a:t>
            </a:r>
            <a:br>
              <a:rPr sz="1400" dirty="0">
                <a:latin typeface="Consolas" panose="020B0609020204030204" pitchFamily="49" charset="0"/>
              </a:rPr>
            </a:br>
            <a:r>
              <a:rPr lang="ru-RU" sz="1400" spc="-1" dirty="0">
                <a:solidFill>
                  <a:srgbClr val="000000"/>
                </a:solidFill>
                <a:latin typeface="Consolas" panose="020B0609020204030204" pitchFamily="49" charset="0"/>
              </a:rPr>
              <a:t>ATOM     17  H   CYS A   2       3.758   0.684  -3.024  1.00 32.34           H  </a:t>
            </a:r>
            <a:br>
              <a:rPr sz="1400" dirty="0">
                <a:latin typeface="Consolas" panose="020B0609020204030204" pitchFamily="49" charset="0"/>
              </a:rPr>
            </a:br>
            <a:r>
              <a:rPr lang="ru-RU" sz="1400" spc="-1" dirty="0">
                <a:solidFill>
                  <a:srgbClr val="000000"/>
                </a:solidFill>
                <a:latin typeface="Consolas" panose="020B0609020204030204" pitchFamily="49" charset="0"/>
              </a:rPr>
              <a:t>ATOM     18  HA  CYS A   2       3.574   3.549  -2.365  1.00 64.12           H  </a:t>
            </a:r>
            <a:br>
              <a:rPr sz="1400" dirty="0">
                <a:latin typeface="Consolas" panose="020B0609020204030204" pitchFamily="49" charset="0"/>
              </a:rPr>
            </a:br>
            <a:r>
              <a:rPr lang="ru-RU" sz="1400" spc="-1" dirty="0">
                <a:solidFill>
                  <a:srgbClr val="000000"/>
                </a:solidFill>
                <a:latin typeface="Consolas" panose="020B0609020204030204" pitchFamily="49" charset="0"/>
              </a:rPr>
              <a:t>ATOM     19  HB2 CYS A   2       5.850   2.156  -3.785  1.00 10.23           H  </a:t>
            </a:r>
            <a:br>
              <a:rPr sz="1400" dirty="0">
                <a:latin typeface="Consolas" panose="020B0609020204030204" pitchFamily="49" charset="0"/>
              </a:rPr>
            </a:br>
            <a:r>
              <a:rPr lang="ru-RU" sz="1400" spc="-1" dirty="0">
                <a:solidFill>
                  <a:srgbClr val="000000"/>
                </a:solidFill>
                <a:latin typeface="Consolas" panose="020B0609020204030204" pitchFamily="49" charset="0"/>
              </a:rPr>
              <a:t>ATOM     20  HB3 CYS A   2       5.828   3.806  -3.169  1.00 74.42           H  </a:t>
            </a:r>
            <a:br>
              <a:rPr sz="1400" dirty="0">
                <a:latin typeface="Consolas" panose="020B0609020204030204" pitchFamily="49" charset="0"/>
              </a:rPr>
            </a:br>
            <a:r>
              <a:rPr lang="ru-RU" sz="1400" spc="-1" dirty="0">
                <a:solidFill>
                  <a:srgbClr val="000000"/>
                </a:solidFill>
                <a:latin typeface="Consolas" panose="020B0609020204030204" pitchFamily="49" charset="0"/>
              </a:rPr>
              <a:t>ATOM     21  N   VAL A   3       3.358   4.398  -4.759  1.00 52.05           N  </a:t>
            </a:r>
            <a:br>
              <a:rPr sz="1400" dirty="0">
                <a:latin typeface="Consolas" panose="020B0609020204030204" pitchFamily="49" charset="0"/>
              </a:rPr>
            </a:br>
            <a:r>
              <a:rPr lang="ru-RU" sz="1400" spc="-1" dirty="0">
                <a:solidFill>
                  <a:srgbClr val="000000"/>
                </a:solidFill>
                <a:latin typeface="Consolas" panose="020B0609020204030204" pitchFamily="49" charset="0"/>
              </a:rPr>
              <a:t>ATOM     22  CA  VAL A   3       2.907   4.835  -6.075  1.00 53.32           C  </a:t>
            </a:r>
            <a:br>
              <a:rPr sz="1400" dirty="0">
                <a:latin typeface="Consolas" panose="020B0609020204030204" pitchFamily="49" charset="0"/>
              </a:rPr>
            </a:br>
            <a:r>
              <a:rPr lang="ru-RU" sz="1400" spc="-1" dirty="0">
                <a:solidFill>
                  <a:srgbClr val="000000"/>
                </a:solidFill>
                <a:latin typeface="Consolas" panose="020B0609020204030204" pitchFamily="49" charset="0"/>
              </a:rPr>
              <a:t>ATOM     23  C   VAL A   3       3.990   5.635  -6.790  1.00 64.51           C</a:t>
            </a:r>
            <a:endParaRPr lang="ru-RU" sz="1400" spc="-1" dirty="0">
              <a:solidFill>
                <a:srgbClr val="FFFFFF"/>
              </a:solidFill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</a:pPr>
            <a:r>
              <a:rPr lang="ru-RU" sz="1400" spc="-1" dirty="0">
                <a:solidFill>
                  <a:srgbClr val="000000"/>
                </a:solidFill>
                <a:latin typeface="Consolas" panose="020B0609020204030204" pitchFamily="49" charset="0"/>
              </a:rPr>
              <a:t>END</a:t>
            </a:r>
            <a:endParaRPr lang="ru-RU" sz="1400" spc="-1" dirty="0">
              <a:solidFill>
                <a:srgbClr val="FFFFFF"/>
              </a:solidFill>
              <a:latin typeface="Consolas" panose="020B06090202040302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0B85C01-E1F7-31FE-B586-8D84F5900207}"/>
              </a:ext>
            </a:extLst>
          </p:cNvPr>
          <p:cNvSpPr txBox="1"/>
          <p:nvPr/>
        </p:nvSpPr>
        <p:spPr>
          <a:xfrm>
            <a:off x="9408368" y="0"/>
            <a:ext cx="2700997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sz="1600" b="1" i="1" dirty="0">
                <a:solidFill>
                  <a:srgbClr val="FFFF00"/>
                </a:solidFill>
                <a:latin typeface="+mj-lt"/>
              </a:rPr>
              <a:t>V. 3D-</a:t>
            </a:r>
            <a:r>
              <a:rPr lang="ru-RU" sz="1600" b="1" i="1" dirty="0">
                <a:solidFill>
                  <a:srgbClr val="FFFF00"/>
                </a:solidFill>
                <a:latin typeface="+mj-lt"/>
              </a:rPr>
              <a:t>структуры белков</a:t>
            </a:r>
          </a:p>
        </p:txBody>
      </p:sp>
    </p:spTree>
    <p:extLst>
      <p:ext uri="{BB962C8B-B14F-4D97-AF65-F5344CB8AC3E}">
        <p14:creationId xmlns:p14="http://schemas.microsoft.com/office/powerpoint/2010/main" val="11194397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Box 16"/>
          <p:cNvSpPr txBox="1">
            <a:spLocks noChangeArrowheads="1"/>
          </p:cNvSpPr>
          <p:nvPr/>
        </p:nvSpPr>
        <p:spPr bwMode="auto">
          <a:xfrm>
            <a:off x="1992313" y="287338"/>
            <a:ext cx="7777162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 i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i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ru-RU" sz="3000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+mn-cs"/>
              </a:rPr>
              <a:t>Выравнивание последовательностей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50747" y="0"/>
            <a:ext cx="4341253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sz="1600" b="1" i="1" dirty="0">
                <a:solidFill>
                  <a:srgbClr val="FFFF00"/>
                </a:solidFill>
                <a:latin typeface="+mj-lt"/>
              </a:rPr>
              <a:t>VI. </a:t>
            </a:r>
            <a:r>
              <a:rPr lang="ru-RU" sz="1600" b="1" i="1" dirty="0">
                <a:solidFill>
                  <a:srgbClr val="FFFF00"/>
                </a:solidFill>
                <a:latin typeface="+mj-lt"/>
              </a:rPr>
              <a:t>Выравнивание последовательностей</a:t>
            </a:r>
          </a:p>
        </p:txBody>
      </p:sp>
      <p:sp>
        <p:nvSpPr>
          <p:cNvPr id="12" name="Rectangle 3"/>
          <p:cNvSpPr txBox="1">
            <a:spLocks noChangeArrowheads="1"/>
          </p:cNvSpPr>
          <p:nvPr/>
        </p:nvSpPr>
        <p:spPr>
          <a:xfrm>
            <a:off x="623392" y="1052736"/>
            <a:ext cx="9937104" cy="187325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1" hangingPunct="1">
              <a:lnSpc>
                <a:spcPct val="90000"/>
              </a:lnSpc>
              <a:buNone/>
            </a:pPr>
            <a:r>
              <a:rPr lang="ru-RU" sz="2400" dirty="0"/>
              <a:t>Выравнивание – это определение соответствия между аминокислотными остатками (для белков) или нуклеотидами (для ДНК/РНК) в последовательностях</a:t>
            </a:r>
          </a:p>
          <a:p>
            <a:pPr eaLnBrk="1" hangingPunct="1">
              <a:lnSpc>
                <a:spcPct val="90000"/>
              </a:lnSpc>
            </a:pPr>
            <a:r>
              <a:rPr lang="ru-RU" sz="1600" dirty="0">
                <a:latin typeface="+mj-lt"/>
              </a:rPr>
              <a:t>Парное выравнивание: поиск сходных участков двух последовательностей</a:t>
            </a:r>
          </a:p>
          <a:p>
            <a:pPr eaLnBrk="1" hangingPunct="1">
              <a:lnSpc>
                <a:spcPct val="90000"/>
              </a:lnSpc>
            </a:pPr>
            <a:r>
              <a:rPr lang="ru-RU" sz="1600" dirty="0">
                <a:latin typeface="+mj-lt"/>
              </a:rPr>
              <a:t>Множественное выравнивание: поиск консервативных участков в наборе последовательностей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3392" y="2782669"/>
            <a:ext cx="15776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в</a:t>
            </a:r>
            <a:r>
              <a:rPr lang="ru-RU" b="1" dirty="0" err="1">
                <a:latin typeface="Consolas" panose="020B0609020204030204" pitchFamily="49" charset="0"/>
              </a:rPr>
              <a:t>О</a:t>
            </a:r>
            <a:r>
              <a:rPr lang="ru-RU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об</a:t>
            </a:r>
            <a:r>
              <a:rPr lang="ru-RU" b="1" dirty="0" err="1">
                <a:latin typeface="Consolas" panose="020B0609020204030204" pitchFamily="49" charset="0"/>
              </a:rPr>
              <a:t>Р</a:t>
            </a:r>
            <a:r>
              <a:rPr lang="ru-RU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ажение</a:t>
            </a:r>
            <a:br>
              <a:rPr lang="ru-RU" dirty="0">
                <a:latin typeface="Consolas" panose="020B0609020204030204" pitchFamily="49" charset="0"/>
              </a:rPr>
            </a:br>
            <a:r>
              <a:rPr lang="ru-RU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с</a:t>
            </a:r>
            <a:r>
              <a:rPr lang="ru-RU" b="1" dirty="0" err="1">
                <a:latin typeface="Consolas" panose="020B0609020204030204" pitchFamily="49" charset="0"/>
              </a:rPr>
              <a:t>О</a:t>
            </a:r>
            <a:r>
              <a:rPr lang="ru-RU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де</a:t>
            </a:r>
            <a:r>
              <a:rPr lang="ru-RU" b="1" dirty="0" err="1">
                <a:latin typeface="Consolas" panose="020B0609020204030204" pitchFamily="49" charset="0"/>
              </a:rPr>
              <a:t>Р</a:t>
            </a:r>
            <a:r>
              <a:rPr lang="ru-RU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жание</a:t>
            </a:r>
            <a:r>
              <a:rPr lang="ru-RU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-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22823" y="2782669"/>
            <a:ext cx="15776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во</a:t>
            </a:r>
            <a:r>
              <a:rPr lang="ru-RU" b="1" dirty="0" err="1">
                <a:latin typeface="Consolas" panose="020B0609020204030204" pitchFamily="49" charset="0"/>
              </a:rPr>
              <a:t>О</a:t>
            </a:r>
            <a:r>
              <a:rPr lang="ru-RU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бра</a:t>
            </a:r>
            <a:r>
              <a:rPr lang="ru-RU" b="1" dirty="0" err="1">
                <a:latin typeface="Consolas" panose="020B0609020204030204" pitchFamily="49" charset="0"/>
              </a:rPr>
              <a:t>Ж</a:t>
            </a:r>
            <a:r>
              <a:rPr lang="ru-RU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е</a:t>
            </a:r>
            <a:r>
              <a:rPr lang="ru-RU" b="1" dirty="0" err="1">
                <a:latin typeface="Consolas" panose="020B0609020204030204" pitchFamily="49" charset="0"/>
              </a:rPr>
              <a:t>НИЕ</a:t>
            </a:r>
            <a:br>
              <a:rPr lang="ru-RU" dirty="0">
                <a:latin typeface="Consolas" panose="020B0609020204030204" pitchFamily="49" charset="0"/>
              </a:rPr>
            </a:br>
            <a:r>
              <a:rPr lang="ru-RU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-</a:t>
            </a:r>
            <a:r>
              <a:rPr lang="ru-RU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с</a:t>
            </a:r>
            <a:r>
              <a:rPr lang="ru-RU" b="1" dirty="0" err="1">
                <a:latin typeface="Consolas" panose="020B0609020204030204" pitchFamily="49" charset="0"/>
              </a:rPr>
              <a:t>О</a:t>
            </a:r>
            <a:r>
              <a:rPr lang="ru-RU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дер</a:t>
            </a:r>
            <a:r>
              <a:rPr lang="ru-RU" b="1" dirty="0" err="1">
                <a:latin typeface="Consolas" panose="020B0609020204030204" pitchFamily="49" charset="0"/>
              </a:rPr>
              <a:t>Ж</a:t>
            </a:r>
            <a:r>
              <a:rPr lang="ru-RU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а</a:t>
            </a:r>
            <a:r>
              <a:rPr lang="ru-RU" b="1" dirty="0" err="1">
                <a:latin typeface="Consolas" panose="020B0609020204030204" pitchFamily="49" charset="0"/>
              </a:rPr>
              <a:t>НИЕ</a:t>
            </a:r>
            <a:endParaRPr lang="ru-RU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222254" y="2782669"/>
            <a:ext cx="15776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в</a:t>
            </a:r>
            <a:r>
              <a:rPr lang="ru-RU" b="1" dirty="0" err="1">
                <a:latin typeface="Consolas" panose="020B0609020204030204" pitchFamily="49" charset="0"/>
              </a:rPr>
              <a:t>О</a:t>
            </a:r>
            <a:r>
              <a:rPr lang="ru-RU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об</a:t>
            </a:r>
            <a:r>
              <a:rPr lang="ru-RU" b="1" dirty="0" err="1">
                <a:latin typeface="Consolas" panose="020B0609020204030204" pitchFamily="49" charset="0"/>
              </a:rPr>
              <a:t>Р</a:t>
            </a:r>
            <a:r>
              <a:rPr lang="ru-RU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а</a:t>
            </a:r>
            <a:r>
              <a:rPr lang="ru-RU" b="1" dirty="0" err="1">
                <a:latin typeface="Consolas" panose="020B0609020204030204" pitchFamily="49" charset="0"/>
              </a:rPr>
              <a:t>Ж</a:t>
            </a:r>
            <a:r>
              <a:rPr lang="ru-RU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е</a:t>
            </a:r>
            <a:r>
              <a:rPr lang="ru-RU" b="1" dirty="0" err="1">
                <a:latin typeface="Consolas" panose="020B0609020204030204" pitchFamily="49" charset="0"/>
              </a:rPr>
              <a:t>НИЕ</a:t>
            </a:r>
            <a:br>
              <a:rPr lang="ru-RU" dirty="0">
                <a:latin typeface="Consolas" panose="020B0609020204030204" pitchFamily="49" charset="0"/>
              </a:rPr>
            </a:br>
            <a:r>
              <a:rPr lang="ru-RU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с</a:t>
            </a:r>
            <a:r>
              <a:rPr lang="ru-RU" b="1" dirty="0" err="1">
                <a:latin typeface="Consolas" panose="020B0609020204030204" pitchFamily="49" charset="0"/>
              </a:rPr>
              <a:t>О</a:t>
            </a:r>
            <a:r>
              <a:rPr lang="ru-RU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де</a:t>
            </a:r>
            <a:r>
              <a:rPr lang="ru-RU" b="1" dirty="0" err="1">
                <a:latin typeface="Consolas" panose="020B0609020204030204" pitchFamily="49" charset="0"/>
              </a:rPr>
              <a:t>Р</a:t>
            </a:r>
            <a:r>
              <a:rPr lang="ru-RU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-</a:t>
            </a:r>
            <a:r>
              <a:rPr lang="ru-RU" b="1" dirty="0" err="1">
                <a:latin typeface="Consolas" panose="020B0609020204030204" pitchFamily="49" charset="0"/>
              </a:rPr>
              <a:t>Ж</a:t>
            </a:r>
            <a:r>
              <a:rPr lang="ru-RU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а</a:t>
            </a:r>
            <a:r>
              <a:rPr lang="ru-RU" b="1" dirty="0" err="1">
                <a:latin typeface="Consolas" panose="020B0609020204030204" pitchFamily="49" charset="0"/>
              </a:rPr>
              <a:t>НИЕ</a:t>
            </a:r>
            <a:endParaRPr lang="ru-RU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23392" y="3571974"/>
            <a:ext cx="15776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>
                <a:latin typeface="Consolas" panose="020B0609020204030204" pitchFamily="49" charset="0"/>
              </a:rPr>
              <a:t>GT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a</a:t>
            </a:r>
            <a:r>
              <a:rPr lang="en-US" b="1" dirty="0" err="1">
                <a:latin typeface="Consolas" panose="020B0609020204030204" pitchFamily="49" charset="0"/>
              </a:rPr>
              <a:t>TAGT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c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-</a:t>
            </a:r>
            <a:r>
              <a:rPr lang="en-US" b="1" dirty="0">
                <a:latin typeface="Consolas" panose="020B0609020204030204" pitchFamily="49" charset="0"/>
              </a:rPr>
              <a:t>T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a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b="1" dirty="0">
                <a:latin typeface="Consolas" panose="020B0609020204030204" pitchFamily="49" charset="0"/>
              </a:rPr>
              <a:t>GT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-</a:t>
            </a:r>
            <a:r>
              <a:rPr lang="en-US" b="1" dirty="0" err="1">
                <a:latin typeface="Consolas" panose="020B0609020204030204" pitchFamily="49" charset="0"/>
              </a:rPr>
              <a:t>TAGT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ag</a:t>
            </a:r>
            <a:r>
              <a:rPr lang="en-US" b="1" dirty="0" err="1">
                <a:latin typeface="Consolas" panose="020B0609020204030204" pitchFamily="49" charset="0"/>
              </a:rPr>
              <a:t>T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c</a:t>
            </a:r>
            <a:endParaRPr lang="ru-RU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422824" y="3571974"/>
            <a:ext cx="17043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onsolas" panose="020B0609020204030204" pitchFamily="49" charset="0"/>
              </a:rPr>
              <a:t>GT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-</a:t>
            </a:r>
            <a:r>
              <a:rPr lang="en-US" b="1" dirty="0">
                <a:latin typeface="Consolas" panose="020B0609020204030204" pitchFamily="49" charset="0"/>
              </a:rPr>
              <a:t>A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-</a:t>
            </a:r>
            <a:r>
              <a:rPr lang="en-US" b="1" dirty="0" err="1">
                <a:latin typeface="Consolas" panose="020B0609020204030204" pitchFamily="49" charset="0"/>
              </a:rPr>
              <a:t>TAGTC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ta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b="1" dirty="0" err="1">
                <a:latin typeface="Consolas" panose="020B0609020204030204" pitchFamily="49" charset="0"/>
              </a:rPr>
              <a:t>GT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b="1" dirty="0" err="1">
                <a:latin typeface="Consolas" panose="020B0609020204030204" pitchFamily="49" charset="0"/>
              </a:rPr>
              <a:t>A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g</a:t>
            </a:r>
            <a:r>
              <a:rPr lang="en-US" b="1" dirty="0" err="1">
                <a:latin typeface="Consolas" panose="020B0609020204030204" pitchFamily="49" charset="0"/>
              </a:rPr>
              <a:t>TAGTC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--</a:t>
            </a:r>
            <a:endParaRPr lang="ru-RU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222255" y="3710472"/>
            <a:ext cx="51459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+mj-lt"/>
              </a:rPr>
              <a:t>N = 184 756. N</a:t>
            </a:r>
            <a:r>
              <a:rPr lang="en-US" baseline="-25000" dirty="0">
                <a:latin typeface="+mj-lt"/>
              </a:rPr>
              <a:t>20 </a:t>
            </a:r>
            <a:r>
              <a:rPr lang="en-US" dirty="0">
                <a:latin typeface="+mj-lt"/>
              </a:rPr>
              <a:t>= </a:t>
            </a:r>
            <a:r>
              <a:rPr lang="ru-RU" dirty="0">
                <a:latin typeface="+mj-lt"/>
              </a:rPr>
              <a:t>1,38 × 10</a:t>
            </a:r>
            <a:r>
              <a:rPr lang="ru-RU" baseline="30000" dirty="0">
                <a:latin typeface="+mj-lt"/>
              </a:rPr>
              <a:t>11</a:t>
            </a:r>
            <a:r>
              <a:rPr lang="en-US" dirty="0">
                <a:latin typeface="+mj-lt"/>
              </a:rPr>
              <a:t>. N</a:t>
            </a:r>
            <a:r>
              <a:rPr lang="en-US" baseline="-25000" dirty="0">
                <a:latin typeface="+mj-lt"/>
              </a:rPr>
              <a:t>100</a:t>
            </a:r>
            <a:r>
              <a:rPr lang="en-US" dirty="0">
                <a:latin typeface="+mj-lt"/>
              </a:rPr>
              <a:t> = </a:t>
            </a:r>
            <a:r>
              <a:rPr lang="ru-RU" dirty="0">
                <a:latin typeface="+mj-lt"/>
              </a:rPr>
              <a:t>9,05 × 10</a:t>
            </a:r>
            <a:r>
              <a:rPr lang="ru-RU" baseline="30000" dirty="0">
                <a:latin typeface="+mj-lt"/>
              </a:rPr>
              <a:t>58</a:t>
            </a:r>
            <a:endParaRPr lang="ru-RU" dirty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  <p:pic>
        <p:nvPicPr>
          <p:cNvPr id="20" name="Picture 2"/>
          <p:cNvPicPr/>
          <p:nvPr/>
        </p:nvPicPr>
        <p:blipFill>
          <a:blip r:embed="rId2"/>
          <a:stretch/>
        </p:blipFill>
        <p:spPr>
          <a:xfrm>
            <a:off x="623392" y="4745126"/>
            <a:ext cx="10369152" cy="2140258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161440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3" grpId="0"/>
      <p:bldP spid="14" grpId="0"/>
      <p:bldP spid="15" grpId="0"/>
      <p:bldP spid="16" grpId="0"/>
      <p:bldP spid="1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3432" y="855454"/>
            <a:ext cx="9970491" cy="600254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 rot="16200000">
            <a:off x="-821340" y="5521803"/>
            <a:ext cx="21066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  <a:latin typeface="+mj-lt"/>
                <a:hlinkClick r:id="rId3"/>
              </a:rPr>
              <a:t>bit.ly/BM-</a:t>
            </a:r>
            <a:r>
              <a:rPr lang="en-US" dirty="0" err="1">
                <a:solidFill>
                  <a:srgbClr val="00B050"/>
                </a:solidFill>
                <a:latin typeface="+mj-lt"/>
                <a:hlinkClick r:id="rId3"/>
              </a:rPr>
              <a:t>InSilico</a:t>
            </a:r>
            <a:r>
              <a:rPr lang="ru-RU" dirty="0">
                <a:solidFill>
                  <a:srgbClr val="00B050"/>
                </a:solidFill>
                <a:latin typeface="+mj-lt"/>
              </a:rPr>
              <a:t> </a:t>
            </a:r>
          </a:p>
        </p:txBody>
      </p:sp>
      <p:sp>
        <p:nvSpPr>
          <p:cNvPr id="6" name="Text Box 16"/>
          <p:cNvSpPr txBox="1">
            <a:spLocks noChangeArrowheads="1"/>
          </p:cNvSpPr>
          <p:nvPr/>
        </p:nvSpPr>
        <p:spPr bwMode="auto">
          <a:xfrm>
            <a:off x="1992313" y="287338"/>
            <a:ext cx="7777162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 i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i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ru-RU" sz="3000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+mn-cs"/>
              </a:rPr>
              <a:t>Выравнивание: пример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FF35CE4-F3BA-5A11-9396-B498F947A9BC}"/>
              </a:ext>
            </a:extLst>
          </p:cNvPr>
          <p:cNvSpPr txBox="1"/>
          <p:nvPr/>
        </p:nvSpPr>
        <p:spPr>
          <a:xfrm>
            <a:off x="7850747" y="0"/>
            <a:ext cx="4341253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sz="1600" b="1" i="1" dirty="0">
                <a:solidFill>
                  <a:srgbClr val="FFFF00"/>
                </a:solidFill>
                <a:latin typeface="+mj-lt"/>
              </a:rPr>
              <a:t>VI. </a:t>
            </a:r>
            <a:r>
              <a:rPr lang="ru-RU" sz="1600" b="1" i="1" dirty="0">
                <a:solidFill>
                  <a:srgbClr val="FFFF00"/>
                </a:solidFill>
                <a:latin typeface="+mj-lt"/>
              </a:rPr>
              <a:t>Выравнивание последовательностей</a:t>
            </a:r>
          </a:p>
        </p:txBody>
      </p:sp>
    </p:spTree>
    <p:extLst>
      <p:ext uri="{BB962C8B-B14F-4D97-AF65-F5344CB8AC3E}">
        <p14:creationId xmlns:p14="http://schemas.microsoft.com/office/powerpoint/2010/main" val="28980526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Box 16"/>
          <p:cNvSpPr txBox="1">
            <a:spLocks noChangeArrowheads="1"/>
          </p:cNvSpPr>
          <p:nvPr/>
        </p:nvSpPr>
        <p:spPr bwMode="auto">
          <a:xfrm>
            <a:off x="1992312" y="287338"/>
            <a:ext cx="8568184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>
            <a:lvl1pPr eaLnBrk="0" hangingPunct="0">
              <a:defRPr i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i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ru-RU" sz="3000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+mn-cs"/>
              </a:rPr>
              <a:t>«Расстояние» между последовательностями</a:t>
            </a:r>
          </a:p>
        </p:txBody>
      </p:sp>
      <p:sp>
        <p:nvSpPr>
          <p:cNvPr id="12" name="CustomShape 2"/>
          <p:cNvSpPr/>
          <p:nvPr/>
        </p:nvSpPr>
        <p:spPr>
          <a:xfrm>
            <a:off x="695400" y="968400"/>
            <a:ext cx="9776400" cy="58838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ru-RU" sz="2000" spc="-1" dirty="0">
                <a:solidFill>
                  <a:srgbClr val="000000"/>
                </a:solidFill>
                <a:latin typeface="+mj-lt"/>
              </a:rPr>
              <a:t>1. </a:t>
            </a:r>
            <a:r>
              <a:rPr lang="ru-RU" sz="2000" b="1" spc="-1" dirty="0">
                <a:solidFill>
                  <a:srgbClr val="000000"/>
                </a:solidFill>
                <a:latin typeface="+mj-lt"/>
              </a:rPr>
              <a:t>Идентичность последовательностей.</a:t>
            </a:r>
            <a:r>
              <a:rPr lang="ru-RU" sz="2000" spc="-1" dirty="0">
                <a:solidFill>
                  <a:srgbClr val="FFFFFF"/>
                </a:solidFill>
                <a:latin typeface="+mj-lt"/>
              </a:rPr>
              <a:t> </a:t>
            </a:r>
            <a:r>
              <a:rPr lang="ru-RU" sz="1400" spc="-1" dirty="0">
                <a:solidFill>
                  <a:srgbClr val="000000"/>
                </a:solidFill>
                <a:latin typeface="+mj-lt"/>
              </a:rPr>
              <a:t>Доля идентичных </a:t>
            </a:r>
            <a:r>
              <a:rPr lang="ru-RU" sz="1400" spc="-1" dirty="0" err="1">
                <a:solidFill>
                  <a:srgbClr val="000000"/>
                </a:solidFill>
                <a:latin typeface="+mj-lt"/>
              </a:rPr>
              <a:t>а.о</a:t>
            </a:r>
            <a:r>
              <a:rPr lang="ru-RU" sz="1400" spc="-1" dirty="0">
                <a:solidFill>
                  <a:srgbClr val="000000"/>
                </a:solidFill>
                <a:latin typeface="+mj-lt"/>
              </a:rPr>
              <a:t>., стоящих в тех же позициях в последовательностях А и В</a:t>
            </a:r>
          </a:p>
          <a:p>
            <a:pPr>
              <a:lnSpc>
                <a:spcPct val="100000"/>
              </a:lnSpc>
            </a:pPr>
            <a:endParaRPr lang="en-US" sz="1600" b="1" spc="-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</a:pPr>
            <a:r>
              <a:rPr lang="ru-RU" sz="1600" b="1" spc="-1" dirty="0">
                <a:solidFill>
                  <a:srgbClr val="000000"/>
                </a:solidFill>
                <a:latin typeface="Consolas" panose="020B0609020204030204" pitchFamily="49" charset="0"/>
              </a:rPr>
              <a:t>Seq1: FTFTALILLA   Идентичность = 80%</a:t>
            </a:r>
            <a:endParaRPr lang="ru-RU" sz="1600" spc="-1" dirty="0">
              <a:solidFill>
                <a:srgbClr val="FFFFFF"/>
              </a:solidFill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</a:pPr>
            <a:r>
              <a:rPr lang="ru-RU" sz="1600" b="1" spc="-1" dirty="0">
                <a:solidFill>
                  <a:srgbClr val="000000"/>
                </a:solidFill>
                <a:latin typeface="Consolas" panose="020B0609020204030204" pitchFamily="49" charset="0"/>
              </a:rPr>
              <a:t>Seq2: F</a:t>
            </a:r>
            <a:r>
              <a:rPr lang="ru-RU" sz="1600" b="1" spc="-1" dirty="0">
                <a:solidFill>
                  <a:srgbClr val="FF0000"/>
                </a:solidFill>
                <a:latin typeface="Consolas" panose="020B0609020204030204" pitchFamily="49" charset="0"/>
              </a:rPr>
              <a:t>E</a:t>
            </a:r>
            <a:r>
              <a:rPr lang="ru-RU" sz="1600" b="1" spc="-1" dirty="0">
                <a:solidFill>
                  <a:srgbClr val="000000"/>
                </a:solidFill>
                <a:latin typeface="Consolas" panose="020B0609020204030204" pitchFamily="49" charset="0"/>
              </a:rPr>
              <a:t>FTAL</a:t>
            </a:r>
            <a:r>
              <a:rPr lang="ru-RU" sz="1600" b="1" spc="-1" dirty="0">
                <a:solidFill>
                  <a:srgbClr val="FF0000"/>
                </a:solidFill>
                <a:latin typeface="Consolas" panose="020B0609020204030204" pitchFamily="49" charset="0"/>
              </a:rPr>
              <a:t>V</a:t>
            </a:r>
            <a:r>
              <a:rPr lang="ru-RU" sz="1600" b="1" spc="-1" dirty="0">
                <a:solidFill>
                  <a:srgbClr val="000000"/>
                </a:solidFill>
                <a:latin typeface="Consolas" panose="020B0609020204030204" pitchFamily="49" charset="0"/>
              </a:rPr>
              <a:t>LLA</a:t>
            </a:r>
            <a:endParaRPr lang="ru-RU" sz="1600" spc="-1" dirty="0">
              <a:solidFill>
                <a:srgbClr val="FFFFFF"/>
              </a:solidFill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</a:pPr>
            <a:endParaRPr lang="ru-RU" sz="2000" spc="-1" dirty="0">
              <a:solidFill>
                <a:srgbClr val="FFFFFF"/>
              </a:solidFill>
            </a:endParaRPr>
          </a:p>
          <a:p>
            <a:pPr>
              <a:lnSpc>
                <a:spcPct val="100000"/>
              </a:lnSpc>
            </a:pPr>
            <a:r>
              <a:rPr lang="ru-RU" sz="2000" spc="-1" dirty="0">
                <a:solidFill>
                  <a:srgbClr val="000000"/>
                </a:solidFill>
                <a:latin typeface="+mj-lt"/>
              </a:rPr>
              <a:t>2. </a:t>
            </a:r>
            <a:r>
              <a:rPr lang="ru-RU" sz="2000" b="1" spc="-1" dirty="0">
                <a:solidFill>
                  <a:srgbClr val="000000"/>
                </a:solidFill>
                <a:latin typeface="+mj-lt"/>
              </a:rPr>
              <a:t>Расстояние по Хеммингу</a:t>
            </a:r>
            <a:r>
              <a:rPr lang="en-US" sz="2000" b="1" spc="-1" dirty="0">
                <a:solidFill>
                  <a:srgbClr val="000000"/>
                </a:solidFill>
                <a:latin typeface="+mj-lt"/>
              </a:rPr>
              <a:t>. </a:t>
            </a:r>
            <a:r>
              <a:rPr lang="ru-RU" sz="1400" spc="-1" dirty="0">
                <a:solidFill>
                  <a:srgbClr val="000000"/>
                </a:solidFill>
                <a:latin typeface="+mj-lt"/>
              </a:rPr>
              <a:t>Количество несовпадающих позиций</a:t>
            </a:r>
            <a:endParaRPr lang="ru-RU" sz="1400" spc="-1" dirty="0">
              <a:solidFill>
                <a:srgbClr val="FFFFFF"/>
              </a:solidFill>
              <a:latin typeface="+mj-lt"/>
            </a:endParaRPr>
          </a:p>
          <a:p>
            <a:pPr>
              <a:lnSpc>
                <a:spcPct val="100000"/>
              </a:lnSpc>
            </a:pPr>
            <a:endParaRPr lang="en-US" sz="1400" b="1" spc="-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</a:pPr>
            <a:r>
              <a:rPr lang="ru-RU" sz="1600" b="1" spc="-1" dirty="0">
                <a:solidFill>
                  <a:srgbClr val="000000"/>
                </a:solidFill>
                <a:latin typeface="Consolas" panose="020B0609020204030204" pitchFamily="49" charset="0"/>
              </a:rPr>
              <a:t>Seq1: FTFTALILLA   </a:t>
            </a:r>
            <a:r>
              <a:rPr lang="en-US" sz="1600" b="1" spc="-1" dirty="0">
                <a:solidFill>
                  <a:srgbClr val="000000"/>
                </a:solidFill>
                <a:latin typeface="Consolas" panose="020B0609020204030204" pitchFamily="49" charset="0"/>
              </a:rPr>
              <a:t>R</a:t>
            </a:r>
            <a:r>
              <a:rPr lang="ru-RU" sz="1600" b="1" spc="-1" baseline="-25000" dirty="0">
                <a:solidFill>
                  <a:srgbClr val="000000"/>
                </a:solidFill>
                <a:latin typeface="Consolas" panose="020B0609020204030204" pitchFamily="49" charset="0"/>
              </a:rPr>
              <a:t>Хемминг</a:t>
            </a:r>
            <a:r>
              <a:rPr lang="ru-RU" sz="1600" b="1" spc="-1" dirty="0">
                <a:solidFill>
                  <a:srgbClr val="000000"/>
                </a:solidFill>
                <a:latin typeface="Consolas" panose="020B0609020204030204" pitchFamily="49" charset="0"/>
              </a:rPr>
              <a:t> = 2</a:t>
            </a:r>
            <a:endParaRPr lang="ru-RU" sz="1600" spc="-1" dirty="0">
              <a:solidFill>
                <a:srgbClr val="FFFFFF"/>
              </a:solidFill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</a:pPr>
            <a:r>
              <a:rPr lang="ru-RU" sz="1600" b="1" spc="-1" dirty="0">
                <a:solidFill>
                  <a:srgbClr val="000000"/>
                </a:solidFill>
                <a:latin typeface="Consolas" panose="020B0609020204030204" pitchFamily="49" charset="0"/>
              </a:rPr>
              <a:t>Seq2: F</a:t>
            </a:r>
            <a:r>
              <a:rPr lang="ru-RU" sz="1600" b="1" spc="-1" dirty="0">
                <a:solidFill>
                  <a:srgbClr val="FF0000"/>
                </a:solidFill>
                <a:latin typeface="Consolas" panose="020B0609020204030204" pitchFamily="49" charset="0"/>
              </a:rPr>
              <a:t>E</a:t>
            </a:r>
            <a:r>
              <a:rPr lang="ru-RU" sz="1600" b="1" spc="-1" dirty="0">
                <a:solidFill>
                  <a:srgbClr val="000000"/>
                </a:solidFill>
                <a:latin typeface="Consolas" panose="020B0609020204030204" pitchFamily="49" charset="0"/>
              </a:rPr>
              <a:t>FTAL</a:t>
            </a:r>
            <a:r>
              <a:rPr lang="ru-RU" sz="1600" b="1" spc="-1" dirty="0">
                <a:solidFill>
                  <a:srgbClr val="FF0000"/>
                </a:solidFill>
                <a:latin typeface="Consolas" panose="020B0609020204030204" pitchFamily="49" charset="0"/>
              </a:rPr>
              <a:t>V</a:t>
            </a:r>
            <a:r>
              <a:rPr lang="ru-RU" sz="1600" b="1" spc="-1" dirty="0">
                <a:solidFill>
                  <a:srgbClr val="000000"/>
                </a:solidFill>
                <a:latin typeface="Consolas" panose="020B0609020204030204" pitchFamily="49" charset="0"/>
              </a:rPr>
              <a:t>LLA</a:t>
            </a:r>
            <a:endParaRPr lang="ru-RU" sz="1600" spc="-1" dirty="0">
              <a:solidFill>
                <a:srgbClr val="FFFFFF"/>
              </a:solidFill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</a:pPr>
            <a:endParaRPr lang="ru-RU" sz="2000" spc="-1" dirty="0">
              <a:solidFill>
                <a:srgbClr val="FFFFFF"/>
              </a:solidFill>
            </a:endParaRPr>
          </a:p>
          <a:p>
            <a:pPr>
              <a:lnSpc>
                <a:spcPct val="100000"/>
              </a:lnSpc>
            </a:pPr>
            <a:r>
              <a:rPr lang="ru-RU" sz="2000" spc="-1" dirty="0">
                <a:solidFill>
                  <a:srgbClr val="000000"/>
                </a:solidFill>
                <a:latin typeface="+mj-lt"/>
              </a:rPr>
              <a:t>3. </a:t>
            </a:r>
            <a:r>
              <a:rPr lang="ru-RU" sz="2000" b="1" spc="-1" dirty="0">
                <a:solidFill>
                  <a:srgbClr val="000000"/>
                </a:solidFill>
                <a:latin typeface="+mj-lt"/>
              </a:rPr>
              <a:t>Расстояние по </a:t>
            </a:r>
            <a:r>
              <a:rPr lang="ru-RU" sz="2000" b="1" spc="-1" dirty="0" err="1">
                <a:solidFill>
                  <a:srgbClr val="000000"/>
                </a:solidFill>
                <a:latin typeface="+mj-lt"/>
              </a:rPr>
              <a:t>Левенштайну</a:t>
            </a:r>
            <a:r>
              <a:rPr lang="ru-RU" sz="2000" b="1" spc="-1" dirty="0">
                <a:solidFill>
                  <a:srgbClr val="000000"/>
                </a:solidFill>
                <a:latin typeface="+mj-lt"/>
              </a:rPr>
              <a:t> (редакционное расстояние)</a:t>
            </a:r>
            <a:r>
              <a:rPr lang="en-US" sz="2000" b="1" spc="-1" dirty="0">
                <a:solidFill>
                  <a:srgbClr val="000000"/>
                </a:solidFill>
                <a:latin typeface="+mj-lt"/>
              </a:rPr>
              <a:t>. </a:t>
            </a:r>
            <a:r>
              <a:rPr lang="ru-RU" sz="1400" spc="-1" dirty="0">
                <a:solidFill>
                  <a:srgbClr val="000000"/>
                </a:solidFill>
                <a:latin typeface="+mj-lt"/>
              </a:rPr>
              <a:t>Минимальное число преобразований, переводящих одну последовательность в другую</a:t>
            </a:r>
            <a:endParaRPr lang="ru-RU" sz="1400" spc="-1" dirty="0">
              <a:solidFill>
                <a:srgbClr val="FFFFFF"/>
              </a:solidFill>
              <a:latin typeface="+mj-lt"/>
            </a:endParaRPr>
          </a:p>
          <a:p>
            <a:pPr>
              <a:lnSpc>
                <a:spcPct val="100000"/>
              </a:lnSpc>
            </a:pPr>
            <a:endParaRPr lang="en-US" sz="1600" b="1" spc="-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</a:pPr>
            <a:r>
              <a:rPr lang="ru-RU" sz="1600" b="1" spc="-1" dirty="0">
                <a:solidFill>
                  <a:srgbClr val="000000"/>
                </a:solidFill>
                <a:latin typeface="Consolas" panose="020B0609020204030204" pitchFamily="49" charset="0"/>
              </a:rPr>
              <a:t>Seq1: FTFT-LILLA   </a:t>
            </a:r>
            <a:r>
              <a:rPr lang="en-US" sz="1600" b="1" spc="-1" dirty="0">
                <a:solidFill>
                  <a:srgbClr val="000000"/>
                </a:solidFill>
                <a:latin typeface="Consolas" panose="020B0609020204030204" pitchFamily="49" charset="0"/>
              </a:rPr>
              <a:t>R</a:t>
            </a:r>
            <a:r>
              <a:rPr lang="ru-RU" sz="1600" b="1" spc="-1" baseline="-25000" dirty="0">
                <a:solidFill>
                  <a:srgbClr val="000000"/>
                </a:solidFill>
                <a:latin typeface="Consolas" panose="020B0609020204030204" pitchFamily="49" charset="0"/>
              </a:rPr>
              <a:t>Ред</a:t>
            </a:r>
            <a:r>
              <a:rPr lang="ru-RU" sz="1600" b="1" spc="-1" dirty="0">
                <a:solidFill>
                  <a:srgbClr val="000000"/>
                </a:solidFill>
                <a:latin typeface="Consolas" panose="020B0609020204030204" pitchFamily="49" charset="0"/>
              </a:rPr>
              <a:t> = 3</a:t>
            </a:r>
            <a:endParaRPr lang="ru-RU" sz="1600" spc="-1" dirty="0">
              <a:solidFill>
                <a:srgbClr val="FFFFFF"/>
              </a:solidFill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</a:pPr>
            <a:r>
              <a:rPr lang="ru-RU" sz="1600" b="1" spc="-1" dirty="0">
                <a:solidFill>
                  <a:srgbClr val="000000"/>
                </a:solidFill>
                <a:latin typeface="Consolas" panose="020B0609020204030204" pitchFamily="49" charset="0"/>
              </a:rPr>
              <a:t>Seq2: F</a:t>
            </a:r>
            <a:r>
              <a:rPr lang="ru-RU" sz="1600" b="1" spc="-1" dirty="0">
                <a:solidFill>
                  <a:srgbClr val="FF0000"/>
                </a:solidFill>
                <a:latin typeface="Consolas" panose="020B0609020204030204" pitchFamily="49" charset="0"/>
              </a:rPr>
              <a:t>E</a:t>
            </a:r>
            <a:r>
              <a:rPr lang="ru-RU" sz="1600" b="1" spc="-1" dirty="0">
                <a:solidFill>
                  <a:srgbClr val="000000"/>
                </a:solidFill>
                <a:latin typeface="Consolas" panose="020B0609020204030204" pitchFamily="49" charset="0"/>
              </a:rPr>
              <a:t>FT</a:t>
            </a:r>
            <a:r>
              <a:rPr lang="ru-RU" sz="1600" b="1" spc="-1" dirty="0">
                <a:solidFill>
                  <a:srgbClr val="FF0000"/>
                </a:solidFill>
                <a:latin typeface="Consolas" panose="020B0609020204030204" pitchFamily="49" charset="0"/>
              </a:rPr>
              <a:t>A</a:t>
            </a:r>
            <a:r>
              <a:rPr lang="ru-RU" sz="1600" b="1" spc="-1" dirty="0">
                <a:solidFill>
                  <a:srgbClr val="000000"/>
                </a:solidFill>
                <a:latin typeface="Consolas" panose="020B0609020204030204" pitchFamily="49" charset="0"/>
              </a:rPr>
              <a:t>L</a:t>
            </a:r>
            <a:r>
              <a:rPr lang="ru-RU" sz="1600" b="1" spc="-1" dirty="0">
                <a:solidFill>
                  <a:srgbClr val="FF0000"/>
                </a:solidFill>
                <a:latin typeface="Consolas" panose="020B0609020204030204" pitchFamily="49" charset="0"/>
              </a:rPr>
              <a:t>V</a:t>
            </a:r>
            <a:r>
              <a:rPr lang="ru-RU" sz="1600" b="1" spc="-1" dirty="0">
                <a:solidFill>
                  <a:srgbClr val="000000"/>
                </a:solidFill>
                <a:latin typeface="Consolas" panose="020B0609020204030204" pitchFamily="49" charset="0"/>
              </a:rPr>
              <a:t>LLA</a:t>
            </a:r>
          </a:p>
          <a:p>
            <a:pPr>
              <a:lnSpc>
                <a:spcPct val="100000"/>
              </a:lnSpc>
            </a:pPr>
            <a:endParaRPr lang="ru-RU" sz="1600" b="1" spc="-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</a:pPr>
            <a:r>
              <a:rPr lang="ru-RU" sz="2000" spc="-1" dirty="0">
                <a:solidFill>
                  <a:srgbClr val="C00000"/>
                </a:solidFill>
                <a:latin typeface="+mj-lt"/>
              </a:rPr>
              <a:t>Требуется учитывать природу а</a:t>
            </a:r>
            <a:r>
              <a:rPr lang="en-US" sz="2000" spc="-1" dirty="0">
                <a:solidFill>
                  <a:srgbClr val="C00000"/>
                </a:solidFill>
                <a:latin typeface="+mj-lt"/>
              </a:rPr>
              <a:t>/</a:t>
            </a:r>
            <a:r>
              <a:rPr lang="ru-RU" sz="2000" spc="-1" dirty="0">
                <a:solidFill>
                  <a:srgbClr val="C00000"/>
                </a:solidFill>
                <a:latin typeface="+mj-lt"/>
              </a:rPr>
              <a:t>к замен!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6CA8CDC-A5F4-3C19-7BB4-800E4403B94F}"/>
              </a:ext>
            </a:extLst>
          </p:cNvPr>
          <p:cNvSpPr txBox="1"/>
          <p:nvPr/>
        </p:nvSpPr>
        <p:spPr>
          <a:xfrm>
            <a:off x="7850747" y="0"/>
            <a:ext cx="4341253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sz="1600" b="1" i="1" dirty="0">
                <a:solidFill>
                  <a:srgbClr val="FFFF00"/>
                </a:solidFill>
                <a:latin typeface="+mj-lt"/>
              </a:rPr>
              <a:t>VI. </a:t>
            </a:r>
            <a:r>
              <a:rPr lang="ru-RU" sz="1600" b="1" i="1" dirty="0">
                <a:solidFill>
                  <a:srgbClr val="FFFF00"/>
                </a:solidFill>
                <a:latin typeface="+mj-lt"/>
              </a:rPr>
              <a:t>Выравнивание последовательностей</a:t>
            </a:r>
          </a:p>
        </p:txBody>
      </p:sp>
    </p:spTree>
    <p:extLst>
      <p:ext uri="{BB962C8B-B14F-4D97-AF65-F5344CB8AC3E}">
        <p14:creationId xmlns:p14="http://schemas.microsoft.com/office/powerpoint/2010/main" val="22240783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 16"/>
          <p:cNvSpPr txBox="1">
            <a:spLocks noChangeArrowheads="1"/>
          </p:cNvSpPr>
          <p:nvPr/>
        </p:nvSpPr>
        <p:spPr bwMode="auto">
          <a:xfrm>
            <a:off x="1992312" y="287338"/>
            <a:ext cx="8568184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>
            <a:lvl1pPr eaLnBrk="0" hangingPunct="0">
              <a:defRPr i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i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ru-RU" sz="3000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+mn-cs"/>
              </a:rPr>
              <a:t>Физико-химические свойства а</a:t>
            </a:r>
            <a:r>
              <a:rPr lang="en-US" sz="3000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+mn-cs"/>
              </a:rPr>
              <a:t>/</a:t>
            </a:r>
            <a:r>
              <a:rPr lang="ru-RU" sz="3000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+mn-cs"/>
              </a:rPr>
              <a:t>к остатков</a:t>
            </a:r>
          </a:p>
        </p:txBody>
      </p:sp>
      <p:pic>
        <p:nvPicPr>
          <p:cNvPr id="20482" name="Picture 2" descr="https://player.slideplayer.com/77/12785111/slides/slide_6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91" t="13636" r="9091"/>
          <a:stretch/>
        </p:blipFill>
        <p:spPr bwMode="auto">
          <a:xfrm>
            <a:off x="2207568" y="764446"/>
            <a:ext cx="7712306" cy="61055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B531296-F1C1-39BE-7D11-7766B3770A98}"/>
              </a:ext>
            </a:extLst>
          </p:cNvPr>
          <p:cNvSpPr txBox="1"/>
          <p:nvPr/>
        </p:nvSpPr>
        <p:spPr>
          <a:xfrm>
            <a:off x="7850747" y="0"/>
            <a:ext cx="4341253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sz="1600" b="1" i="1" dirty="0">
                <a:solidFill>
                  <a:srgbClr val="FFFF00"/>
                </a:solidFill>
                <a:latin typeface="+mj-lt"/>
              </a:rPr>
              <a:t>VI. </a:t>
            </a:r>
            <a:r>
              <a:rPr lang="ru-RU" sz="1600" b="1" i="1" dirty="0">
                <a:solidFill>
                  <a:srgbClr val="FFFF00"/>
                </a:solidFill>
                <a:latin typeface="+mj-lt"/>
              </a:rPr>
              <a:t>Выравнивание последовательностей</a:t>
            </a:r>
          </a:p>
        </p:txBody>
      </p:sp>
    </p:spTree>
    <p:extLst>
      <p:ext uri="{BB962C8B-B14F-4D97-AF65-F5344CB8AC3E}">
        <p14:creationId xmlns:p14="http://schemas.microsoft.com/office/powerpoint/2010/main" val="741502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 16"/>
          <p:cNvSpPr txBox="1">
            <a:spLocks noChangeArrowheads="1"/>
          </p:cNvSpPr>
          <p:nvPr/>
        </p:nvSpPr>
        <p:spPr bwMode="auto">
          <a:xfrm>
            <a:off x="1992312" y="287338"/>
            <a:ext cx="8568184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>
            <a:lvl1pPr eaLnBrk="0" hangingPunct="0">
              <a:defRPr i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i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ru-RU" sz="3000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+mn-cs"/>
              </a:rPr>
              <a:t>Вероятность замены а</a:t>
            </a:r>
            <a:r>
              <a:rPr lang="en-US" sz="3000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+mn-cs"/>
              </a:rPr>
              <a:t>/</a:t>
            </a:r>
            <a:r>
              <a:rPr lang="ru-RU" sz="3000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+mn-cs"/>
              </a:rPr>
              <a:t>к остатков</a:t>
            </a:r>
          </a:p>
        </p:txBody>
      </p:sp>
      <p:pic>
        <p:nvPicPr>
          <p:cNvPr id="23554" name="Picture 2" descr="ÐÐ°ÑÑÐ¸Ð½ÐºÐ¸ Ð¿Ð¾ Ð·Ð°Ð¿ÑÐ¾ÑÑ amino acid propertie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8692" y="841337"/>
            <a:ext cx="8109756" cy="60789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8556CC2-3FB7-A1FA-AAC4-0213CF4E0362}"/>
              </a:ext>
            </a:extLst>
          </p:cNvPr>
          <p:cNvSpPr txBox="1"/>
          <p:nvPr/>
        </p:nvSpPr>
        <p:spPr>
          <a:xfrm>
            <a:off x="7850747" y="0"/>
            <a:ext cx="4341253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sz="1600" b="1" i="1" dirty="0">
                <a:solidFill>
                  <a:srgbClr val="FFFF00"/>
                </a:solidFill>
                <a:latin typeface="+mj-lt"/>
              </a:rPr>
              <a:t>VI. </a:t>
            </a:r>
            <a:r>
              <a:rPr lang="ru-RU" sz="1600" b="1" i="1" dirty="0">
                <a:solidFill>
                  <a:srgbClr val="FFFF00"/>
                </a:solidFill>
                <a:latin typeface="+mj-lt"/>
              </a:rPr>
              <a:t>Выравнивание последовательностей</a:t>
            </a:r>
          </a:p>
        </p:txBody>
      </p:sp>
    </p:spTree>
    <p:extLst>
      <p:ext uri="{BB962C8B-B14F-4D97-AF65-F5344CB8AC3E}">
        <p14:creationId xmlns:p14="http://schemas.microsoft.com/office/powerpoint/2010/main" val="27983109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Box 16"/>
          <p:cNvSpPr txBox="1">
            <a:spLocks noChangeArrowheads="1"/>
          </p:cNvSpPr>
          <p:nvPr/>
        </p:nvSpPr>
        <p:spPr bwMode="auto">
          <a:xfrm>
            <a:off x="1992312" y="287338"/>
            <a:ext cx="8568184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>
            <a:lvl1pPr eaLnBrk="0" hangingPunct="0">
              <a:defRPr i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i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ru-RU" sz="3000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+mn-cs"/>
              </a:rPr>
              <a:t>Матрицы замены а</a:t>
            </a:r>
            <a:r>
              <a:rPr lang="en-US" sz="3000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+mn-cs"/>
              </a:rPr>
              <a:t>/</a:t>
            </a:r>
            <a:r>
              <a:rPr lang="ru-RU" sz="3000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+mn-cs"/>
              </a:rPr>
              <a:t>к остатков</a:t>
            </a:r>
          </a:p>
        </p:txBody>
      </p:sp>
      <p:pic>
        <p:nvPicPr>
          <p:cNvPr id="11" name="Picture 1"/>
          <p:cNvPicPr/>
          <p:nvPr/>
        </p:nvPicPr>
        <p:blipFill>
          <a:blip r:embed="rId2"/>
          <a:stretch/>
        </p:blipFill>
        <p:spPr>
          <a:xfrm>
            <a:off x="2135560" y="841781"/>
            <a:ext cx="8064896" cy="6048672"/>
          </a:xfrm>
          <a:prstGeom prst="rect">
            <a:avLst/>
          </a:prstGeom>
          <a:ln w="9360"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583E38D-2D4A-19B2-EFA8-EE1105D9C87A}"/>
              </a:ext>
            </a:extLst>
          </p:cNvPr>
          <p:cNvSpPr txBox="1"/>
          <p:nvPr/>
        </p:nvSpPr>
        <p:spPr>
          <a:xfrm>
            <a:off x="7850747" y="0"/>
            <a:ext cx="4341253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sz="1600" b="1" i="1" dirty="0">
                <a:solidFill>
                  <a:srgbClr val="FFFF00"/>
                </a:solidFill>
                <a:latin typeface="+mj-lt"/>
              </a:rPr>
              <a:t>VI. </a:t>
            </a:r>
            <a:r>
              <a:rPr lang="ru-RU" sz="1600" b="1" i="1" dirty="0">
                <a:solidFill>
                  <a:srgbClr val="FFFF00"/>
                </a:solidFill>
                <a:latin typeface="+mj-lt"/>
              </a:rPr>
              <a:t>Выравнивание последовательностей</a:t>
            </a:r>
          </a:p>
        </p:txBody>
      </p:sp>
    </p:spTree>
    <p:extLst>
      <p:ext uri="{BB962C8B-B14F-4D97-AF65-F5344CB8AC3E}">
        <p14:creationId xmlns:p14="http://schemas.microsoft.com/office/powerpoint/2010/main" val="16203575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6"/>
          <p:cNvSpPr txBox="1">
            <a:spLocks noChangeArrowheads="1"/>
          </p:cNvSpPr>
          <p:nvPr/>
        </p:nvSpPr>
        <p:spPr bwMode="auto">
          <a:xfrm>
            <a:off x="1992312" y="287338"/>
            <a:ext cx="8568184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>
            <a:lvl1pPr eaLnBrk="0" hangingPunct="0">
              <a:defRPr i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i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ru-RU" sz="3000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+mn-cs"/>
              </a:rPr>
              <a:t>Множественное выравнивание</a:t>
            </a:r>
          </a:p>
        </p:txBody>
      </p:sp>
      <p:sp>
        <p:nvSpPr>
          <p:cNvPr id="6" name="CustomShape 2"/>
          <p:cNvSpPr/>
          <p:nvPr/>
        </p:nvSpPr>
        <p:spPr>
          <a:xfrm>
            <a:off x="1992312" y="953640"/>
            <a:ext cx="7919688" cy="7304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ru-RU" sz="2400" b="1" spc="-1" dirty="0" err="1">
                <a:solidFill>
                  <a:srgbClr val="000000"/>
                </a:solidFill>
              </a:rPr>
              <a:t>Сlustal</a:t>
            </a:r>
            <a:r>
              <a:rPr lang="ru-RU" sz="2400" b="1" spc="-1" dirty="0">
                <a:solidFill>
                  <a:srgbClr val="000000"/>
                </a:solidFill>
              </a:rPr>
              <a:t> </a:t>
            </a:r>
            <a:r>
              <a:rPr lang="ru-RU" spc="-1" dirty="0">
                <a:solidFill>
                  <a:srgbClr val="000000"/>
                </a:solidFill>
              </a:rPr>
              <a:t>– наиболее используемый в мире кластер программ для множественного выравнивания последовательностей</a:t>
            </a:r>
            <a:endParaRPr lang="ru-RU" spc="-1" dirty="0">
              <a:solidFill>
                <a:srgbClr val="FFFFFF"/>
              </a:solidFill>
            </a:endParaRPr>
          </a:p>
        </p:txBody>
      </p:sp>
      <p:pic>
        <p:nvPicPr>
          <p:cNvPr id="2050" name="Picture 2" descr="https://biomolecula.ru/img/content/2301/06.mnozhestvennoe-vyravnivanie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5168" y="1684080"/>
            <a:ext cx="9142832" cy="5163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27FA47E-3969-D0FD-26C3-9FD63505005F}"/>
              </a:ext>
            </a:extLst>
          </p:cNvPr>
          <p:cNvSpPr txBox="1"/>
          <p:nvPr/>
        </p:nvSpPr>
        <p:spPr>
          <a:xfrm>
            <a:off x="7850747" y="0"/>
            <a:ext cx="4341253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sz="1600" b="1" i="1" dirty="0">
                <a:solidFill>
                  <a:srgbClr val="FFFF00"/>
                </a:solidFill>
                <a:latin typeface="+mj-lt"/>
              </a:rPr>
              <a:t>VI. </a:t>
            </a:r>
            <a:r>
              <a:rPr lang="ru-RU" sz="1600" b="1" i="1" dirty="0">
                <a:solidFill>
                  <a:srgbClr val="FFFF00"/>
                </a:solidFill>
                <a:latin typeface="+mj-lt"/>
              </a:rPr>
              <a:t>Выравнивание последовательностей</a:t>
            </a:r>
          </a:p>
        </p:txBody>
      </p:sp>
    </p:spTree>
    <p:extLst>
      <p:ext uri="{BB962C8B-B14F-4D97-AF65-F5344CB8AC3E}">
        <p14:creationId xmlns:p14="http://schemas.microsoft.com/office/powerpoint/2010/main" val="26535993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360" y="0"/>
            <a:ext cx="6027900" cy="6956960"/>
          </a:xfrm>
          <a:prstGeom prst="rect">
            <a:avLst/>
          </a:prstGeom>
        </p:spPr>
      </p:pic>
      <p:sp>
        <p:nvSpPr>
          <p:cNvPr id="5" name="Text Box 16"/>
          <p:cNvSpPr txBox="1">
            <a:spLocks noChangeArrowheads="1"/>
          </p:cNvSpPr>
          <p:nvPr/>
        </p:nvSpPr>
        <p:spPr bwMode="auto">
          <a:xfrm>
            <a:off x="6338108" y="476672"/>
            <a:ext cx="8568184" cy="12464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>
            <a:lvl1pPr eaLnBrk="0" hangingPunct="0">
              <a:defRPr i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i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ru-RU" sz="3000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+mn-cs"/>
              </a:rPr>
              <a:t>Множественное </a:t>
            </a:r>
          </a:p>
          <a:p>
            <a:pPr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ru-RU" sz="3000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+mn-cs"/>
              </a:rPr>
              <a:t>выравнивание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6EE0DEA-DEEA-E01F-AFA8-3917836C51D3}"/>
              </a:ext>
            </a:extLst>
          </p:cNvPr>
          <p:cNvSpPr txBox="1"/>
          <p:nvPr/>
        </p:nvSpPr>
        <p:spPr>
          <a:xfrm>
            <a:off x="7850747" y="0"/>
            <a:ext cx="4341253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sz="1600" b="1" i="1" dirty="0">
                <a:solidFill>
                  <a:srgbClr val="FFFF00"/>
                </a:solidFill>
                <a:latin typeface="+mj-lt"/>
              </a:rPr>
              <a:t>VI. </a:t>
            </a:r>
            <a:r>
              <a:rPr lang="ru-RU" sz="1600" b="1" i="1" dirty="0">
                <a:solidFill>
                  <a:srgbClr val="FFFF00"/>
                </a:solidFill>
                <a:latin typeface="+mj-lt"/>
              </a:rPr>
              <a:t>Выравнивание последовательностей</a:t>
            </a:r>
          </a:p>
        </p:txBody>
      </p:sp>
    </p:spTree>
    <p:extLst>
      <p:ext uri="{BB962C8B-B14F-4D97-AF65-F5344CB8AC3E}">
        <p14:creationId xmlns:p14="http://schemas.microsoft.com/office/powerpoint/2010/main" val="169538701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850747" y="0"/>
            <a:ext cx="4341253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sz="1600" b="1" i="1" dirty="0">
                <a:solidFill>
                  <a:srgbClr val="FFFF00"/>
                </a:solidFill>
                <a:latin typeface="+mj-lt"/>
              </a:rPr>
              <a:t>VII. </a:t>
            </a:r>
            <a:r>
              <a:rPr lang="ru-RU" sz="1600" b="1" i="1" dirty="0">
                <a:solidFill>
                  <a:srgbClr val="FFFF00"/>
                </a:solidFill>
                <a:latin typeface="+mj-lt"/>
              </a:rPr>
              <a:t>Поиск последовательностей в базах</a:t>
            </a:r>
          </a:p>
        </p:txBody>
      </p:sp>
      <p:sp>
        <p:nvSpPr>
          <p:cNvPr id="5" name="Text Box 16"/>
          <p:cNvSpPr txBox="1">
            <a:spLocks noChangeArrowheads="1"/>
          </p:cNvSpPr>
          <p:nvPr/>
        </p:nvSpPr>
        <p:spPr bwMode="auto">
          <a:xfrm>
            <a:off x="1992313" y="287338"/>
            <a:ext cx="8136135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>
            <a:lvl1pPr eaLnBrk="0" hangingPunct="0">
              <a:defRPr i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i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ru-RU" sz="3000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+mn-cs"/>
              </a:rPr>
              <a:t>Поиск «гомологов»</a:t>
            </a:r>
          </a:p>
        </p:txBody>
      </p:sp>
      <p:sp>
        <p:nvSpPr>
          <p:cNvPr id="9" name="CustomShape 2"/>
          <p:cNvSpPr/>
          <p:nvPr/>
        </p:nvSpPr>
        <p:spPr>
          <a:xfrm>
            <a:off x="623392" y="953640"/>
            <a:ext cx="10657184" cy="1827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ru-RU" sz="2400" b="1" spc="-1" dirty="0">
                <a:solidFill>
                  <a:srgbClr val="000000"/>
                </a:solidFill>
              </a:rPr>
              <a:t>BLAST</a:t>
            </a:r>
            <a:r>
              <a:rPr lang="ru-RU" sz="2400" spc="-1" dirty="0">
                <a:solidFill>
                  <a:srgbClr val="000000"/>
                </a:solidFill>
              </a:rPr>
              <a:t> (англ. </a:t>
            </a:r>
            <a:r>
              <a:rPr lang="ru-RU" sz="2400" b="1" spc="-1" dirty="0" err="1">
                <a:solidFill>
                  <a:srgbClr val="000000"/>
                </a:solidFill>
              </a:rPr>
              <a:t>B</a:t>
            </a:r>
            <a:r>
              <a:rPr lang="ru-RU" sz="2400" spc="-1" dirty="0" err="1">
                <a:solidFill>
                  <a:srgbClr val="000000"/>
                </a:solidFill>
              </a:rPr>
              <a:t>asic</a:t>
            </a:r>
            <a:r>
              <a:rPr lang="ru-RU" sz="2400" spc="-1" dirty="0">
                <a:solidFill>
                  <a:srgbClr val="000000"/>
                </a:solidFill>
              </a:rPr>
              <a:t> </a:t>
            </a:r>
            <a:r>
              <a:rPr lang="ru-RU" sz="2400" b="1" spc="-1" dirty="0" err="1">
                <a:solidFill>
                  <a:srgbClr val="000000"/>
                </a:solidFill>
              </a:rPr>
              <a:t>L</a:t>
            </a:r>
            <a:r>
              <a:rPr lang="ru-RU" sz="2400" spc="-1" dirty="0" err="1">
                <a:solidFill>
                  <a:srgbClr val="000000"/>
                </a:solidFill>
              </a:rPr>
              <a:t>ocal</a:t>
            </a:r>
            <a:r>
              <a:rPr lang="ru-RU" sz="2400" spc="-1" dirty="0">
                <a:solidFill>
                  <a:srgbClr val="000000"/>
                </a:solidFill>
              </a:rPr>
              <a:t> </a:t>
            </a:r>
            <a:r>
              <a:rPr lang="ru-RU" sz="2400" b="1" spc="-1" dirty="0" err="1">
                <a:solidFill>
                  <a:srgbClr val="000000"/>
                </a:solidFill>
              </a:rPr>
              <a:t>A</a:t>
            </a:r>
            <a:r>
              <a:rPr lang="ru-RU" sz="2400" spc="-1" dirty="0" err="1">
                <a:solidFill>
                  <a:srgbClr val="000000"/>
                </a:solidFill>
              </a:rPr>
              <a:t>lignment</a:t>
            </a:r>
            <a:r>
              <a:rPr lang="ru-RU" sz="2400" spc="-1" dirty="0">
                <a:solidFill>
                  <a:srgbClr val="000000"/>
                </a:solidFill>
              </a:rPr>
              <a:t> </a:t>
            </a:r>
            <a:r>
              <a:rPr lang="ru-RU" sz="2400" b="1" spc="-1" dirty="0" err="1">
                <a:solidFill>
                  <a:srgbClr val="000000"/>
                </a:solidFill>
              </a:rPr>
              <a:t>S</a:t>
            </a:r>
            <a:r>
              <a:rPr lang="ru-RU" sz="2400" spc="-1" dirty="0" err="1">
                <a:solidFill>
                  <a:srgbClr val="000000"/>
                </a:solidFill>
              </a:rPr>
              <a:t>earch</a:t>
            </a:r>
            <a:r>
              <a:rPr lang="ru-RU" sz="2400" spc="-1" dirty="0">
                <a:solidFill>
                  <a:srgbClr val="000000"/>
                </a:solidFill>
              </a:rPr>
              <a:t> </a:t>
            </a:r>
            <a:r>
              <a:rPr lang="ru-RU" sz="2400" b="1" spc="-1" dirty="0" err="1">
                <a:solidFill>
                  <a:srgbClr val="000000"/>
                </a:solidFill>
              </a:rPr>
              <a:t>T</a:t>
            </a:r>
            <a:r>
              <a:rPr lang="ru-RU" sz="2400" spc="-1" dirty="0" err="1">
                <a:solidFill>
                  <a:srgbClr val="000000"/>
                </a:solidFill>
              </a:rPr>
              <a:t>ool</a:t>
            </a:r>
            <a:r>
              <a:rPr lang="ru-RU" sz="2400" spc="-1" dirty="0">
                <a:solidFill>
                  <a:srgbClr val="000000"/>
                </a:solidFill>
              </a:rPr>
              <a:t>)</a:t>
            </a:r>
            <a:r>
              <a:rPr lang="ru-RU" spc="-1" dirty="0">
                <a:solidFill>
                  <a:srgbClr val="000000"/>
                </a:solidFill>
              </a:rPr>
              <a:t> — семейство компьютерных программ для поиска гомологов белков или нуклеиновых кислот, для которых известна первичная структура или её фрагмент.</a:t>
            </a:r>
            <a:endParaRPr lang="ru-RU" spc="-1" dirty="0">
              <a:solidFill>
                <a:srgbClr val="FFFFFF"/>
              </a:solidFill>
            </a:endParaRPr>
          </a:p>
          <a:p>
            <a:pPr>
              <a:lnSpc>
                <a:spcPct val="100000"/>
              </a:lnSpc>
            </a:pPr>
            <a:endParaRPr lang="ru-RU" spc="-1" dirty="0">
              <a:solidFill>
                <a:srgbClr val="FFFFFF"/>
              </a:solidFill>
            </a:endParaRPr>
          </a:p>
          <a:p>
            <a:pPr>
              <a:lnSpc>
                <a:spcPct val="100000"/>
              </a:lnSpc>
            </a:pPr>
            <a:r>
              <a:rPr lang="ru-RU" spc="-1" dirty="0">
                <a:solidFill>
                  <a:srgbClr val="000000"/>
                </a:solidFill>
              </a:rPr>
              <a:t>Идея — поиск в последовательности похожих или совпадающих «слов» максимальной длины</a:t>
            </a:r>
            <a:r>
              <a:rPr lang="en-US" spc="-1" dirty="0">
                <a:solidFill>
                  <a:srgbClr val="000000"/>
                </a:solidFill>
              </a:rPr>
              <a:t>.</a:t>
            </a:r>
            <a:endParaRPr lang="ru-RU" spc="-1" dirty="0">
              <a:solidFill>
                <a:srgbClr val="FFFFFF"/>
              </a:solidFill>
            </a:endParaRPr>
          </a:p>
        </p:txBody>
      </p:sp>
      <p:pic>
        <p:nvPicPr>
          <p:cNvPr id="10" name="Рисунок 9"/>
          <p:cNvPicPr/>
          <p:nvPr/>
        </p:nvPicPr>
        <p:blipFill>
          <a:blip r:embed="rId2"/>
          <a:stretch/>
        </p:blipFill>
        <p:spPr>
          <a:xfrm>
            <a:off x="1559496" y="2780639"/>
            <a:ext cx="6696744" cy="4084177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2160978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6"/>
          <p:cNvSpPr txBox="1">
            <a:spLocks noChangeArrowheads="1"/>
          </p:cNvSpPr>
          <p:nvPr/>
        </p:nvSpPr>
        <p:spPr bwMode="auto">
          <a:xfrm>
            <a:off x="1992313" y="287338"/>
            <a:ext cx="8136135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>
            <a:lvl1pPr eaLnBrk="0" hangingPunct="0">
              <a:defRPr i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i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ru-RU" sz="3000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+mn-cs"/>
              </a:rPr>
              <a:t>Поиск «гомологов»: </a:t>
            </a:r>
            <a:r>
              <a:rPr lang="en-US" sz="3000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+mn-cs"/>
              </a:rPr>
              <a:t>BLAST</a:t>
            </a:r>
            <a:endParaRPr lang="ru-RU" sz="3000" dirty="0">
              <a:solidFill>
                <a:schemeClr val="accent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cs typeface="+mn-cs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0512" y="1129834"/>
            <a:ext cx="9144000" cy="541718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1BAABD9-79CB-8D23-1C8A-4F13929DAE95}"/>
              </a:ext>
            </a:extLst>
          </p:cNvPr>
          <p:cNvSpPr txBox="1"/>
          <p:nvPr/>
        </p:nvSpPr>
        <p:spPr>
          <a:xfrm>
            <a:off x="7850747" y="0"/>
            <a:ext cx="4341253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sz="1600" b="1" i="1" dirty="0">
                <a:solidFill>
                  <a:srgbClr val="FFFF00"/>
                </a:solidFill>
                <a:latin typeface="+mj-lt"/>
              </a:rPr>
              <a:t>VII. </a:t>
            </a:r>
            <a:r>
              <a:rPr lang="ru-RU" sz="1600" b="1" i="1" dirty="0">
                <a:solidFill>
                  <a:srgbClr val="FFFF00"/>
                </a:solidFill>
                <a:latin typeface="+mj-lt"/>
              </a:rPr>
              <a:t>Поиск последовательностей в базах</a:t>
            </a:r>
          </a:p>
        </p:txBody>
      </p:sp>
    </p:spTree>
    <p:extLst>
      <p:ext uri="{BB962C8B-B14F-4D97-AF65-F5344CB8AC3E}">
        <p14:creationId xmlns:p14="http://schemas.microsoft.com/office/powerpoint/2010/main" val="251677130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16"/>
          <p:cNvSpPr txBox="1">
            <a:spLocks noChangeArrowheads="1"/>
          </p:cNvSpPr>
          <p:nvPr/>
        </p:nvSpPr>
        <p:spPr bwMode="auto">
          <a:xfrm>
            <a:off x="1992313" y="287338"/>
            <a:ext cx="8136135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>
            <a:lvl1pPr eaLnBrk="0" hangingPunct="0">
              <a:defRPr i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i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ru-RU" sz="3000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+mn-cs"/>
              </a:rPr>
              <a:t>Поиск «гомологов»: </a:t>
            </a:r>
            <a:r>
              <a:rPr lang="en-US" sz="3000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+mn-cs"/>
              </a:rPr>
              <a:t>FASTA</a:t>
            </a:r>
            <a:endParaRPr lang="ru-RU" sz="3000" dirty="0">
              <a:solidFill>
                <a:schemeClr val="accent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cs typeface="+mn-cs"/>
            </a:endParaRP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1144690"/>
            <a:ext cx="9144000" cy="541718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746ED14-D36B-9F77-775B-2EFFD2117171}"/>
              </a:ext>
            </a:extLst>
          </p:cNvPr>
          <p:cNvSpPr txBox="1"/>
          <p:nvPr/>
        </p:nvSpPr>
        <p:spPr>
          <a:xfrm>
            <a:off x="7850747" y="0"/>
            <a:ext cx="4341253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sz="1600" b="1" i="1" dirty="0">
                <a:solidFill>
                  <a:srgbClr val="FFFF00"/>
                </a:solidFill>
                <a:latin typeface="+mj-lt"/>
              </a:rPr>
              <a:t>VII. </a:t>
            </a:r>
            <a:r>
              <a:rPr lang="ru-RU" sz="1600" b="1" i="1" dirty="0">
                <a:solidFill>
                  <a:srgbClr val="FFFF00"/>
                </a:solidFill>
                <a:latin typeface="+mj-lt"/>
              </a:rPr>
              <a:t>Поиск последовательностей в базах</a:t>
            </a:r>
          </a:p>
        </p:txBody>
      </p:sp>
    </p:spTree>
    <p:extLst>
      <p:ext uri="{BB962C8B-B14F-4D97-AF65-F5344CB8AC3E}">
        <p14:creationId xmlns:p14="http://schemas.microsoft.com/office/powerpoint/2010/main" val="176748386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AFF0D87A-F84C-9AD9-6FCF-257BE862A4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9461501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6227875-D6A5-70BE-ECFA-8402B8AFFA34}"/>
              </a:ext>
            </a:extLst>
          </p:cNvPr>
          <p:cNvSpPr txBox="1"/>
          <p:nvPr/>
        </p:nvSpPr>
        <p:spPr>
          <a:xfrm>
            <a:off x="9631684" y="0"/>
            <a:ext cx="2560316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sz="1600" b="1" i="1" dirty="0">
                <a:solidFill>
                  <a:srgbClr val="FFFF00"/>
                </a:solidFill>
                <a:latin typeface="+mj-lt"/>
              </a:rPr>
              <a:t>VII. </a:t>
            </a:r>
            <a:r>
              <a:rPr lang="ru-RU" sz="1600" b="1" i="1" dirty="0">
                <a:solidFill>
                  <a:srgbClr val="FFFF00"/>
                </a:solidFill>
                <a:latin typeface="+mj-lt"/>
              </a:rPr>
              <a:t>Поиск </a:t>
            </a:r>
          </a:p>
          <a:p>
            <a:pPr algn="r">
              <a:defRPr/>
            </a:pPr>
            <a:r>
              <a:rPr lang="ru-RU" sz="1600" b="1" i="1" dirty="0">
                <a:solidFill>
                  <a:srgbClr val="FFFF00"/>
                </a:solidFill>
                <a:latin typeface="+mj-lt"/>
              </a:rPr>
              <a:t>последовательностей </a:t>
            </a:r>
          </a:p>
          <a:p>
            <a:pPr algn="r">
              <a:defRPr/>
            </a:pPr>
            <a:r>
              <a:rPr lang="ru-RU" sz="1600" b="1" i="1" dirty="0">
                <a:solidFill>
                  <a:srgbClr val="FFFF00"/>
                </a:solidFill>
                <a:latin typeface="+mj-lt"/>
              </a:rPr>
              <a:t>в базах</a:t>
            </a:r>
          </a:p>
        </p:txBody>
      </p:sp>
    </p:spTree>
    <p:extLst>
      <p:ext uri="{BB962C8B-B14F-4D97-AF65-F5344CB8AC3E}">
        <p14:creationId xmlns:p14="http://schemas.microsoft.com/office/powerpoint/2010/main" val="267321939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760296" y="0"/>
            <a:ext cx="3384261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sz="1600" b="1" i="1" dirty="0">
                <a:solidFill>
                  <a:srgbClr val="FFFF00"/>
                </a:solidFill>
                <a:latin typeface="+mj-lt"/>
              </a:rPr>
              <a:t>VII. </a:t>
            </a:r>
            <a:r>
              <a:rPr lang="ru-RU" sz="1600" b="1" i="1" dirty="0">
                <a:solidFill>
                  <a:srgbClr val="FFFF00"/>
                </a:solidFill>
                <a:latin typeface="+mj-lt"/>
              </a:rPr>
              <a:t>Филогенетические деревья</a:t>
            </a:r>
          </a:p>
        </p:txBody>
      </p:sp>
      <p:sp>
        <p:nvSpPr>
          <p:cNvPr id="5" name="Text Box 16"/>
          <p:cNvSpPr txBox="1">
            <a:spLocks noChangeArrowheads="1"/>
          </p:cNvSpPr>
          <p:nvPr/>
        </p:nvSpPr>
        <p:spPr bwMode="auto">
          <a:xfrm>
            <a:off x="1992313" y="287338"/>
            <a:ext cx="8136135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>
            <a:lvl1pPr eaLnBrk="0" hangingPunct="0">
              <a:defRPr i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i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ru-RU" sz="3000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+mn-cs"/>
              </a:rPr>
              <a:t>Молекулярная эволюция</a:t>
            </a:r>
          </a:p>
        </p:txBody>
      </p:sp>
      <p:pic>
        <p:nvPicPr>
          <p:cNvPr id="1026" name="Picture 2" descr="ÐÑÐ¸Ð¼ÐµÑ ÑÐ¸Ð»Ð¾Ð³ÐµÐ½ÐµÑÐ¸ÑÐµÑÐºÐ¾Ð³Ð¾ Ð´ÐµÑÐµÐ²Ð°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1" r="1926"/>
          <a:stretch/>
        </p:blipFill>
        <p:spPr bwMode="auto">
          <a:xfrm>
            <a:off x="1992312" y="980728"/>
            <a:ext cx="7584929" cy="475252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ttps://biomolecula.ru/media/cache/b2/6f/b26f8c87be2d0bd26f45cb25f79e71ed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466" y="2492896"/>
            <a:ext cx="1990725" cy="3810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258466" y="6302896"/>
            <a:ext cx="27142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>
                <a:latin typeface="+mj-lt"/>
              </a:rPr>
              <a:t>Карл </a:t>
            </a:r>
            <a:r>
              <a:rPr lang="ru-RU" b="1" dirty="0" err="1">
                <a:latin typeface="+mj-lt"/>
              </a:rPr>
              <a:t>Вёзе</a:t>
            </a:r>
            <a:r>
              <a:rPr lang="ru-RU" b="1" dirty="0">
                <a:latin typeface="+mj-lt"/>
              </a:rPr>
              <a:t> (1928–2012)</a:t>
            </a:r>
          </a:p>
        </p:txBody>
      </p:sp>
      <p:pic>
        <p:nvPicPr>
          <p:cNvPr id="1030" name="Picture 6" descr="ÐÐ°ÑÑÐ¸Ð½ÐºÐ¸ Ð¿Ð¾ Ð·Ð°Ð¿ÑÐ¾ÑÑ Phylogenetic Classification and the Universal Tree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6080" y="2780928"/>
            <a:ext cx="4917285" cy="369949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16728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0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0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6"/>
          <p:cNvSpPr txBox="1">
            <a:spLocks noChangeArrowheads="1"/>
          </p:cNvSpPr>
          <p:nvPr/>
        </p:nvSpPr>
        <p:spPr bwMode="auto">
          <a:xfrm>
            <a:off x="1992313" y="287338"/>
            <a:ext cx="8136135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>
            <a:lvl1pPr eaLnBrk="0" hangingPunct="0">
              <a:defRPr i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i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ru-RU" sz="3000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+mn-cs"/>
              </a:rPr>
              <a:t>Выводы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551384" y="1052736"/>
            <a:ext cx="10009112" cy="187325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lnSpc>
                <a:spcPct val="90000"/>
              </a:lnSpc>
              <a:buFont typeface="+mj-lt"/>
              <a:buAutoNum type="arabicPeriod"/>
            </a:pPr>
            <a:r>
              <a:rPr lang="ru-RU" sz="2200" dirty="0"/>
              <a:t>Без</a:t>
            </a:r>
            <a:r>
              <a:rPr lang="en-US" sz="2200" dirty="0"/>
              <a:t> </a:t>
            </a:r>
            <a:r>
              <a:rPr lang="ru-RU" sz="2200" dirty="0" err="1"/>
              <a:t>биоинформатики</a:t>
            </a:r>
            <a:r>
              <a:rPr lang="ru-RU" sz="2200" dirty="0"/>
              <a:t> современная биология невозможна</a:t>
            </a:r>
          </a:p>
          <a:p>
            <a:pPr eaLnBrk="1" hangingPunct="1">
              <a:lnSpc>
                <a:spcPct val="90000"/>
              </a:lnSpc>
              <a:buFont typeface="+mj-lt"/>
              <a:buAutoNum type="arabicPeriod"/>
            </a:pPr>
            <a:endParaRPr lang="ru-RU" sz="2200" dirty="0"/>
          </a:p>
          <a:p>
            <a:pPr eaLnBrk="1" hangingPunct="1">
              <a:lnSpc>
                <a:spcPct val="90000"/>
              </a:lnSpc>
              <a:buFont typeface="+mj-lt"/>
              <a:buAutoNum type="arabicPeriod"/>
            </a:pPr>
            <a:r>
              <a:rPr lang="ru-RU" sz="2200" dirty="0"/>
              <a:t>Продукт </a:t>
            </a:r>
            <a:r>
              <a:rPr lang="ru-RU" sz="2200" dirty="0" err="1"/>
              <a:t>биоинформатики</a:t>
            </a:r>
            <a:r>
              <a:rPr lang="ru-RU" sz="2200" dirty="0"/>
              <a:t> — онлайн-базы данных — уже воспринимается как «воздух»</a:t>
            </a:r>
          </a:p>
          <a:p>
            <a:pPr eaLnBrk="1" hangingPunct="1">
              <a:lnSpc>
                <a:spcPct val="90000"/>
              </a:lnSpc>
              <a:buFont typeface="+mj-lt"/>
              <a:buAutoNum type="arabicPeriod"/>
            </a:pPr>
            <a:endParaRPr lang="ru-RU" sz="2200" dirty="0"/>
          </a:p>
          <a:p>
            <a:pPr eaLnBrk="1" hangingPunct="1">
              <a:lnSpc>
                <a:spcPct val="90000"/>
              </a:lnSpc>
              <a:buFont typeface="+mj-lt"/>
              <a:buAutoNum type="arabicPeriod"/>
            </a:pPr>
            <a:r>
              <a:rPr lang="ru-RU" sz="2200" dirty="0"/>
              <a:t>Очень многие исследования в современной биологии можно делать «всухую», без капли реактива</a:t>
            </a:r>
          </a:p>
        </p:txBody>
      </p:sp>
    </p:spTree>
    <p:extLst>
      <p:ext uri="{BB962C8B-B14F-4D97-AF65-F5344CB8AC3E}">
        <p14:creationId xmlns:p14="http://schemas.microsoft.com/office/powerpoint/2010/main" val="240575697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16"/>
          <p:cNvSpPr txBox="1">
            <a:spLocks noChangeArrowheads="1"/>
          </p:cNvSpPr>
          <p:nvPr/>
        </p:nvSpPr>
        <p:spPr bwMode="auto">
          <a:xfrm>
            <a:off x="1992313" y="287338"/>
            <a:ext cx="8136135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>
            <a:lvl1pPr eaLnBrk="0" hangingPunct="0">
              <a:defRPr i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i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ru-RU" sz="3000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+mn-cs"/>
              </a:rPr>
              <a:t>Спасибо за внимание!</a:t>
            </a:r>
            <a:endParaRPr lang="en-US" sz="3000" dirty="0">
              <a:solidFill>
                <a:schemeClr val="accent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7203781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Другая 2">
      <a:dk1>
        <a:sysClr val="windowText" lastClr="000000"/>
      </a:dk1>
      <a:lt1>
        <a:sysClr val="window" lastClr="FFFFFF"/>
      </a:lt1>
      <a:dk2>
        <a:srgbClr val="564B3C"/>
      </a:dk2>
      <a:lt2>
        <a:srgbClr val="ECEDD1"/>
      </a:lt2>
      <a:accent1>
        <a:srgbClr val="93A299"/>
      </a:accent1>
      <a:accent2>
        <a:srgbClr val="CF543F"/>
      </a:accent2>
      <a:accent3>
        <a:srgbClr val="B5AE53"/>
      </a:accent3>
      <a:accent4>
        <a:srgbClr val="848058"/>
      </a:accent4>
      <a:accent5>
        <a:srgbClr val="E8B54D"/>
      </a:accent5>
      <a:accent6>
        <a:srgbClr val="786C71"/>
      </a:accent6>
      <a:hlink>
        <a:srgbClr val="00843B"/>
      </a:hlink>
      <a:folHlink>
        <a:srgbClr val="B2B2B2"/>
      </a:folHlink>
    </a:clrScheme>
    <a:fontScheme name="Требушет / Джорджия">
      <a:majorFont>
        <a:latin typeface="Trebuchet MS"/>
        <a:ea typeface=""/>
        <a:cs typeface=""/>
      </a:majorFont>
      <a:minorFont>
        <a:latin typeface="Georgia"/>
        <a:ea typeface=""/>
        <a:cs typeface=""/>
      </a:minorFont>
    </a:fontScheme>
    <a:fmtScheme name="Метро">
      <a:fillStyleLst>
        <a:solidFill>
          <a:schemeClr val="phClr"/>
        </a:solidFill>
        <a:gradFill rotWithShape="1">
          <a:gsLst>
            <a:gs pos="0">
              <a:schemeClr val="phClr">
                <a:tint val="25000"/>
                <a:satMod val="125000"/>
              </a:schemeClr>
            </a:gs>
            <a:gs pos="40000">
              <a:schemeClr val="phClr">
                <a:tint val="55000"/>
                <a:satMod val="130000"/>
              </a:schemeClr>
            </a:gs>
            <a:gs pos="50000">
              <a:schemeClr val="phClr">
                <a:tint val="59000"/>
                <a:satMod val="130000"/>
              </a:schemeClr>
            </a:gs>
            <a:gs pos="65000">
              <a:schemeClr val="phClr">
                <a:tint val="55000"/>
                <a:satMod val="130000"/>
              </a:schemeClr>
            </a:gs>
            <a:gs pos="100000">
              <a:schemeClr val="phClr">
                <a:tint val="20000"/>
                <a:satMod val="12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48000"/>
                <a:satMod val="138000"/>
              </a:schemeClr>
            </a:gs>
            <a:gs pos="25000">
              <a:schemeClr val="phClr">
                <a:tint val="85000"/>
              </a:schemeClr>
            </a:gs>
            <a:gs pos="40000">
              <a:schemeClr val="phClr">
                <a:tint val="92000"/>
              </a:schemeClr>
            </a:gs>
            <a:gs pos="50000">
              <a:schemeClr val="phClr">
                <a:tint val="93000"/>
              </a:schemeClr>
            </a:gs>
            <a:gs pos="60000">
              <a:schemeClr val="phClr">
                <a:tint val="92000"/>
              </a:schemeClr>
            </a:gs>
            <a:gs pos="75000">
              <a:schemeClr val="phClr">
                <a:tint val="83000"/>
                <a:satMod val="108000"/>
              </a:schemeClr>
            </a:gs>
            <a:gs pos="100000">
              <a:schemeClr val="phClr">
                <a:tint val="48000"/>
                <a:satMod val="150000"/>
              </a:schemeClr>
            </a:gs>
          </a:gsLst>
          <a:lin ang="5400000" scaled="0"/>
        </a:gradFill>
      </a:fillStyleLst>
      <a:lnStyleLst>
        <a:ln w="12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alpha val="45000"/>
                <a:satMod val="120000"/>
              </a:schemeClr>
            </a:glow>
          </a:effectLst>
        </a:effectStyle>
        <a:effectStyle>
          <a:effectLst>
            <a:glow rad="63500">
              <a:schemeClr val="phClr">
                <a:alpha val="45000"/>
                <a:satMod val="120000"/>
              </a:schemeClr>
            </a:glo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>
            <a:bevelT w="0" h="0"/>
            <a:contourClr>
              <a:schemeClr val="phClr">
                <a:tint val="70000"/>
              </a:schemeClr>
            </a:contourClr>
          </a:sp3d>
        </a:effectStyle>
        <a:effectStyle>
          <a:effectLst>
            <a:glow rad="101500">
              <a:schemeClr val="phClr">
                <a:alpha val="42000"/>
                <a:satMod val="120000"/>
              </a:schemeClr>
            </a:glow>
          </a:effectLst>
          <a:scene3d>
            <a:camera prst="orthographicFront" fov="0">
              <a:rot lat="0" lon="0" rev="0"/>
            </a:camera>
            <a:lightRig rig="glow" dir="t">
              <a:rot lat="0" lon="0" rev="4800000"/>
            </a:lightRig>
          </a:scene3d>
          <a:sp3d prstMaterial="powder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3315</TotalTime>
  <Words>1445</Words>
  <Application>Microsoft Office PowerPoint</Application>
  <PresentationFormat>Широкоэкранный</PresentationFormat>
  <Paragraphs>226</Paragraphs>
  <Slides>28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28</vt:i4>
      </vt:variant>
    </vt:vector>
  </HeadingPairs>
  <TitlesOfParts>
    <vt:vector size="35" baseType="lpstr">
      <vt:lpstr>Arial</vt:lpstr>
      <vt:lpstr>Calibri</vt:lpstr>
      <vt:lpstr>Consolas</vt:lpstr>
      <vt:lpstr>Georgia</vt:lpstr>
      <vt:lpstr>Trebuchet MS</vt:lpstr>
      <vt:lpstr>Wingdings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Антон</dc:creator>
  <cp:lastModifiedBy>Антон Чугунов</cp:lastModifiedBy>
  <cp:revision>238</cp:revision>
  <dcterms:created xsi:type="dcterms:W3CDTF">2010-04-27T11:58:13Z</dcterms:created>
  <dcterms:modified xsi:type="dcterms:W3CDTF">2025-10-01T08:33:23Z</dcterms:modified>
</cp:coreProperties>
</file>