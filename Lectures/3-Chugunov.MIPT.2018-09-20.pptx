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312" r:id="rId2"/>
    <p:sldId id="259" r:id="rId3"/>
    <p:sldId id="271" r:id="rId4"/>
    <p:sldId id="272" r:id="rId5"/>
    <p:sldId id="330" r:id="rId6"/>
    <p:sldId id="273" r:id="rId7"/>
    <p:sldId id="326" r:id="rId8"/>
    <p:sldId id="274" r:id="rId9"/>
    <p:sldId id="275" r:id="rId10"/>
    <p:sldId id="327" r:id="rId11"/>
    <p:sldId id="277" r:id="rId12"/>
    <p:sldId id="278" r:id="rId13"/>
    <p:sldId id="279" r:id="rId14"/>
    <p:sldId id="328" r:id="rId15"/>
    <p:sldId id="306" r:id="rId16"/>
    <p:sldId id="307" r:id="rId17"/>
    <p:sldId id="308" r:id="rId18"/>
    <p:sldId id="309" r:id="rId19"/>
    <p:sldId id="332" r:id="rId20"/>
    <p:sldId id="336" r:id="rId21"/>
    <p:sldId id="310" r:id="rId22"/>
    <p:sldId id="329" r:id="rId23"/>
    <p:sldId id="331" r:id="rId24"/>
    <p:sldId id="337" r:id="rId25"/>
    <p:sldId id="338" r:id="rId26"/>
    <p:sldId id="333" r:id="rId27"/>
    <p:sldId id="334" r:id="rId28"/>
    <p:sldId id="335" r:id="rId29"/>
    <p:sldId id="293" r:id="rId30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eorgia" pitchFamily="18" charset="0"/>
        <a:ea typeface="+mn-ea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BEF21698-FC29-4AEE-A8FC-E1B7A64CA708}">
          <p14:sldIdLst>
            <p14:sldId id="312"/>
            <p14:sldId id="259"/>
            <p14:sldId id="271"/>
            <p14:sldId id="272"/>
            <p14:sldId id="330"/>
            <p14:sldId id="273"/>
            <p14:sldId id="326"/>
            <p14:sldId id="274"/>
            <p14:sldId id="275"/>
            <p14:sldId id="327"/>
            <p14:sldId id="277"/>
            <p14:sldId id="278"/>
          </p14:sldIdLst>
        </p14:section>
        <p14:section name="Раздел без заголовка" id="{98EE43AF-3680-4A81-8A01-24FCA019DED4}">
          <p14:sldIdLst/>
        </p14:section>
        <p14:section name="Раздел без заголовка" id="{F27BEAB8-3C89-4346-B486-867C38137B1B}">
          <p14:sldIdLst>
            <p14:sldId id="279"/>
            <p14:sldId id="328"/>
            <p14:sldId id="306"/>
            <p14:sldId id="307"/>
            <p14:sldId id="308"/>
            <p14:sldId id="309"/>
            <p14:sldId id="332"/>
            <p14:sldId id="336"/>
            <p14:sldId id="310"/>
            <p14:sldId id="329"/>
            <p14:sldId id="331"/>
            <p14:sldId id="337"/>
            <p14:sldId id="338"/>
            <p14:sldId id="333"/>
            <p14:sldId id="334"/>
            <p14:sldId id="335"/>
            <p14:sldId id="2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27">
          <p15:clr>
            <a:srgbClr val="A4A3A4"/>
          </p15:clr>
        </p15:guide>
        <p15:guide id="2" pos="2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828"/>
    <a:srgbClr val="CCFFFF"/>
    <a:srgbClr val="336699"/>
    <a:srgbClr val="448CA9"/>
    <a:srgbClr val="5FC6F1"/>
    <a:srgbClr val="BCCF17"/>
    <a:srgbClr val="5FF8F1"/>
    <a:srgbClr val="00CC66"/>
    <a:srgbClr val="66FFFF"/>
    <a:srgbClr val="99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84" autoAdjust="0"/>
  </p:normalViewPr>
  <p:slideViewPr>
    <p:cSldViewPr>
      <p:cViewPr varScale="1">
        <p:scale>
          <a:sx n="70" d="100"/>
          <a:sy n="70" d="100"/>
        </p:scale>
        <p:origin x="1016" y="52"/>
      </p:cViewPr>
      <p:guideLst>
        <p:guide orient="horz" pos="527"/>
        <p:guide pos="2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B13D8-A60D-47B0-AC7D-ED6F4BD7BBCF}" type="datetimeFigureOut">
              <a:rPr lang="ru-RU" smtClean="0"/>
              <a:t>20.09.2018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D5B228-6F08-47CA-BA1F-30201343BAC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3721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D5B228-6F08-47CA-BA1F-30201343BAC0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908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8768CB-FF07-4957-8F04-A857B66DD236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68AA814-C8C6-4217-9B40-C128ACB5CB2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2004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843063-D736-4C25-89EB-EE556E6AA182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425332-9822-4525-B28C-0D3AE9DC822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761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DEAC2B-B556-456E-ADA4-6EB0A095807D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088B0B-BD04-43CF-A720-C389A7D2420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37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6AF90F-C566-4417-9397-CEF163D55471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EEB065-2079-4EC1-921E-C4A6A0C5B8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285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54F8-1BF9-4683-B656-3A88547DEDDE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C8F9C9-72FC-41FC-A357-AEA1B4347E9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1657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2470F-1283-492B-ADF6-0406CB2F5430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0D29DB-B74D-4A92-AC71-9130648E2BF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6212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A9BB1-E405-4268-A388-837F2ACCC321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66F14-DF8B-4696-A9C2-69B5A7727B1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7972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0B905-C717-4E97-BA8F-9A744BB62A78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2620EE-A8E9-4686-8872-F08E9DBBBB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540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smtClean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C6DEE9-572C-4908-B72C-3364F6E8C73C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B3597B-C3A2-4CE4-8A55-6F8E245C889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6876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CE90D9-3113-4E7C-9883-E686B5E48018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B50A90-16EF-40C4-A67F-92807742420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839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3C8F8D-1EBD-460C-B956-DA6611AF4057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D602C-32E3-47D6-AAF3-670D1428164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0745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52E8F3-F39E-491A-B87C-B33B40487753}" type="datetimeFigureOut">
              <a:rPr lang="ru-RU"/>
              <a:pPr>
                <a:defRPr/>
              </a:pPr>
              <a:t>20.09.2018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4877C75-F312-49DC-AA1A-6D44C2C87A0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wmf"/><Relationship Id="rId5" Type="http://schemas.openxmlformats.org/officeDocument/2006/relationships/hyperlink" Target="http://ibch.ru/" TargetMode="External"/><Relationship Id="rId4" Type="http://schemas.openxmlformats.org/officeDocument/2006/relationships/hyperlink" Target="http://model.nmr.ru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bit.ly/BM-InSilico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12" Type="http://schemas.openxmlformats.org/officeDocument/2006/relationships/hyperlink" Target="http://bit.ly/BM-InSilico" TargetMode="External"/><Relationship Id="rId2" Type="http://schemas.openxmlformats.org/officeDocument/2006/relationships/hyperlink" Target="http://www.ncbi.nlm.nih.gov/genbank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8.png"/><Relationship Id="rId5" Type="http://schemas.openxmlformats.org/officeDocument/2006/relationships/hyperlink" Target="https://www.uniprot.org/" TargetMode="External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hyperlink" Target="https://www.rcsb.org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bit.ly/BM-Sequencing" TargetMode="External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bit.ly/BM-Proteomics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BM-StructBio" TargetMode="External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BM-InSilico" TargetMode="External"/><Relationship Id="rId2" Type="http://schemas.openxmlformats.org/officeDocument/2006/relationships/image" Target="../media/image31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jpeg"/><Relationship Id="rId3" Type="http://schemas.openxmlformats.org/officeDocument/2006/relationships/image" Target="../media/image56.jpeg"/><Relationship Id="rId7" Type="http://schemas.openxmlformats.org/officeDocument/2006/relationships/image" Target="../media/image60.jpe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jpeg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66" y="2564904"/>
            <a:ext cx="5975648" cy="448173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58517" cy="2376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555776" y="1700808"/>
            <a:ext cx="66247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3200" dirty="0" err="1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  <a:t>Биоинформатика</a:t>
            </a:r>
            <a:r>
              <a:rPr lang="ru-RU" sz="32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  <a:t>:</a:t>
            </a:r>
            <a:r>
              <a:rPr lang="en-US" sz="32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  <a:t/>
            </a:r>
            <a:br>
              <a:rPr lang="en-US" sz="32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</a:br>
            <a:r>
              <a:rPr lang="ru-RU" sz="320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  <a:t>«</a:t>
            </a:r>
            <a:r>
              <a:rPr lang="ru-RU" sz="3200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/>
              </a:rPr>
              <a:t>текстовая» и «структурная». Базы данных</a:t>
            </a:r>
            <a:endParaRPr lang="ru-RU" sz="32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347864" y="3356992"/>
            <a:ext cx="5688632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i="1" dirty="0">
                <a:solidFill>
                  <a:srgbClr val="C00000"/>
                </a:solidFill>
                <a:cs typeface="Arial" charset="0"/>
              </a:rPr>
              <a:t>Чугунов Антон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solidFill>
                  <a:prstClr val="black">
                    <a:lumMod val="65000"/>
                    <a:lumOff val="35000"/>
                  </a:prstClr>
                </a:solidFill>
                <a:cs typeface="Arial" charset="0"/>
              </a:rPr>
              <a:t>Лаборатория моделирования </a:t>
            </a:r>
            <a:r>
              <a:rPr lang="ru-RU" sz="1600" dirty="0" err="1">
                <a:solidFill>
                  <a:prstClr val="black">
                    <a:lumMod val="65000"/>
                    <a:lumOff val="35000"/>
                  </a:prstClr>
                </a:solidFill>
                <a:cs typeface="Arial" charset="0"/>
              </a:rPr>
              <a:t>биомолекулярных</a:t>
            </a:r>
            <a:r>
              <a:rPr lang="ru-RU" sz="1600" dirty="0">
                <a:solidFill>
                  <a:prstClr val="black">
                    <a:lumMod val="65000"/>
                    <a:lumOff val="35000"/>
                  </a:prstClr>
                </a:solidFill>
                <a:cs typeface="Arial" charset="0"/>
              </a:rPr>
              <a:t> систем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solidFill>
                  <a:prstClr val="black"/>
                </a:solidFill>
                <a:cs typeface="Arial" charset="0"/>
                <a:hlinkClick r:id="rId4"/>
              </a:rPr>
              <a:t>http://model.nmr.ru</a:t>
            </a:r>
            <a:r>
              <a:rPr lang="ru-RU" sz="1600" dirty="0">
                <a:solidFill>
                  <a:prstClr val="black"/>
                </a:solidFill>
                <a:cs typeface="Arial" charset="0"/>
              </a:rPr>
              <a:t>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solidFill>
                  <a:prstClr val="black">
                    <a:lumMod val="65000"/>
                    <a:lumOff val="35000"/>
                  </a:prstClr>
                </a:solidFill>
                <a:cs typeface="Arial" charset="0"/>
              </a:rPr>
              <a:t>Институт биоорганической химии РАН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1600" dirty="0">
                <a:solidFill>
                  <a:prstClr val="black"/>
                </a:solidFill>
                <a:cs typeface="Arial" charset="0"/>
                <a:hlinkClick r:id="rId5"/>
              </a:rPr>
              <a:t>http://ibch.ru</a:t>
            </a:r>
            <a:endParaRPr lang="ru-RU" sz="1600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dirty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dirty="0" smtClean="0">
              <a:solidFill>
                <a:prstClr val="black"/>
              </a:solidFill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ru-RU" dirty="0">
              <a:solidFill>
                <a:prstClr val="black"/>
              </a:solidFill>
              <a:cs typeface="Arial" charset="0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Долгопрудный, МФТИ, </a:t>
            </a:r>
            <a:r>
              <a:rPr lang="ru-RU" sz="1400" dirty="0" smtClean="0">
                <a:solidFill>
                  <a:schemeClr val="accent6">
                    <a:lumMod val="75000"/>
                  </a:schemeClr>
                </a:solidFill>
              </a:rPr>
              <a:t>20 сентября 2018 </a:t>
            </a:r>
            <a:r>
              <a:rPr lang="ru-RU" sz="1400" dirty="0">
                <a:solidFill>
                  <a:schemeClr val="accent6">
                    <a:lumMod val="75000"/>
                  </a:schemeClr>
                </a:solidFill>
              </a:rPr>
              <a:t>г.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7127" y="3356992"/>
            <a:ext cx="526722" cy="1033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292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" y="1700213"/>
            <a:ext cx="9123362" cy="548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908050"/>
            <a:ext cx="6347048" cy="4897214"/>
          </a:xfrm>
        </p:spPr>
        <p:txBody>
          <a:bodyPr/>
          <a:lstStyle/>
          <a:p>
            <a:pPr eaLnBrk="1" hangingPunct="1">
              <a:buFont typeface="+mj-lt"/>
              <a:buAutoNum type="arabicPeriod"/>
              <a:defRPr/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Что такое </a:t>
            </a:r>
            <a:r>
              <a:rPr lang="ru-RU" sz="2400" dirty="0" err="1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биоинформатика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?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Большие базы «сухой биологии»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Последовательности генов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Аминокислотные последовательности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Структуры белков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Выравнивание </a:t>
            </a: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последовательностей</a:t>
            </a: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Поиск последовательностей в базах</a:t>
            </a:r>
            <a:endParaRPr lang="ru-RU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hangingPunct="1">
              <a:buFont typeface="+mj-lt"/>
              <a:buAutoNum type="arabicPeriod"/>
              <a:defRPr/>
            </a:pPr>
            <a:r>
              <a:rPr lang="ru-RU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Филогенетические деревья</a:t>
            </a: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План лекции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2200" y="-66261"/>
            <a:ext cx="2771800" cy="277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652316">
            <a:off x="-280758" y="3642758"/>
            <a:ext cx="9318627" cy="6464797"/>
          </a:xfrm>
          <a:prstGeom prst="rect">
            <a:avLst/>
          </a:prstGeom>
          <a:effectLst>
            <a:softEdge rad="635000"/>
          </a:effectLst>
        </p:spPr>
      </p:pic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Что такое «</a:t>
            </a:r>
            <a:r>
              <a:rPr lang="ru-RU" sz="3000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биоинформатика</a:t>
            </a: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»?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807473" y="0"/>
            <a:ext cx="3373039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I.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Введение в «сухую биологию»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468312" y="1052736"/>
            <a:ext cx="828015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/>
            <a:r>
              <a:rPr lang="ru-RU" dirty="0" err="1" smtClean="0">
                <a:solidFill>
                  <a:srgbClr val="00B050"/>
                </a:solidFill>
                <a:latin typeface="+mn-lt"/>
              </a:rPr>
              <a:t>БИО</a:t>
            </a:r>
            <a:r>
              <a:rPr lang="ru-RU" dirty="0" err="1" smtClean="0">
                <a:latin typeface="+mn-lt"/>
              </a:rPr>
              <a:t>логия</a:t>
            </a:r>
            <a:r>
              <a:rPr lang="ru-RU" dirty="0" smtClean="0">
                <a:latin typeface="+mn-lt"/>
              </a:rPr>
              <a:t> + </a:t>
            </a:r>
            <a:r>
              <a:rPr lang="ru-RU" dirty="0" smtClean="0">
                <a:solidFill>
                  <a:srgbClr val="00B050"/>
                </a:solidFill>
                <a:latin typeface="+mn-lt"/>
              </a:rPr>
              <a:t>ИНФОРМАТИКА</a:t>
            </a:r>
            <a:r>
              <a:rPr lang="ru-RU" dirty="0" smtClean="0">
                <a:latin typeface="+mn-lt"/>
              </a:rPr>
              <a:t>: </a:t>
            </a:r>
            <a:r>
              <a:rPr lang="en-US" dirty="0" smtClean="0">
                <a:latin typeface="+mn-lt"/>
              </a:rPr>
              <a:t>“computer science” </a:t>
            </a:r>
            <a:r>
              <a:rPr lang="ru-RU" dirty="0" smtClean="0">
                <a:latin typeface="+mn-lt"/>
              </a:rPr>
              <a:t>в биологии</a:t>
            </a:r>
            <a:endParaRPr lang="ru-RU" dirty="0">
              <a:latin typeface="+mn-lt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70644" y="1780460"/>
            <a:ext cx="2063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+mj-lt"/>
              </a:rPr>
              <a:t>Структурная</a:t>
            </a:r>
          </a:p>
          <a:p>
            <a:r>
              <a:rPr lang="ru-RU" dirty="0" err="1" smtClean="0">
                <a:latin typeface="+mj-lt"/>
              </a:rPr>
              <a:t>биоинформатика</a:t>
            </a:r>
            <a:endParaRPr lang="ru-RU" dirty="0">
              <a:latin typeface="+mj-lt"/>
            </a:endParaRPr>
          </a:p>
        </p:txBody>
      </p:sp>
      <p:pic>
        <p:nvPicPr>
          <p:cNvPr id="7" name="Picture 5"/>
          <p:cNvPicPr/>
          <p:nvPr/>
        </p:nvPicPr>
        <p:blipFill rotWithShape="1">
          <a:blip r:embed="rId3"/>
          <a:srcRect t="19153"/>
          <a:stretch/>
        </p:blipFill>
        <p:spPr>
          <a:xfrm>
            <a:off x="468312" y="2438033"/>
            <a:ext cx="1943448" cy="2781100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470644" y="5387385"/>
            <a:ext cx="166776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Молекулярное</a:t>
            </a:r>
            <a:br>
              <a:rPr lang="ru-RU" sz="1400" dirty="0" smtClean="0">
                <a:latin typeface="+mj-lt"/>
              </a:rPr>
            </a:br>
            <a:r>
              <a:rPr lang="ru-RU" sz="1400" dirty="0" smtClean="0">
                <a:latin typeface="+mj-lt"/>
              </a:rPr>
              <a:t>моделирование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Дизайн белков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Драг-дизайн</a:t>
            </a:r>
            <a:endParaRPr lang="ru-RU" sz="1400" dirty="0">
              <a:latin typeface="+mj-l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27345" y="1780460"/>
            <a:ext cx="2063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+mj-lt"/>
              </a:rPr>
              <a:t>«Текстовая»</a:t>
            </a:r>
          </a:p>
          <a:p>
            <a:r>
              <a:rPr lang="ru-RU" dirty="0" err="1" smtClean="0">
                <a:latin typeface="+mj-lt"/>
              </a:rPr>
              <a:t>биоинформатика</a:t>
            </a:r>
            <a:endParaRPr lang="ru-RU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843808" y="5387385"/>
            <a:ext cx="252027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«Биологические тексты»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Компьютерная </a:t>
            </a:r>
            <a:r>
              <a:rPr lang="ru-RU" sz="1400" dirty="0" err="1" smtClean="0">
                <a:latin typeface="+mj-lt"/>
              </a:rPr>
              <a:t>геномика</a:t>
            </a:r>
            <a:endParaRPr lang="ru-RU" sz="1400" dirty="0" smtClean="0">
              <a:latin typeface="+mj-lt"/>
            </a:endParaRP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Молекулярная эволюция</a:t>
            </a:r>
            <a:endParaRPr lang="ru-RU" sz="1400" dirty="0">
              <a:latin typeface="+mj-lt"/>
            </a:endParaRPr>
          </a:p>
        </p:txBody>
      </p:sp>
      <p:pic>
        <p:nvPicPr>
          <p:cNvPr id="13" name="Picture 3"/>
          <p:cNvPicPr/>
          <p:nvPr/>
        </p:nvPicPr>
        <p:blipFill rotWithShape="1">
          <a:blip r:embed="rId4"/>
          <a:srcRect r="37673"/>
          <a:stretch/>
        </p:blipFill>
        <p:spPr>
          <a:xfrm>
            <a:off x="2927345" y="2440399"/>
            <a:ext cx="1935019" cy="2789640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757403" y="1780460"/>
            <a:ext cx="20633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+mj-lt"/>
              </a:rPr>
              <a:t>Алгоритмическая</a:t>
            </a:r>
          </a:p>
          <a:p>
            <a:r>
              <a:rPr lang="ru-RU" dirty="0" err="1" smtClean="0">
                <a:latin typeface="+mj-lt"/>
              </a:rPr>
              <a:t>биоинформатика</a:t>
            </a:r>
            <a:endParaRPr lang="ru-RU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73866" y="5387385"/>
            <a:ext cx="293058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Моделирование сложных систем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Генные сети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Алгоритмы </a:t>
            </a:r>
            <a:r>
              <a:rPr lang="ru-RU" sz="1400" dirty="0" err="1" smtClean="0">
                <a:latin typeface="+mj-lt"/>
              </a:rPr>
              <a:t>биоинформатики</a:t>
            </a:r>
            <a:endParaRPr lang="ru-RU" sz="1400" dirty="0" smtClean="0">
              <a:latin typeface="+mj-lt"/>
            </a:endParaRP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и т.д.</a:t>
            </a:r>
            <a:endParaRPr lang="ru-RU" sz="1400" dirty="0">
              <a:latin typeface="+mj-lt"/>
            </a:endParaRPr>
          </a:p>
        </p:txBody>
      </p:sp>
      <p:pic>
        <p:nvPicPr>
          <p:cNvPr id="17" name="Picture 2" descr="ÐÐ°ÑÑÐ¸Ð½ÐºÐ¸ Ð¿Ð¾ Ð·Ð°Ð¿ÑÐ¾ÑÑ bioinformatics gene network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7403" y="2438033"/>
            <a:ext cx="2775037" cy="2775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61829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  <p:bldP spid="10" grpId="0"/>
      <p:bldP spid="12" grpId="0"/>
      <p:bldP spid="14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Разновидности </a:t>
            </a:r>
            <a:r>
              <a:rPr lang="ru-RU" sz="3000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биоинформатики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80222" y="0"/>
            <a:ext cx="34002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I. Введение в «сухую биологию»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457200" y="1052736"/>
            <a:ext cx="8229600" cy="1873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</a:pPr>
            <a:r>
              <a:rPr lang="ru-RU" sz="2400" dirty="0" smtClean="0"/>
              <a:t>Клиническая </a:t>
            </a:r>
            <a:r>
              <a:rPr lang="ru-RU" sz="2400" dirty="0" err="1" smtClean="0"/>
              <a:t>биоинформатика</a:t>
            </a:r>
            <a:endParaRPr lang="ru-RU" sz="2400" dirty="0" smtClean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Структурная </a:t>
            </a:r>
            <a:r>
              <a:rPr lang="ru-RU" sz="2400" dirty="0" err="1"/>
              <a:t>геномика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Функциональная </a:t>
            </a:r>
            <a:r>
              <a:rPr lang="ru-RU" sz="2400" dirty="0" err="1"/>
              <a:t>геномика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 err="1"/>
              <a:t>Фармакогеномика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Клиническая </a:t>
            </a:r>
            <a:r>
              <a:rPr lang="ru-RU" sz="2400" dirty="0" err="1"/>
              <a:t>протеомика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Функциональная </a:t>
            </a:r>
            <a:r>
              <a:rPr lang="ru-RU" sz="2400" dirty="0" err="1"/>
              <a:t>протеомика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Структурная </a:t>
            </a:r>
            <a:r>
              <a:rPr lang="ru-RU" sz="2400" dirty="0" err="1"/>
              <a:t>протеомика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2400" dirty="0"/>
              <a:t>Другие «</a:t>
            </a:r>
            <a:r>
              <a:rPr lang="ru-RU" sz="2400" dirty="0" err="1"/>
              <a:t>омики</a:t>
            </a:r>
            <a:r>
              <a:rPr lang="ru-RU" sz="2400" dirty="0"/>
              <a:t>» </a:t>
            </a:r>
          </a:p>
          <a:p>
            <a:pPr marL="0" indent="0" eaLnBrk="1" hangingPunct="1">
              <a:lnSpc>
                <a:spcPct val="90000"/>
              </a:lnSpc>
              <a:buNone/>
            </a:pPr>
            <a:endParaRPr lang="ru-RU" sz="1600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sz="1600" dirty="0" smtClean="0"/>
              <a:t>…и любые </a:t>
            </a:r>
            <a:r>
              <a:rPr lang="ru-RU" sz="1600" dirty="0"/>
              <a:t>направления современной биологии и медицины, где необходимо систематизировать и анализировать данные биохимических экспериментов</a:t>
            </a:r>
          </a:p>
          <a:p>
            <a:pPr eaLnBrk="1" hangingPunct="1">
              <a:lnSpc>
                <a:spcPct val="90000"/>
              </a:lnSpc>
            </a:pPr>
            <a:endParaRPr lang="ru-RU" sz="2400" dirty="0" smtClean="0"/>
          </a:p>
        </p:txBody>
      </p:sp>
    </p:spTree>
    <p:extLst>
      <p:ext uri="{BB962C8B-B14F-4D97-AF65-F5344CB8AC3E}">
        <p14:creationId xmlns:p14="http://schemas.microsoft.com/office/powerpoint/2010/main" val="3232446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Немного истории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80222" y="0"/>
            <a:ext cx="34002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I. Введение в «сухую биологию»</a:t>
            </a:r>
          </a:p>
        </p:txBody>
      </p:sp>
      <p:pic>
        <p:nvPicPr>
          <p:cNvPr id="13314" name="Picture 2" descr="https://biomolecula.ru/img/content/2301/01.istorija-suhoj-biologii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2" y="1106861"/>
            <a:ext cx="9196376" cy="5035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4716016" y="6408322"/>
            <a:ext cx="4370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solidFill>
                  <a:srgbClr val="00B050"/>
                </a:solidFill>
                <a:latin typeface="+mj-lt"/>
              </a:rPr>
              <a:t>Биомолекула:</a:t>
            </a:r>
            <a:r>
              <a:rPr lang="ru-RU" dirty="0" smtClean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  <a:hlinkClick r:id="rId4"/>
              </a:rPr>
              <a:t>http://</a:t>
            </a:r>
            <a:r>
              <a:rPr lang="en-US" dirty="0" smtClean="0">
                <a:solidFill>
                  <a:srgbClr val="00B050"/>
                </a:solidFill>
                <a:hlinkClick r:id="rId4"/>
              </a:rPr>
              <a:t>bit.ly/BM-InSilico</a:t>
            </a:r>
            <a:r>
              <a:rPr lang="ru-RU" dirty="0" smtClean="0">
                <a:solidFill>
                  <a:srgbClr val="00B050"/>
                </a:solidFill>
              </a:rPr>
              <a:t> </a:t>
            </a:r>
            <a:endParaRPr lang="ru-R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34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Большие базы «сухой биологии»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74048" y="0"/>
            <a:ext cx="3706464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II.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Большие базы «сухой» биологии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70644" y="1143028"/>
            <a:ext cx="237411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+mj-lt"/>
              </a:rPr>
              <a:t>Genbank</a:t>
            </a:r>
            <a:endParaRPr lang="en-US" dirty="0" smtClean="0">
              <a:latin typeface="+mj-lt"/>
            </a:endParaRPr>
          </a:p>
          <a:p>
            <a:r>
              <a:rPr lang="en-US" sz="1200" dirty="0" smtClean="0">
                <a:latin typeface="+mj-lt"/>
                <a:hlinkClick r:id="rId2"/>
              </a:rPr>
              <a:t>www.ncbi.nlm.nih.gov/genbank</a:t>
            </a:r>
            <a:endParaRPr lang="ru-RU" sz="1200" dirty="0">
              <a:latin typeface="+mj-l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70644" y="2699465"/>
            <a:ext cx="27332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«Склад» генетических данных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Сотни миллионов последовательностей генов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Полные геномы</a:t>
            </a:r>
            <a:endParaRPr lang="ru-RU" sz="1400" dirty="0">
              <a:latin typeface="+mj-lt"/>
            </a:endParaRP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9" y="1727858"/>
            <a:ext cx="2533746" cy="9090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529" y="4343137"/>
            <a:ext cx="2533746" cy="18138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249714" y="4127693"/>
            <a:ext cx="130195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latin typeface="+mj-lt"/>
              </a:rPr>
              <a:t># </a:t>
            </a:r>
            <a:r>
              <a:rPr lang="ru-RU" sz="800" dirty="0" smtClean="0">
                <a:latin typeface="+mj-lt"/>
              </a:rPr>
              <a:t>последовательностей</a:t>
            </a:r>
            <a:endParaRPr lang="ru-RU" sz="800" dirty="0">
              <a:latin typeface="+mj-l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791766" y="5422426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 smtClean="0">
                <a:solidFill>
                  <a:srgbClr val="0070C0"/>
                </a:solidFill>
                <a:latin typeface="+mj-lt"/>
              </a:rPr>
              <a:t>— </a:t>
            </a:r>
            <a:r>
              <a:rPr lang="en-US" sz="800" dirty="0" err="1" smtClean="0">
                <a:solidFill>
                  <a:srgbClr val="0070C0"/>
                </a:solidFill>
                <a:latin typeface="+mj-lt"/>
              </a:rPr>
              <a:t>GenBank</a:t>
            </a:r>
            <a:endParaRPr lang="en-US" sz="800" dirty="0" smtClean="0">
              <a:solidFill>
                <a:srgbClr val="0070C0"/>
              </a:solidFill>
              <a:latin typeface="+mj-lt"/>
            </a:endParaRPr>
          </a:p>
          <a:p>
            <a:r>
              <a:rPr lang="en-US" sz="800" dirty="0" smtClean="0">
                <a:solidFill>
                  <a:srgbClr val="C00000"/>
                </a:solidFill>
                <a:latin typeface="+mj-lt"/>
              </a:rPr>
              <a:t>—</a:t>
            </a:r>
            <a:r>
              <a:rPr lang="en-US" sz="800" dirty="0">
                <a:solidFill>
                  <a:srgbClr val="C00000"/>
                </a:solidFill>
                <a:latin typeface="+mj-lt"/>
              </a:rPr>
              <a:t> </a:t>
            </a:r>
            <a:r>
              <a:rPr lang="ru-RU" sz="800" dirty="0" smtClean="0">
                <a:solidFill>
                  <a:srgbClr val="C00000"/>
                </a:solidFill>
                <a:latin typeface="+mj-lt"/>
              </a:rPr>
              <a:t>Полные геномы</a:t>
            </a:r>
            <a:endParaRPr lang="ru-RU" sz="8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3205754" y="1143028"/>
            <a:ext cx="134017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+mj-lt"/>
              </a:rPr>
              <a:t>Uniprot</a:t>
            </a:r>
            <a:endParaRPr lang="en-US" dirty="0" smtClean="0">
              <a:latin typeface="+mj-lt"/>
            </a:endParaRPr>
          </a:p>
          <a:p>
            <a:r>
              <a:rPr lang="en-US" sz="1200" dirty="0" smtClean="0">
                <a:latin typeface="+mj-lt"/>
                <a:hlinkClick r:id="rId5"/>
              </a:rPr>
              <a:t>www.uniprot.org</a:t>
            </a:r>
            <a:endParaRPr lang="ru-RU" sz="1200" dirty="0">
              <a:latin typeface="+mj-lt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205754" y="3002649"/>
            <a:ext cx="27332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«Склад» а</a:t>
            </a:r>
            <a:r>
              <a:rPr lang="en-US" sz="1400" dirty="0" smtClean="0">
                <a:latin typeface="+mj-lt"/>
              </a:rPr>
              <a:t>/</a:t>
            </a:r>
            <a:r>
              <a:rPr lang="ru-RU" sz="1400" dirty="0" smtClean="0">
                <a:latin typeface="+mj-lt"/>
              </a:rPr>
              <a:t>к последовательностей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Курируемый и </a:t>
            </a:r>
            <a:r>
              <a:rPr lang="ru-RU" sz="1400" dirty="0" err="1" smtClean="0">
                <a:latin typeface="+mj-lt"/>
              </a:rPr>
              <a:t>некурируемый</a:t>
            </a:r>
            <a:r>
              <a:rPr lang="ru-RU" sz="1400" dirty="0" smtClean="0">
                <a:latin typeface="+mj-lt"/>
              </a:rPr>
              <a:t> разделы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Подробные аннотации</a:t>
            </a:r>
            <a:endParaRPr lang="ru-RU" sz="1400" dirty="0">
              <a:latin typeface="+mj-lt"/>
            </a:endParaRPr>
          </a:p>
        </p:txBody>
      </p:sp>
      <p:pic>
        <p:nvPicPr>
          <p:cNvPr id="12" name="Рисунок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3848" y="1727857"/>
            <a:ext cx="2641448" cy="125680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5" name="AutoShape 78" descr="data:image/png;base64,iVBORw0KGgoAAAANSUhEUgAAAoAAAAFQCAYAAAAvG8+RAAA+aUlEQVR42u2dCXQUZbq/5+77vu/7Onc7995z94UEQjAnIUQOQXJdhjjx75CAYNBhVJwxKigzuGSYa5IbB3DGo8MxjolRwIWMCBpRIShIQIkBnECikrCThOT9+1ZP9VRXuruquqqT7urnOec7qa6vuqr6V2+lft9anxIAAAAAyCk+hQQAAAAAGEAAAAAAwAACAAAAAAYQAAAAADCAxg4/9amY9EM/9EPS19eXdJuMFiiLztUv4+Pj8tBDD8m//du/yc///M/LD/7gD+bE786Waz3Z5+fmeOk4p2T7tOeZ6Yd/+Ifl137t1+Syyy6TTZs2ZXWcrVq1KiZ/+fLljhr8wA/8gPz0T/+0/OVf/qVUVVXJ22+/nfQcduzYYXzvz/7sz6LrRkdHpaGhQfLy8uSXf/mXDU1/6qd+Sn7jN35D/uZv/kbKysrkpptuysn7LwxxBzz3J90AavrKV76CAcwCbrnlloT/6HLh2mAAs9cA2lN5eblcunQpI69Psu2am5tj8q666iqjYOZVgx/7sR+Tbdu2JTwHNXK63c0332x8PnPmjFHwc7NvDGB2xh0Ec49iAD3eKFp6xABmPr/yK78S81v1AWJ/+GAAMYCZZABNDh06JP/wD/8Qk/fVr341qx4ura2tRouJub6oqMiolXPzfd1u9erVMev/9V//NeE5/Omf/qmxzc6dO43PagSt3507d66h6cWLF+Xw4cPy5S9/WX79138dA5jFcQcYwCkxgJr27t2LAQzJzcH58s8yE03pd77znZi8v//7v8+ah8v27dvlx3/8x6Pr/uVf/kXOnTvn6TinTp2KWf8TP/ETcb9/4MABI/9Xf/VXZWxszFj3+7//+zHf7e/vn/A9rSW8+uqruReyNO4ArSbdAP7FX/yF8be2ttb1RUilBiBenv5zu+uuu+R3f/d35Sd/8ieNEvELL7xgbPvd737X+GemfV20ueTv/u7v5NFHH3U8F60Ru//++40StH7vj/7oj4w+O/FK6u+++64sWbJEPv3pTxv9c370R3/UOJeKigrp7Ox0pZ+WwG+44Qajdk5rB9zy1ltvyWc/+1n5kz/5E+NBoA+XP/7jP5Zrr73WyHNj2lO5UYL4zarxgw8+aJyvfl//rlu3ztP5Ws/ZraZOvzmV3/biiy/KvHnzjAesXgPtM6Q1KdOnT5e6ujrZt29fWmrGnDScDAOY6jmlev/bDZDe86neW0HfP8niUQvHP/dzPxf9/Od//ufy0Ucfeb4u9t//C7/wC3G/f++99xr5+ltMfuRHfiTmu/Z+24nQ/3/md/SaqqamWdR+iWb/RP2saL5uZ35HNXVzbb3eR0Hed2GJuyCfGX/7t38bcwytCbXWilrz9Nk61c9Gv/doun1GqppkvAHU/n/6VzsSm30jJssAajDHG5SiF0DPJ14APPPMM0n3uWjRorjfW7BgQcz3vvGNb8SU6O1JB1jcfffdjr/9iiuu8HwzNzY2TviHbk2ap9sEbQCD+s2LFy+O+/1vfetbgdzMiTRN9ptT+W2qcZD/oL3EvpOGU2EA3Z7TZBnARHGQjvsnWZxZ/xf99m//thw9etTzddH/raaxM9M111wT9/tmX7+2trbout/6rd+K+e5//dd/ySuvvBKtIUxETU1NzPfMJmX9a12v+1LMwSfWmHC6tl7vo6Dvu7DEXZDPDK0EseZv2LAhmrd+/fqYPC30TfWzMZ0GMAifkaomGW8AtSnBDKytW7d6NoBaekz14fDv//7vcvz4cWlqapqQ95//+Z9G3v/+7/9O+E6yff7VX/2VUcLRfjG6bM1raWkxvvP666/H9OXRf6bvvfeenDx50ujUbf3OU089lfR4v/M7v2M0D8WrYYyH/uO1jt5NdL66jflPOYjq8SB/sz6gtAbinnvuiVn/z//8z4E0uSXSNNH+Uv1tWnqz5n3hC18w7gdt2uvq6pL77rvPU3ORl9h3q+FkGsAgrqufpjg3cTAZ90+if/JaY7d//37P1yVe0lGpQ0NDE76r8afnribl/Pnz0fWf//zn4+7nZ37mZ4xasy996UvyzjvvTNifPsjiDfjT2QSs63V0saJ9Ca3rn332WUf9vN5HQd93YYm7IJ8ZAwMDMYZRR56bWA2R1mJZa7On8tnot5tGunyGH00y3gAqOn2ALv/P//yPZwNor9r1cmG0GUD5+OOPE+Zp04R1/S/+4i8m3ad21DbRZWteYWGhsV6bHqzrrdXn+o/Imvff//3fSY/ndWqByy+/3PX56rZB/SMJ8jeb1ed6AyRr0kr1Zk6kaaL9pfrbrE1d9rgKuv9KqhpOpgEM4rp66YxfX1/vOQ4m4/5JZNp0SpYPP/wwEAP4S7/0SxNqXhRzlPGcOXNi1g8PDxsjWJPtUwvj+kAym3kVNVXatGXX5HOf+1z02potJ9ZngSat8bCa0ET6eb2Pgr7vwhJ3QT8zNIbM9Tr9kInZ7SveuU7lszFdBtCvz/CjSVYYwPb29mjVuF2IdBpAfdCYzSP2PL1YJmZfFTf7tHaOtl8cbedXdF4ot1XOWsJ2ezw3aMdut+er5xnUP5Igf3Oy6xbEzZxI00T7S/W3/eM//mNMno7qvO222+TJJ5909aD380/JrYaTaQCDuK5+puNwEweTcf8kO281E9qk6PW6aP9KNSM6h581b+PGjTHfnT17trFem+nioU201113ndH3K9E5WvtzKzNnzoxpzrY2M5tdgMwaD3MksbXA7KSf1/vI6/Zumk7DEHdBPzO0NspaOND7W5+r1ufp008/nbbnhNdnY7oMoF+f4UeTrDCAKsxv/uZvRvsKpGoA9Z+c107nqeQl2+fIyEg0T5ftk4Iq+tftBfXyG9xgP3ay89Uq/KD+kaTrN6fDACbSNNH+Uv1tu3btinng2eO6uLjYkxFMh4bJsDZLxNNN+4d5KawFcV2TTcirDzJt+kzUz9FNHEzG/WPfbuHChTGf/+M//iPhCGCn42gTsjVPO+tba+u0c79eJzdxp831//d//yd/8Ad/ELNP/V9uxd4frKenR372Z3/WmExeawv1r37W9dbtHnjgAVe/y+t95HV7PwYwm+Iu6GeGNr1azaNW9KjhMz/rNbA3z07lszFdBtCvz/CjSVYYQMWcZFj7k6TaBzBeFWsQfYe85GnfB6caQHuJyu2IunSU5pKdb5AlyXT95nQYQK/b+flt+tDVpgodraY1HlqCs+6rtLQ0Y3RyuqZmSTfR/eglnib7t7j97mTcP/bttIBsb4bTWNFmWa+/48KFCwmngjFrbLRfkhfMaWOs/bqsdHd3x+TriEhzLkFrE6O53kwHDx50/bu83kdetk/FfGRj3KXjmbFs2bKYvpYrVqyIfo731pipfDamywD6zfOjSdYYQO3UqGbO2tk00UXQEqM13+zMrH2IptoAWkfO6XK8PoDWvhGatN/NZAW5tY+N0/kG2ZckXb85WZ49lhLNwO/3pvfz2+zYa0G0ZiRTDWBJSUnM9zZv3hyTb3btMJM2L2a7AfRz//iJRzV7M2bMmLD/ePtI9jt0epNED2yzptH+ZiZFDVFvb2/c89VO/NZ96tQqdqy1hL/3e79n/DVHjeoAEOt6Tbq9n/99Xu8jP/ddWOIuHc8MncLIOnhBCxfm53gDmqby2RjUMyPovCCfLxlrAJVp06a5qtL8p3/6p5j8tWvXGiNptGlkqg3gX//1Xxvz9egIKX3DiTXviSeeML7z8ssvx7T3a4ds7X+i/R817d692xiJpv19gg5y7cNjPXai89UbwZyyIYhjp+s3J8szuxWY6bnnnovbLODXAKb623Q+KH0Iag2K1sxoh3ftk2U9hs6jlqkGUPW0fk/nvnz11Vfl7Nmzxl+dL8ya//zzz2e9AfRz//iNR9VVJ4C25ukcYk6vglMS9QE05/rT5nqzpkF/T7xz0uY9PZ4ae635UVOqtXv22kl7H0DFHPRhTaahfP/99+NOp+VWF6/3UdD3XVjiLh3PDEVHPZu1zZp0WZ/hk/mccEsQz4yg8/xoklUGUOe6cWMAH3vssbjbxZtHbLIvWqJ5AHUkj5Wvfe1rrtr20xHkTsfWPB2WHvSx0/Gbk+XdeOONgTbfJNsuld/mtK3+Q9V7IlMNoKKvF4tXa2//HbrdVP4TDfIhnur9E0Q8ajO7PoCt+dXV1Z7iyjoy0+wob86/Zx2tmco+dcqeeINU7DVFWliwYi8s2AcHJNPF630U9H0XlrhLxzND0VHP9u11GqDJfE64JYh7NB15qWqSVQZQS2LWGe+T/SjzjQFaKtXSmnYY9joIJB15eg7qxvUfmvaF+cM//EOjb4u146yJDufWEXX6z1BHQOsF1iYZHcq9cuXKmNfjBRnkis53paV/1U6nW9Ck56rNQJqXrir2oH9zsjytodD5yXTmdLPkmc6+gl5/m25/++23G/la+6Id0HXKDG1C00lM9aEc1L2VLtOkaAn0+uuvN+YE075U+jv0r37W9Zo/1c0oQT/EU7l/gopHbe2wj8LVvlVOBkf/V2rHe21K1vfRau2XifbHMvtpxUP7y+lcgAUFBcb/Nn27gv5/06S1JrNmzTKaphLNuaa1l9bpV3SCaCvWCaP1HtDt3V4fr/dR0PddWOIuHc8Ms4uA9drr9wYHByf1OeGWIO7RdP3vSkWTjDOAAACQWehDRR866XqlFABkHxhAAAAAAAwgAAAAAGAAAQAAAAADCAAAAAAYQAAAAADAAAIAAAAABhAAAAAAMIAAAAAAgAEEAAAAAAwgAAAAAGAAAQAAAAADCAAAAAAYwIzgS1/6UsznL37xi8a6XE5Lly7NeQ3QD/3QD+1I6BdUwgBmgQH0eqHCyHe+8x0CA/3QD/3QDtAvDT4DA4gBzFjef/99AgP90A/90A7QDwOIAQQAAADAAGIAKcUB+qEf+qEdoB8GEAMYDujHgX7oh35oB+iHAcQAUooD9EM/9EM7QD8MIAYQAAAAAAOIAaQUB+iHfuiHdugH2W8Ap02bNiF5yR8fH5eGhgYpLi6WkpISaWpqMtYlwml7v/kYQHfQjwP90A/90A7QL8cNoJ/8trY2qaqqkr6+PiPpcnt7e8rb+83HAFKKQz/0Qz9AO/TDAKbZAFZXV0tnZ2f0sy7X1NSkvL3ffAwgAAAAODI8jAEsLS2VwsJCWbhwobS0tMjY2Jjr/KKiIhkaGop+HhwcNJpnE+G0vd98DCClOPRDP/QDtMsx/S5edL/tJ75BNmwQmTfPOYXZAJqMjIxId3e3UZu2bt061/l5eXkyOjoa/azL+fn5CY/jtL3ffPsFifeSZgwg/wTRD/3QLzfp6upChGzSz42x27fPnZmzJjWAagQDIhSjgPv7+5PWqNnzqQHkAYJ+gH7oh3boF4iZS9XY7d/vfr8BNv2GygAODAxIWVmZ63z6AAIAAOQgXgxdKrV0bo2dV2OZBrLSANbV1UlPT4/RlNrb2yu1tbVSX1/vOr+1tTXpqFz7IBKn7f3mYwApBaMf+qEfoF16DF1Uv1QMnZdaugwxdqE2gB0dHVJZWSkFBQVSUVEhzc3NMmypHnXKt87Lp6mxsTFmXr5k8wbG295vPgbQHczlhH7oh35oBwb6TE+3ocsiM5czBjDdOE0jMxUXBgNIKRj90A/90A4kMhDCg6GL6hdyQ4cBDOmFwQACAEBo8WLOdDSsJgwdBhADSCkY0A/90A/tstTYpdKU62E6FGIPA4gBzHLoB4N+6Id+aJdFBi9DpkQh9jCAGEBKwegH6Id+aBeU0XNj8DJgShRiDwOIAQQAAHBiZMS90Utm8OijhwEEDCClOPRDP/SDDNVOjdr58yLbt4vce697o5clBo/YwwBiALMc+nGgH/qhH9oFiH0uPTV/agLVDGah0SP2MIAYQErBgH7oh35oFw81czqCVqdRsdbu2Zt90Q8DiAHEAAIAQJZjr+1TA6hGkH56+AwMIAaQUhz6AfqhX4i0S1Tb53EaFWIPA4gBxABOKfTjQD/0Qz+0czB8JtT2EXsYQAwgpThAP/RDvxBql8jw5XBtH7EXcgM4bdq0CcnK+Pi4NDQ0SHFxsZSUlEhTU5Oxzm2+Hb/783o8DCAAAKRk+OJtCxAmA5iMtrY2qaqqkr6+PiPpcnt7u+v8oPfn9XgYQEpx6Id+6AemkTO0w/ARexhAZwNYXV0tnZ2d0c+6XFNT4zo/6P15PR4GMD7040A/9EO/nGLPHgwfsYcBtBvA0tJSKSwslIULF0pLS4uMjY1F84uKimRoaCj6eXBw0Gh+dZtvx+/+vB4PA0gpDv3QD/1ymEuXIuZv/nyRrq6Idhg+Yg8D+H1GRkaku7vbqE1bt25ddH1eXp6Mjo5GP+tyfn6+63w7fvfn5Xh6QcyEAQQAyDF0Qmazxu8T8weAAUxCf39/WmvkqAGkFId+gH7oNym8+67ITTfF1PihHbGHAUzAwMCAlJWVRT/TBzCc0I8D/dAP/ULP1q0iDQ1oR+xhAONRV1cnPT09RlNqb2+v1NbWSn19fTS/tbU16ahbp3z7IBO/+3PKxwBSikM/9EM/MHjoIZHnnkM7Yg8DGI+Ojg6prKyUgoICqaiokObmZhm2THZpnXdPU2NjY8J5+eLlJ5tXMJX9OeVjAAEAwGD5cpH33kMHwABOBU7TzEzFhcEAUopDP/RDv5Czd69IebnImTNoR+xhALkwGEAT+nGgH/qhX2g5fz4y8vett9CO2MMAcmEwgJTi0A/90C8nOHlSpKoK7Yg9DCAXBgMIAJAzaL+/m29GB8AAcmEwgJTi0A/90C9neOMNkXvuQTtiDwPIhcEA2qEfB/qhH/qFFp36pbER7Yg9DCAXBgNIKQ790A/9coZNmyIJ7Yg9DCAXBgMIAJAj6Ns/nn8eHQADyIXBAFKKQz/0Q7+cYfXqSD9AtCP2MIBcGAxgLPTjQD/0Q7/QoiOADx9GO2IPA8iFwQBSikM/9EO/nOGzn43MBYh2xB4GkAuDAQQACDkXL4q8/XbkLSD6NhAADCAXBgNIKQ790A/9QkxXV8T4adq3D+2IPQygF5YsWSLTpk2LWaef7cnK+Pi4NDQ0SHFxsZSUlEhTU5OxLhFO2/vNxwC6g34c6Id+6Bca+vtF5s+PmECtBUQ7Yg8D6J4tW7ZIdXV1XAOYjLa2NqmqqpK+vj4j6XJ7e3vK2/vNxwBSikM/9EO/HGPDBpGHH0Y7Yg8D6JXTp09LeXm5HD161LMBVNPY2dkZ/azLNTU1KW/vNx8DCACQQ2iN3yfPr0SDPgAwgElYu3atPP7443ENn34uLS2VwsJCWbhwobS0tMjY2Fg0v6ioSIaGhqKfBwcHjebZRDht7zcfA0gpDv3QD/1yiLNnRT7zGbQj9jCAXnnnnXeMWjWzH12iGr+RkRHp7u42atvWrVsXXZ+Xlyejo6PRz7qcn5+f8HhO2/vNt18QM2EAuYnRD/3QL4ScOCHi0ApkpUv7CULKoF+IDKCavyNHjkQ/OzX59vf3+6qRowaQBwj6AfqhX2DohM+f/zzaEXsYQK/EG+WbzAQODAxIWVlZjIGkDyAAAEwJb70lUleHDoABDMIQWqn75Mbq6ekxmlp7e3ultrZW6uvro/mtra1JR+Xa9+e0vd98DCClOPRDP/TLIV55ReS++9CO2MMABm0AOzo6pLKyUgoKCqSiokKam5tleHg4mm+dl09TY2NjzLx8yeYNjLe933wMoDuYywn90A/9QsHzz8snDwK0I/YwgJluKDPhwmAAKcWhH/qhX0j49rdFvvlNtCP2MICAAQQAyBnU/D31FDoABhAwgJTi0A/90C9naGiINAOjHbGHAQQMoDP040A/9EO/ULB2bWQgCNoRexhAwABSikM/9EO/HEGngNGpYNCO2MMAAgYQACBHuPnmyGTQABhAwABSikM/9EO/HKG6OvI6OLQj9jCAgAF0hn4c6Id+6BcKPvMZkbNn0Y7YwwACBpBSHPqhH/rlBKOjIvPmiVy6hHbEHgYQMIAAADlBX5+Iw7vgAUJpAPfu3StLliwxlj/66CNZvHixzJo1y3hf78mTJ7kiGEBKceiHfugXXnbvFrn7brQj9nLPAOoBX3jhBWO5vr7eeO2amdasWcMVwQAmhH4c6Id+6Jf1PPOMyMMPox2xl3sGsLy8XD7++GNj+dprrzWMX0dHh7z66qtGnle0NtH+7t7x8XFpaGiQ4uJiKSkpkaamJmOd23w7fvfn9XgYQEpx6Id+6BdS1Pw9+yzaEXu5ZwALCgpkdHTUMECFhYWGeTt37pyxTvO8sGXLFqmurp5gANva2qSqqkr6+vqMpMvt7e2u8+343Z/X42EAAQBCyl13RZqBAXLNAM6bN0927txp9AVU42bW+g0ODsqcOXNc7+f06dPGd48ePTrBAKop7OzsjH7W5RpLp1unfDt+9+f1eBhASnHoh37oF1J0DkAdCIJ2xF6uGcBVq1bF7fe3fft2Tyezdu1aefzxx41luwEsKiqSoaGh6Gc1l9r86jbfjt/9eT0eBjA+9ONAP/RDv6zmzTe1H5TIuXNoR+zlngH88MMP5YYbbjBG/mr/Pf2s3HjjjbJnzx5X+3jnnXeMWjWzH53dAObl5RlNyia6nJ+f7zrfjt/9eT0eBpBSHPqhH/qFjF27RObPF3H5nEM7Yi90BjAI1PwdOXIk+jlMNYB6QcyEAQQACJH5e/11tIDcNoCbN2+WK6+8MqYWTPvEab9AN1ibkK3JahDpA0gpDtAP/dAvDOaP2CP2QmEAdQBIPNOmI3rvvPPOlPZprwFsbW1NOurWKT/o/TnlYwDdQT8O9EM/9Ms180fsEXuhMYCLFi0yBoJoM6jVaJ04cULmzp0biAG0zrunqbGxMeG8fPHyg96fUz4GkFIc+qEf+oWEixcjf7WvX0DNvsQe+oXCAGp/OJ3CxW60RkZGZPr06Rkhit0AZsKFwQACAGQ4x4/rXGffT11daAIYQJPLLrvMaAa1G639+/dLaWkpVwQDSCkO/dAP/bIPbdW5/fbvv+XDrAlEO2IPAxhh2bJlxvQvhw8fNgygNgVr+/yCBQtk5cqVXBEMYELox4F+6Id+GYu+41cNoEP3HrQj9nLWAHZ1dRmjf+0jePU1cIcOHeKKYAApxaEf+qFfdmE2+Z44gXbEHgYwGbt37zZqAfVdwJqWLl0q+/bt42pgAAEAsou3346Yv1On0AIwgIABpBSHfugHoddPX+mm5k9NINoRexjAiVjn/Es0ibN9XkAuDAbQDv040A/90C+j+OgjkeuuQztiDwOIAcQAUopDP/SDnNHv4EGRW25BO2IPA+jWDAIGEAAg63nlFZG1a9EBMIBu0EEfY2NjKI8BpBSHfuiHftnN00+LbNiAdsQeBtAN119/vTEHIGAAvUI/DvRDP/TLKNT8qQlEO2IPA+jMtm3bDBOoc/6Njo5yBTCAlOLQD/3QLzvR5l9tBkY7Yg8D6AyDQDCAAAChQAeA6EAQAAzg5BjAzs5OYyJpfXvI3LlzZfXq1XLy5Mmkx7AyPj4uDQ0NUlxcLCUlJdLU1GSsS4TT9n7zMYCU4tAP/dAvC9EpYHQqGLQj9jCAk4O+T3j79u1y5swZOXfunGzcuNFYZzWAyWhra5Oqqirp6+szki63t7envL3ffAygO+jHgX7oh34Zw549IuXlIufPox2xhwF0QzJzlmoT8PlPbkAdXex2P9XV1UYtooku19TUpLy933wMIKU49EM/9Msi+vtF5s+PmEC0I/YwgP4MYG9vb0oG8MKFC/Loo4/KihUrYo5RWlpqmMKFCxdKS0tLzNQzRUVFMjQ0FP08ODhoNM8mwml7v/kYQACALOLhhyMJAAPozvg5Je3Pl8o+58yZIx988MGE/JGREenu7jZq29atWxddn5eXFzMCWZfz8/MTHsdpe7/59gtiJgxgLGqcAf3QD/2mlDfeELniikgt4CRx/PhxAgj9wmkA1SCp+du6davn/WofwPXr1xuDQhLR/8mN6qdGjhrAzIB+HOiHfug3xS420vT75ptoR+xhAFMxgkGjJnDWrFkJ8wcGBqSsrCz6mT6A2Qn9ONAP/dBvStm+XWT1arQj9jCAqaCjYG+44QZjCpdUp4FZtWqV0WdQm1K1du/BBx+M6QNYV1cnPT09Rr5uV1tbK/X19dH81tbWpKNy7efhtL3ffAwgAEAWcM89ERMIgAH0zi233OJ7HsCOjg6prKyUGTNmSHl5uaxdu1ZOnz49IV9NZkVFhTQ3N8vw8HA03zovn6bGxsaYefmSzRsYb3u/+RhASnHoh37ol+FcuBCZ9uXsWbQj9jCAqaATIT/yyCPG1C1OJmiqyIQ3kmAAJ0I/DvRDP/SbMvr6tD8P2hF7GMBU0Row7bMHGEBKceiHfuiXNezeLXL33WhH7GEAU0UHRLz33nsojwEEAMgennmGuf8AA+gHrYrVQRAHDhyImRsPMICU4tAP/dAvY1Hz9+yzaEfsYQBTxWkyaMAAJis8APqhH/pNCXfdFWkGRjtiDwOIAcQAUopDP/SDHNFP527VgSBoR+xhAAEDCACQA4yMiMybp+/xRAvAAPph8+bNcuWVV8a8D1ffjLF3716uCAaQUhz6oR/6ZRYffyxy3XVoR+xhAP2wc+fOuE2+W7ZskTvvvJMrggFMCP040A/90G9KePddEcvbptCO2MMApsCiRYuMV7kNDg7GGMATJ07I3LlzuSIYQEpx6Id+6JdZvPaayJo1aEfsYQD9UFRUFH1tm9UAjoyMyPTp07kiGEAAgMxi82aR5mZ0AAygHy677DLp+95IKqsB3L9/v5SWlnJFMICU4tAP/dAvs3j0UZEnn0Q7Yg8D6Idly5bJkiVL5PDhw4YB1KZgbZ9fsGCBrFy5kiuCAUwI/TjQD/3Qb0r46lf1B6AdsYcB9ENXV5cx+tc+/19BQYEcOnTI1T46OzsNE6nf0X6Dq1evlpMnT0bzx8fHpaGhwXjvcElJiTQ1NRnr3Obb8bs/r8fDAFKKQz/0Q78M4o47RN56C+2IPQygX3bv3m0YuMLCQiMtXbpU9u3b5/r7Wou4fft2OXPmjJw7d042btxorDNpa2szXjenTc2adLm9vd11vh2/+/N6PAwgAEAGccMNIh98gA6AAcw0zp8/bxhJk+rqaqOW0ESXdZ5Bt/l2/O7P6/EwgJTi0A/90C+DuOoqfdCgHbGHAcwkLly4II8++qissMzRpCONh4aGop+1n6E2v7rNt+N3f16PhwGMD/040A/90G8KahhErr4a7Yg9DGAmnbzZf3DOnDnygaV6Pi8vT0Ytr+zRZetbR5zy7fjdn5fj6QUxEwYwFjXOgH7oh36Tij5btAl4Cjl+/DgBhH4YQDvaB3D9+vVGn0ITagABACAQdPCHDgIBwAB6xzrfn3U5SBM4a9as6Gf6AIYT+nGgH/qh36SjzYc6DQzaEXsYQO9oE2hvb29gBlBfJaf706bU/v5+efDBB2P6ALa2tiYddeuUbz9Hv/tzyscAuv0/TD8O9EM/9JtkdAJonQga7Yg9DKB3dJJn+7x/iZIbOjo6pLKyUmbMmCHl5eWydu3a6OvlFOu8e5oaGxsTzssXL99+Hn7355SPAaQUh37oh34Zir4CTl8Fh3bEHgbQOy+//LJh1IIygOkmE84DAwgAkAGsWSPy2mvoABjAMJirbLwwGEBKceiHfug3BWj3onffRTtiDwOIZBjAqYJ+HOiHfug3qVy8KHLddSIff4x2xB4GMIiDvv7667J48eLoq+B0WdcBBpBSHPqhH/plBHv2iMybF0ljY2hH7GEA/R5w165dxqhge98/XYcJxAACAGSE+Zs/X6SrS0fxoQdgAIMwgDonns6Bt2/fPmP+Pk1vv/12dD1gACnFoR/6od+Uoc2+Wuun5g/tiD0MYHAGUJt8de4+O7pO8wADmAj6caAf+qFf2tFX1qkBHB5GO2IPAzgZBvDEiRMYQAwgpTj0Qz/0m1oeflhkwwa0I/YwgEEbQB3wYTYBnz9/3ki6rE3AmgcYQACASUdr/tT8ad+/gQH0AAxg0AZQB3owCAQDSCkO/dAP/TIGbe7VZl+t+ctA80fsoV8oDKBpArUW0JwGRpcxfxhAJ+jHgX7oh35pwZzyRQeAoB2xhwFMnwEEDCClOPRDP/TLCHbtyrhRv8Qe+mEAuTAYQACAdGHO90cLFOAzssMAvvbaa7Js2TKZOXOmzJ07V9asWSOnTp2K5tv7F9rfPzw+Pi4NDQ1SXFwsJSUl0tTUZKxLhNP2fvMxgJTi0A/90G+SycD5/og99MMAOrB8+XLp7Ow0RhAPDg7K2rVrZYW+sNtiAJPR1tYmVVVV0tfXZyRdbm9vT3l7v/kYQHfQjwP90A/9AsN8zRvaEXsYwMkxgE7mLBX0bSKzZs1yfQydckYNpIkuJ3sLidP2fvMxgJTi0A/90G8S2bcvowd9EHvoF0oDqKN+xwJ+sfaOHTtk6dKlMQawtLTUONbChQulpaUl5phFRUUyNDQU/ay1iNo8mwin7f3mYwABACYBc7oXTfv3owdgACfTAF5//fVy+PDhwH7AoUOHZMGCBXLs2LEJeSMjI9Ld3W3Utq1bty66XuccHB0djX7W5fz8/ITHcNreb779gpgJAxiLGmdAP/RDvxRP4PvmL0tq/kyOHz9OAKFf9hvAbdu2GSZQjZvVFKXCnj17pLy8XA4cOJB0O331nJ8aOWoAMwP6caAf+qFfymTgK96IPfTLKQMYb4RuotG6TkZSRwAfPHjQcduBgQEpKyuLfqYPYHZCPw70Qz/0S4k33ojU/MV5Dz3aEXsYwCwygJs2bTJq/o4cORI3v66uTnp6eowaxt7eXqmtrZX6+vpofmtra9JRufbzcNrebz4GEAAgTWjTr8719+abaAEwlQYwCBKZR50WRuno6JDKykopKCiQiooKaW5ulmHt/Ps9rPPyaWpsbIyZly/ZvIHxtvebjwGkFId+6Id+aWL7dpHVq9GO2INMMICbN2+WK6+8MmYghDaJ7t27NyNEScdUNX4vDAaQfhzoh37olwJq/tQEoh2xB1NrAHfu3Bm3yXfLli1y5513ckUwgJTi0A/90C8YtO+fNv9m+QhuYg/9QmEAFy1aJKtWrTJGwloN4IkTJ4xBHYABBADwjTntC33/ADLDAOqUKKdPnzaWrQZQ5+ybPn06VwQDSCkO/dAP/fwTgr5/xB76hcoAXnbZZcZIWLsB3L9/v/H2DsAAJoJ+HOiHfujnmhD0/SP20C9UBnDZsmWyZMkS420gagC1KVgvjr7NY+XKlVwRDCClOPRDP/Tzx+uvR5p/Q/L2FmIP/UJhALu6uozRv/YpXHTKFn07CGAAAQBSQl/xtmdPZOCHDgABgMwxgMru3buNWsDCwkIjLV26VPbt28fVwABSikM/9EO/1NBniPmu364utAP0y0QDCBjAVKAfB/qhH/rFxTR++/dHagHRDtAvMw3gm2++afQFLCkpkdmzZxvLWisIGEBKceiHfuiXkgEMofEj9tAvVAZw69atCV/l9vzzz3NFMIAAAO7RPn8hN4AAoTCAOtpXX/umff7OnTtnJF3WdfreXsAAUopDP/RDP9fmTwd8hKzPH7GHfqE0gDroo7+/f8J6XTdjxgxX+3jttdeMZuOZM2cabw9Zs2aNnDp1Kpo/Pj4uDQ0NUlxcbDQzNzU1Gevc5tvxuz+vx8MAxod+HOiHfugXRV8oEMIBH8Qe+oXWAF577bVxDaC+Cu6aa65xtY/ly5dLZ2ennD9/3phHcO3atbJixYpofltbm1RVVRkTTmvS5fb2dtf5dvzuz+vxMICU4tAP/dAvCeZr3jShHaBfdhjALVu2RJuA1cBp0uXq6mqjf2AqaDPyrFmzop91X2oQTXRZj+k2347f/Xk9HgYQACAJGzZEEgBktgFMNOgjXkqFHTt2GHMJmuj7hoeGhiyFxUGj+dVtvh2/+/N6PAwgpTj0Qz/0S4BZ8xeSt3wQe+iHAUzRAOrbQ3RgybFjx6Lr8vLyZHR0NPpZl/XtI27z7fjdn9fjYQDjQz8O9EO/HNdPR/qq+RseRjtAv2wwgOliz549Ul5eLgcOHIhZn801gHpBzIQBjGUwh0r86Id+6GdBDZ/1TR85xvHjxwkg9Mt+A9jb22v0idMRv35qALdt22aMAD548OCEPPoAAgCExjnGvukDALLTAC5evNgwetosmqoB3LRpk1Hzd+TIkbj5ra2tSUfdOuXbz8Pv/pzyMYDuoB8H+qFfDur38MORAR85PNEzsYd+oTCAOg9gR0eHXLp0KeV9JOo/qCOKFeu8e5oaGxsTzssXL99uAP3uzykfA+gO+nGgH/rlmH4DA5GaP/2LdoB+2W0AL7/8cjmtE3hmMKmORk7nhcEAUopDP/TLKf20xk9r/rQGEO0IIPTLfgO4ceNGWblypdF8ax0ZCxhAAAAD8/2+OTbdC0CoDeCrr74a+DyAGEBKcYB+6BcS/Uzzp694y7HpXog99Au1AaysrMQAYgBTgn4c6Id+IdfPnOcvB97vS+yhX84ZQJ3+RS/GxRwe0YUBpBSHfuiHfjbMJt8cnOeP2EO/nDCA+taOTB8EggEEAJhEzEmeqRgACK8BfPrpp6ODQPxMBYMBpBQH6Id+IdCPSZ6JPfTLDQMY9LuAMYC5A/040A/9Qqafaf6o+SP20A8DCBhASnHoh345oB/NvsQe+uWWAQQMIADkODT7AuSeAaQGEANIKQ790C+H9dOJndX8MRiQ2EM/DCAGEAPoBvpxoB/6hUA/fb2bJiD20C+3DKAdfR3cgQMHpKqqSl566SWuCAaQUhz6oV9Y9dNaP17vRuyhHwbQynvvvSeLFi1yta1TjaFTzeL4+Lg0NDRIcXGxlJSUSFNTk7EuEU7b+83HAAJA6DEHfTDRMwAG0Mq5c+dk5syZnr6TzAAmo62tzahx7OvrM5Iut7e3p7y933wMIKU49EO/0GK+3o1BH8Qe+mEAJ/5/uCiPPvqozJ49e1IMYHV1tXR2dkY/63JNTU3K2/vNxwC6g34c6Id+WcTwcEyt3/bnn0cTYg/9ctkAqjnLy8uT/Px8I+my2Ux76623BmYAS0tLpbCwUBYuXCgtLS0yNjYWzS8qKpKhoaHo58HBQaN5NhFO2/vNxwBSikM/9AsV5khfS60f+hF76IcBnJBmzJghN9xwgxw/fjwQA2gyMjIi3d3dRm3bunXrouvVdOrgExNdVjOaCKft/ebbL4iZMIAAkJU8/HBkpC+TPANgANOB22lj+vv7fdXIUQNIKQ79AP1c8vrrkZq/T/7voh+xh34YwCg6CEJr+woKCnzPA+h2+4GBASkrK4t+pg9gdkI/DvRDvwxGa/v27ImYvzfeQD9iD/0wgLHccsstgU0EnWj7uro66enpMZpae3t7pba2Vurr66P5ra2tSUfl2vfrtL3ffAwgpTj0Q7+sNn7WKV66utCP2EM/DOBEdB68Rx55RM6fP+84F14y45fMOHZ0dEhlZaVRy1hRUSHNzc0yrCPSvod1Xj5NjY2NMeeSbN7AeNv7zccAAkBWYtb4mYM96PMHgAFMhBognfMvk8mEV9JhACnFoR/6ZTS7dn2/xs+F8UM/Yg/9ctwAan84fesHYAC9Qj8O9EO/DMDs6zd/fmTAB/oRe+iHAXR7IbQPnL7/1zo1CmAAKcWhH/pluPFz0dcP/Yg99MMAxiXZAJBMaHrFAAIA2LAaP/r6AWAAMYAYQEpx6Id+IScg40f8EXvol+MGEDCAqUI/DvRDvykyfwHU+BF/aId+GEDAAFKKQz/0yxbzh37EHvphADGAGEAAyBHjF6D5AwAMIGAAKcWhH/plGtrEm2bjR/yhHfphAAEDmBL040A/9EsD1hG+6EfsoR8GEAOIAaQUh34Qcv2sI3zRj9hDPwwgBhADCAAhxtrcy5x+APgMDCAGkFIc+kHI9DMNntX0TcEAD+IP7dAPA+gbp4mjx8fHpaGhQYqLi6WkpESampqMdW7zg96f1+NhAONDPw70Qz+PWPv3TfGoXuIP7dAPAxioEYxHW1ub8b7hvr4+I+lye3u76/yg9+f1eBhASnHoh36+sI7qnYT+fcQf2qEfBjAjDGB1dbV0dnZGP+tyTU2N6/yg9+f1eBhAAEjJ9CnWWj/69wFALhnAoqIiGRoain4eHBw0ml/d5ge9P6/HwwBSikM/9PNk/OxNvRlS60f8oR36YQAn1QDm5eXJ6Oho9LMu5+fnu84Pen9ejqcXxEwYQG5i9EO/hKZPsRo/0/RlaK0f8Zc6XV1diIB+GEA3BpAaQB7AgH6h1G94OH5tXxY09RJ/aId+GMC0G0D6AAJA1mM1dZ8UGmXDhqyp7QMADOCUGMDW1tako26d8u379bs/p3wMIKU49EO/KPFq+TSpAVQjmKWmj/hDO/TDAAZi/OzJinXePU2NjY0J5+WLlx/0/pzyMYDuYC4n9AulfqahS1TLZ5pC9CP2AP1y3QBOhsHMtAuDAaQUh34h1E87p4eolo/4Qzv0wwACBhAArJim7vx5ke3bRVavjpi+vXsj60NQywcAGEDAAFKKQz/0U3QKKHufvnvvjZhAre1DP0A79MMAAgYwMfTjQL+s0E9r+t56S+Sxx0Ruu21in76REfQDtEM/DCBgACnFoV9W63fuXKzhu+oqkZUrRR5/PLJem3aZroX4Qzv0wwACBhAgS9HR+9/9rlYpiDQ3i9x8s0h5ecT4WQ0fAAAGEDCAlOLQL0s5dUrkjTcMc3f+lltEPvMZndld5IEHRHQuz4MHI4M6gPhDO/TDAAIGMD3QjwP9UsbyLu6EaN+87u6IsVODp0ZPDd9ddxkG8O2NGyOGEIg/tEM/DCBgACnFoV+GcuyYSFubSF3dxLdqJEorVkSadvWBoU29lgnbiT/iD+3QDwMIGECATOPsWZHXXxdpahJZtCiSdFmbcN0Mwrh0CQ0BAAOIAcQAUopDv4zl5EmRPXtEnnpK5MEHRZYti9Tg3XGHyNNPi3zwAfoRf2gH6IcBxACGAfpx5KB+Fy7of+9Ik6y+Jk2bcysrRa69NrKs/fI0T7fRbdGP+EM7QL/cNYD6Ll97sjI+Pi4NDQ1SXFwsJSUl0tTUZKxLhNP2fvMxgJTi0O97nD4tsmuXyCOPiHzhC5FaPa3dq6+P1Pbpu3O19g/9iD+0A/TDAMYzgMloa2uTqqoq6evrM5Iut+vIvxS395uPAYScpb8/UoP3SQFJli4VueYakbvvFmlpibw5gylWAAAwgEEZwOrqauns7Ix+1uWampqUt/ebjwGkFJcT+mmtt57Ds8+K3HefyHXXify//ydy//0imzdH8hxqxok/4g/tAP0wgEkNYGlpqRQWFsrChQulpaVFxsbGovlFRUUyNDQU/Tw4OGg0zybCaXu/+RhAd9CPI8v001ek7dsn8sQTkbn0tHZPa/kaG0VeeilS+4d+xB+gHfphAINmZGREuru7jdq2devWRdfn5eXJqGViWF3Oz89PuB+n7f3mYwApxYVCP629O3xY5MknRb74xcgr0vTtGd/4RmR6Fu3fh37EH6Ad+mEAJ4v+/n5fNXKTWQOoF8RMGEDIeD76SGTbtsibM3R0rg7Y0NG6u3dHagABAAADOFUMDAxIWVlZ9DN9ACnFoV+K6GTLau7Wr4805+p0LGr+1ASqGUQ/QD+0Qz8M4FRRV1cnPT09RlNrb2+v1NbWSr1OI/E9Wltbk47KtQ8icdrebz4G0B3045gC/dTwvfWWyGOPidx6a6RZV5t3v/1t+eQmy+hBG8Qf+qEdoF+OGcCOjg6prKyUgoICqaiokObmZhkeHo7mW+fl09TY2BgzL1+yeQPjbe83HwNIKS5j9NNXptkN3223iTz+eGR9DjfrEn/oh3bohwEMOU7TyEzFhcEAQlqwGj41elddJbJyJYYPAAADmHsGMBMvDAaQUlwg+qmhS2b4LDXlQPyhH9qhHwYQA4gBnHLox+ERfTfuu++KbN0q8tBDcuZzn5vYpIvhI/7QD+3QD5+BAcQAUooLh9mTm26KmL3lyyOvWXvuOel7+WVerUb8oR/aoR9gADGAkHVon72jR0V27ozU4n3lK5HpWGxmT957L2IKAQAAMIAYQEpxGYzlbTEGIyOxtXpq8NToqeFT4/etb4m88krEEKoxpBRM/KEf2gH6YQAxgGEjdP047AMy5s2bmLQpN6BaPfrBEH/oh3boBxhADCCluHRgr8UzSVSbl2xAxqVLlIKJP/QDtEM/DCAGEDKO06eda/ES1eYxIAMAADCAgAHMgFJcoho8O4ODIl//uvtpVQKuzaMUjH7oh3aAfhhADGBOEEg/DrvBs78JI1kNnj1t2CDy4Ye5pR/xB+iHduiHAQQMYMaV4uw1bW4MXipvwsjCCZQpBaMf+qEd+gEGEAOYfThNk6J97LwaPLdNvgAAABhA8ML4+Lg0NDRIcXGxlJSUSFNTk7EOA+jA2bPep0lRU4jBoxSMfuiHdoB+GMCppq2tTaqqqqSvr89Iutze3p47BtDtAAhrc+2tt04YYLH9hRdS2y8Y0A8G/dAP7dAPMICTSHV1tXR2dkY/63JNTU32G8B4tWtum2UTJWtzrU6UTCmOUjD6oR/aIQL6YQCzkaKiIhkaGop+HhwcNJqDJ80AunhNmOv9uBkx69Qs68VQAgAAAAYwG8nLy/vE24xafM6o5OfnT44B3LfPWw2clxq6eCNh09gsSykO/dAP/dAO0A8DmDV4qQHUC2KmROuTpk9/emKqrnb//WTp9tuD2U+KacWKFVN6/GxP6Id+6Jedafny5eiAfmlJGMA0k0ofQAAAAIBMAQOYAq2trZ5HAQMAAABgALMY6zyAmhobGx3nAQQAAADAAOY49FUgkUgkEolEH0DISRMM6Id+6Id2gH7UAAI3MaAf+qEf2gH6YQABAAAAAAMIAAAAABhAAAAAAMAAwiQxbdq0aIrHmTNnZNWqVVJSUiKlpaWyfv16T/nWaXd0m6amptBMu5Nu7az7T3acbOW1116TZcuWycyZM2Xu3LmyZs0aOXXqlOvY8ZuPfsnziT/3+sSD+POnX9jjDwMIGWVm4nHPPfdIXV2dnDx50kjagffZZ591nd/W1hb6ibfTpV3Y/+HpK6H0TTznz583Xsm4du1a4xVlbmPHbz76Jc8n/tzFTyKdiD9/+mH4MIAwxSZm9uzZxs1tokZl8eLFrvNz4dV76dIu1/4Bnjt3TmbNmuU6dvzmo1/yfOLPXfwk0on486cfBhADCBlmYnRZq/Td5hcVFcnQ0FDCfLRLnK/71abhwsJCWbhwobS0tMjY2FhoY3DHjh2ydOlS17HjNx/9kucTf+7iJ9H9T/z50y/X4g8DCBlnYrSP2l133WXcvJruvPNOmT59uuv8vLw8GR0djX7W5fz8fLRzkW8yMjIi3d3dRul53bp1oYy/Q4cOyYIFC+TYsWOuY8dvPvq504f4S65Povuf+POnXy7FHwYQMtLEnD592jAm2om3rKxMvvnNb8rll1/uOj+XawD9amenv78/lDUIe/bskfLycjlw4ICnGhRqANOrH/FHDeBU6pcr8YcBhIw1MXaeeuopw7S4zc/lPoB+tbMzMDBgGMUwsW3bNmME4cGDByfk0QdwavUj/ugDOJX65UL8YQAho02MNlHqjadTlrz44otGSe/o0aOu81tbW3N2FLBf7XSEcE9Pj9F00tvbK7W1tVJfXx8a3TZt2mT85iNHjsTNd4odv/nolzyf+Gv1NYqV+POnX9jjDwMIGWFeks21pNOSaAlPO+LqsH/t6+El3zoXlKbGxsZQzgOYDu06OjqksrJSCgoKpKKiQpqbm2V4eDjUsadJp5VwEzt+89EveT7xl1wfp/uf+POnX9jjDwMIAAAAABhAAAAAAMAAAgAAAAAGEAAAAAADCAAAAAAYQAAAAADAAAIAAAAABhAAAAAAMIAAENRN+qlPkUhZlwAAAwgAPg0gADELABhAAB6mAMQsAGAAAXiYAhCzAIABBOBhCkDMAgAGEICHKSRm2rRpWX+MyfgNxCwABhAAcvhh6tZspMuU+NlvvO9mmgFM5XwwgACAAQTAAGaMmcmGc8cAYgABMIAAEHoDOD4+Lo888ohcccUVUlJSIvfee69cuHAhxky0trbK/PnzZebMmbJo0SLp6emJ5lmT9TubNm2SefPmSV5e3gRT4nTMN998U6qqqozj6XHb29tdmZ1k5xrve4nOPdk+nM7dzujoqNx///3GtmVlZfLYY4/FHO/YsWNy++23G/lFRUWycuVKGRoaSnqOyb5jfk+PM2fOHGObBx54wDgPt99Ppr/b348BBMAAAkAGG0A1ajfeeKP09fXJ6dOn5e6775avfe1rMWbitttuk+PHjxsP+o0bN0pNTU1cA2Zdd+utt8pHH30UdzunY86dO1deeuklGRkZkf7+flmzZo1rA5jsXJN91+0+nM7dzvr166W2tlY+/PBDGRgYkGXLlsUct7KyUnbv3i0XL16Us2fPyoMPPihf/vKXk56jm++Yx9Skyxs2bHD9/WT6u/39GEAADCAAZLABvPrqq+Xo0aPRzydPnjRqfaxm4uOPP45+VtNQWFjoaKJOnDiR0Gw5HbO8vFxaWloM8+GE3QAmO1e3BjDZPpzO3U5FRYX09vZGP2ttYrIm2nPnzhk1p8nO0c13rMd8//33jfNw+/1k+rv9/RhAAAwgAARtAPVhnWqyoeYmPz/fSNpcq+bBbLZNZpKc8rWpMNF3nI556NAhoxZu9uzZcuWVV0pnZ6drA+jG5Hnd3su529Fm1OHh4ehnXbbur7u726gV1OZUs6lX953sfNx8x35MPQ+330+mv9vfjwEEwAACQNAGMECuuuoqo7kzVZMU7+Hv9B2nY5qoiXz11Vfl8ssvT4sBTOe5m9hrALU2zro/zd+6davRnDo2Nmb8ddLX6Tv2GkBdttYAOn0/mf5ufz8GEAADCAAZbACfeOIJo4+YmgQdKHD48GG54447XBsiHWhgNRtuvuN0zLq6umieGhDtk5YOA5iOc7fz9a9/XZYvXx7TH8+6PzVXL7/8stHfTvvV6eAMJ32dvqPL1mPqsp6H2+8n09/t78cAAmAAASCDDaDW8mh/L+3bVVBQYAwQ2LFjh2tDpIMCiouLPRkxp2O++OKLRk2TNlvqaFQdsJAOA5iOc7ejJuu+++4zmlvVzNlHAWvzqv7WGTNmRPveOenr9B37KGAdhazn4fb7yfR3+/sxgAAYQADIYAMIQMwCYAABgIcpADELgAEEAB6mAMQsAAYQAHiYAhCzABhAAOBhCkDMAmAAAYCHKRCzAIABBIBUH6YkUrYlAMAAAgAAAEAG8f8BdUpwfJmWn8s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7" name="Рисунок 3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3849" y="5517232"/>
            <a:ext cx="2641448" cy="1291560"/>
          </a:xfrm>
          <a:prstGeom prst="rect">
            <a:avLst/>
          </a:prstGeom>
        </p:spPr>
      </p:pic>
      <p:pic>
        <p:nvPicPr>
          <p:cNvPr id="38" name="Рисунок 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3849" y="4181393"/>
            <a:ext cx="2641448" cy="133944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086074" y="1143028"/>
            <a:ext cx="202049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</a:rPr>
              <a:t>Protein Data Bank</a:t>
            </a:r>
          </a:p>
          <a:p>
            <a:r>
              <a:rPr lang="en-US" sz="1200" dirty="0" smtClean="0">
                <a:latin typeface="+mj-lt"/>
                <a:hlinkClick r:id="rId9"/>
              </a:rPr>
              <a:t>www.rcsb.org</a:t>
            </a:r>
            <a:endParaRPr lang="ru-RU" sz="1200" dirty="0">
              <a:latin typeface="+mj-l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86074" y="3758361"/>
            <a:ext cx="273320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«Склад» </a:t>
            </a:r>
            <a:r>
              <a:rPr lang="en-US" sz="1400" dirty="0" smtClean="0">
                <a:latin typeface="+mj-lt"/>
              </a:rPr>
              <a:t>3D-</a:t>
            </a:r>
            <a:r>
              <a:rPr lang="ru-RU" sz="1400" dirty="0" smtClean="0">
                <a:latin typeface="+mj-lt"/>
              </a:rPr>
              <a:t>структур белков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≈140 тыс. структур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Десятки тысяч разных белков</a:t>
            </a:r>
          </a:p>
          <a:p>
            <a:pPr marL="176213" indent="-176213">
              <a:buFont typeface="Arial" panose="020B0604020202020204" pitchFamily="34" charset="0"/>
              <a:buChar char="•"/>
            </a:pPr>
            <a:r>
              <a:rPr lang="ru-RU" sz="1400" dirty="0" smtClean="0">
                <a:latin typeface="+mj-lt"/>
              </a:rPr>
              <a:t>Многих структур пока нет!</a:t>
            </a:r>
            <a:endParaRPr lang="ru-RU" sz="1400" dirty="0">
              <a:latin typeface="+mj-lt"/>
            </a:endParaRPr>
          </a:p>
        </p:txBody>
      </p:sp>
      <p:pic>
        <p:nvPicPr>
          <p:cNvPr id="43" name="Рисунок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86074" y="1727857"/>
            <a:ext cx="2492426" cy="19511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4" name="Рисунок 4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6075" y="4927912"/>
            <a:ext cx="2903776" cy="1458206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7037333" y="6408322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j-lt"/>
                <a:hlinkClick r:id="rId12"/>
              </a:rPr>
              <a:t>bit.ly/BM-</a:t>
            </a:r>
            <a:r>
              <a:rPr lang="en-US" dirty="0" err="1" smtClean="0">
                <a:solidFill>
                  <a:srgbClr val="00B050"/>
                </a:solidFill>
                <a:latin typeface="+mj-lt"/>
                <a:hlinkClick r:id="rId12"/>
              </a:rPr>
              <a:t>InSilico</a:t>
            </a:r>
            <a:r>
              <a:rPr lang="ru-RU" dirty="0" smtClean="0">
                <a:solidFill>
                  <a:srgbClr val="00B050"/>
                </a:solidFill>
                <a:latin typeface="+mj-lt"/>
              </a:rPr>
              <a:t> </a:t>
            </a:r>
            <a:endParaRPr lang="ru-RU" dirty="0">
              <a:solidFill>
                <a:srgbClr val="00B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6201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11" grpId="0"/>
      <p:bldP spid="32" grpId="1"/>
      <p:bldP spid="33" grpId="0"/>
      <p:bldP spid="34" grpId="0"/>
      <p:bldP spid="39" grpId="0"/>
      <p:bldP spid="40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Генетические последовательности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94751" y="0"/>
            <a:ext cx="41857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III.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Генетические последовательности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052736"/>
            <a:ext cx="8579296" cy="1873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ru-RU" sz="2400" dirty="0" smtClean="0"/>
              <a:t>Источник генетических данных — геномные проекты, в том числе знаменитый «Геном человека».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ru-RU" sz="2400" dirty="0" smtClean="0"/>
              <a:t>Прогресс достигнут за счет методик </a:t>
            </a:r>
            <a:r>
              <a:rPr lang="ru-RU" sz="2400" dirty="0" err="1" smtClean="0"/>
              <a:t>секвенирования</a:t>
            </a:r>
            <a:r>
              <a:rPr lang="ru-RU" sz="2400" dirty="0" smtClean="0"/>
              <a:t> ДНК.</a:t>
            </a:r>
          </a:p>
        </p:txBody>
      </p:sp>
      <p:pic>
        <p:nvPicPr>
          <p:cNvPr id="14338" name="Picture 2" descr="ÐÐµÑÐ¾Ð´ Â«ÑÐµÑÐ¼Ð¸Ð½Ð°ÑÐ¾ÑÐ¾Ð²Â»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38" r="4172"/>
          <a:stretch/>
        </p:blipFill>
        <p:spPr bwMode="auto">
          <a:xfrm>
            <a:off x="487903" y="2348880"/>
            <a:ext cx="6480720" cy="22106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6949331" y="4036322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+mj-lt"/>
              </a:rPr>
              <a:t>Метод «терминаторов» </a:t>
            </a:r>
            <a:r>
              <a:rPr lang="ru-RU" sz="1400" dirty="0" err="1" smtClean="0">
                <a:latin typeface="+mj-lt"/>
              </a:rPr>
              <a:t>Сэнгера</a:t>
            </a:r>
            <a:endParaRPr lang="ru-RU" sz="1400" dirty="0">
              <a:latin typeface="+mj-lt"/>
            </a:endParaRPr>
          </a:p>
        </p:txBody>
      </p:sp>
      <p:pic>
        <p:nvPicPr>
          <p:cNvPr id="14340" name="Picture 4" descr="ÐÑÐ¸Ð½ÑÐ¸Ð¿ ÑÐµÐºÐ²ÐµÐ½Ð¸ÑÐ¾Ð²Ð°Ð½Ð¸Ñ Ð½Ð° Ð¼Ð¾Ð»ÐµÐºÑÐ»ÑÑÐ½ÑÑ ÐºÐ»Ð°ÑÑÐµÑÐ°Ñ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60"/>
          <a:stretch/>
        </p:blipFill>
        <p:spPr bwMode="auto">
          <a:xfrm>
            <a:off x="474113" y="5531024"/>
            <a:ext cx="3377807" cy="13269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95536" y="4704769"/>
            <a:ext cx="38164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b="1" dirty="0" smtClean="0">
                <a:latin typeface="+mj-lt"/>
              </a:rPr>
              <a:t>Секвенирование «нового поколения» (</a:t>
            </a:r>
            <a:r>
              <a:rPr lang="en-US" sz="1200" b="1" dirty="0" err="1" smtClean="0">
                <a:latin typeface="+mj-lt"/>
              </a:rPr>
              <a:t>NextGen</a:t>
            </a:r>
            <a:r>
              <a:rPr lang="ru-RU" sz="1200" b="1" dirty="0" smtClean="0">
                <a:latin typeface="+mj-lt"/>
              </a:rPr>
              <a:t>)</a:t>
            </a:r>
            <a:endParaRPr lang="en-US" sz="1200" b="1" dirty="0" smtClean="0">
              <a:latin typeface="+mj-lt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 smtClean="0">
                <a:latin typeface="+mj-lt"/>
              </a:rPr>
              <a:t>Фрагментация (</a:t>
            </a:r>
            <a:r>
              <a:rPr lang="en-US" sz="1200" dirty="0" smtClean="0">
                <a:latin typeface="+mj-lt"/>
              </a:rPr>
              <a:t>shotgun</a:t>
            </a:r>
            <a:r>
              <a:rPr lang="ru-RU" sz="1200" dirty="0" smtClean="0">
                <a:latin typeface="+mj-lt"/>
              </a:rPr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 smtClean="0">
                <a:latin typeface="+mj-lt"/>
              </a:rPr>
              <a:t>Регистрация включения нуклеотидов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sz="1200" dirty="0" err="1" smtClean="0">
                <a:latin typeface="+mj-lt"/>
              </a:rPr>
              <a:t>Биоинформатическая</a:t>
            </a:r>
            <a:r>
              <a:rPr lang="ru-RU" sz="1200" dirty="0" smtClean="0">
                <a:latin typeface="+mj-lt"/>
              </a:rPr>
              <a:t> «сборка»</a:t>
            </a:r>
            <a:endParaRPr lang="ru-RU" sz="1200" dirty="0">
              <a:latin typeface="+mj-lt"/>
            </a:endParaRPr>
          </a:p>
        </p:txBody>
      </p:sp>
      <p:pic>
        <p:nvPicPr>
          <p:cNvPr id="14342" name="Picture 6" descr="ÐÑÐ¸Ð½ÑÐ¸Ð¿ Ð½Ð°Ð½Ð¾Ð¿Ð¾ÑÐ¾Ð²Ð¾Ð³Ð¾ ÑÐµÐºÐ²ÐµÐ½Ð¸ÑÐ¾Ð²Ð°Ð½Ð¸Ñ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1" t="8275" r="7217" b="5379"/>
          <a:stretch/>
        </p:blipFill>
        <p:spPr bwMode="auto">
          <a:xfrm>
            <a:off x="4427984" y="4751546"/>
            <a:ext cx="2997646" cy="210645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7425630" y="4704996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 smtClean="0">
                <a:latin typeface="+mj-lt"/>
              </a:rPr>
              <a:t>Нанопоровое</a:t>
            </a:r>
            <a:r>
              <a:rPr lang="ru-RU" sz="1400" dirty="0" smtClean="0">
                <a:latin typeface="+mj-lt"/>
              </a:rPr>
              <a:t> секвенирование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-1030029" y="5470280"/>
            <a:ext cx="24032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  <a:hlinkClick r:id="rId5"/>
              </a:rPr>
              <a:t>bit.ly/BM-Sequencing</a:t>
            </a:r>
            <a:endParaRPr lang="ru-RU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64992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3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  <p:bldP spid="11" grpId="1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Аминокислотные последовательности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468313" y="824725"/>
            <a:ext cx="8351837" cy="20159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177800" indent="-1778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ru-RU" b="0" dirty="0">
                <a:latin typeface="+mn-lt"/>
              </a:rPr>
              <a:t>Химический </a:t>
            </a:r>
            <a:r>
              <a:rPr lang="ru-RU" b="0" dirty="0" smtClean="0">
                <a:latin typeface="+mn-lt"/>
              </a:rPr>
              <a:t>метод</a:t>
            </a:r>
            <a:r>
              <a:rPr lang="en-US" b="0" dirty="0" smtClean="0">
                <a:latin typeface="+mn-lt"/>
              </a:rPr>
              <a:t>. </a:t>
            </a:r>
            <a:r>
              <a:rPr lang="ru-RU" sz="1400" b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Фрагментирование</a:t>
            </a:r>
            <a:r>
              <a:rPr lang="ru-RU" sz="14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ru-RU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полипептида </a:t>
            </a:r>
            <a:r>
              <a:rPr lang="ru-RU" sz="14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химическими </a:t>
            </a:r>
            <a:r>
              <a:rPr lang="ru-RU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реагентами с последующей идентификацией фрагментов</a:t>
            </a:r>
          </a:p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ru-RU" b="0" dirty="0">
                <a:latin typeface="+mn-lt"/>
              </a:rPr>
              <a:t>Автоматическое </a:t>
            </a:r>
            <a:r>
              <a:rPr lang="ru-RU" b="0" dirty="0" smtClean="0">
                <a:latin typeface="+mn-lt"/>
              </a:rPr>
              <a:t>секвенирование</a:t>
            </a:r>
            <a:r>
              <a:rPr lang="en-US" b="0" dirty="0" smtClean="0">
                <a:latin typeface="+mn-lt"/>
              </a:rPr>
              <a:t> </a:t>
            </a:r>
            <a:r>
              <a:rPr lang="ru-RU" b="0" dirty="0" smtClean="0">
                <a:latin typeface="+mn-lt"/>
              </a:rPr>
              <a:t>(</a:t>
            </a:r>
            <a:r>
              <a:rPr lang="ru-RU" b="0" dirty="0">
                <a:latin typeface="+mn-lt"/>
              </a:rPr>
              <a:t>метод </a:t>
            </a:r>
            <a:r>
              <a:rPr lang="ru-RU" b="0" dirty="0" err="1">
                <a:latin typeface="+mn-lt"/>
              </a:rPr>
              <a:t>Эдмана</a:t>
            </a:r>
            <a:r>
              <a:rPr lang="ru-RU" b="0" dirty="0" smtClean="0">
                <a:latin typeface="+mn-lt"/>
              </a:rPr>
              <a:t>)</a:t>
            </a:r>
            <a:r>
              <a:rPr lang="ru-RU" b="0" dirty="0">
                <a:latin typeface="+mn-lt"/>
              </a:rPr>
              <a:t>.</a:t>
            </a:r>
            <a:r>
              <a:rPr lang="ru-RU" b="0" dirty="0" smtClean="0">
                <a:latin typeface="+mn-lt"/>
              </a:rPr>
              <a:t> </a:t>
            </a:r>
            <a:r>
              <a:rPr lang="ru-RU" sz="12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Последовательная 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деградация белка с N-конца </a:t>
            </a:r>
            <a:r>
              <a:rPr lang="ru-RU" sz="12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(реакция с </a:t>
            </a:r>
            <a:r>
              <a:rPr lang="ru-RU" sz="1200" b="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фенилизотиоцианатом</a:t>
            </a:r>
            <a:r>
              <a:rPr lang="ru-RU" sz="12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; ФИТЦ) + идентификация </a:t>
            </a:r>
            <a:endParaRPr lang="ru-RU" sz="1200" b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ru-RU" b="0" dirty="0">
                <a:latin typeface="+mn-lt"/>
              </a:rPr>
              <a:t>Ферментативный </a:t>
            </a:r>
            <a:r>
              <a:rPr lang="ru-RU" b="0" dirty="0" smtClean="0">
                <a:latin typeface="+mn-lt"/>
              </a:rPr>
              <a:t>метод.</a:t>
            </a:r>
            <a:r>
              <a:rPr lang="ru-RU" sz="12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Отщепление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а.о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. с помощью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карбоксипептидазы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+ </a:t>
            </a:r>
            <a:r>
              <a:rPr lang="ru-RU" sz="12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идентификация</a:t>
            </a:r>
            <a:endParaRPr lang="ru-RU" sz="1200" b="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  <a:p>
            <a:pPr marL="342900" indent="-342900" eaLnBrk="1" hangingPunct="1">
              <a:spcBef>
                <a:spcPct val="50000"/>
              </a:spcBef>
              <a:buFont typeface="Wingdings" pitchFamily="2" charset="2"/>
              <a:buChar char="§"/>
            </a:pPr>
            <a:r>
              <a:rPr lang="ru-RU" b="0" dirty="0">
                <a:latin typeface="+mn-lt"/>
              </a:rPr>
              <a:t>Физический </a:t>
            </a:r>
            <a:r>
              <a:rPr lang="ru-RU" b="0" dirty="0" smtClean="0">
                <a:latin typeface="+mn-lt"/>
              </a:rPr>
              <a:t>метод: масс-спектрометрия.</a:t>
            </a:r>
            <a:r>
              <a:rPr lang="ru-RU" sz="1200" b="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MS/MS анализ и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Peptide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mass</a:t>
            </a:r>
            <a:r>
              <a:rPr lang="ru-RU" sz="12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</a:t>
            </a:r>
            <a:r>
              <a:rPr lang="ru-RU" sz="1200" b="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fingerprinting</a:t>
            </a:r>
            <a:endParaRPr lang="ru-RU" sz="1200" b="0" dirty="0" smtClean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642090" y="0"/>
            <a:ext cx="45384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IV.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Аминокислотные последовательности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pic>
        <p:nvPicPr>
          <p:cNvPr id="15364" name="Picture 4" descr="https://biomolecula.ru/img/content/2289/03.sekvenirovanie-po-Edmanu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4" r="2803"/>
          <a:stretch/>
        </p:blipFill>
        <p:spPr bwMode="auto">
          <a:xfrm>
            <a:off x="251520" y="3488325"/>
            <a:ext cx="3888432" cy="2654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https://biomolecula.ru/img/content/2289/08.peptidnoe-kartirovanie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7" r="1806"/>
          <a:stretch/>
        </p:blipFill>
        <p:spPr bwMode="auto">
          <a:xfrm>
            <a:off x="4355976" y="3488325"/>
            <a:ext cx="4561927" cy="26535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233774" y="3142166"/>
            <a:ext cx="175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>
                <a:latin typeface="+mj-lt"/>
              </a:rPr>
              <a:t>Метод </a:t>
            </a:r>
            <a:r>
              <a:rPr lang="ru-RU" dirty="0" err="1" smtClean="0">
                <a:latin typeface="+mj-lt"/>
              </a:rPr>
              <a:t>Эдмана</a:t>
            </a:r>
            <a:endParaRPr lang="ru-RU" dirty="0">
              <a:latin typeface="+mj-l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355976" y="3142166"/>
            <a:ext cx="4378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 smtClean="0">
                <a:latin typeface="+mj-lt"/>
              </a:rPr>
              <a:t>Протеомика</a:t>
            </a:r>
            <a:r>
              <a:rPr lang="ru-RU" dirty="0" smtClean="0">
                <a:latin typeface="+mj-lt"/>
              </a:rPr>
              <a:t>: </a:t>
            </a:r>
            <a:r>
              <a:rPr lang="en-US" dirty="0" smtClean="0">
                <a:latin typeface="+mj-lt"/>
              </a:rPr>
              <a:t>MS-</a:t>
            </a:r>
            <a:r>
              <a:rPr lang="ru-RU" dirty="0" smtClean="0">
                <a:latin typeface="+mj-lt"/>
              </a:rPr>
              <a:t>анализ + </a:t>
            </a:r>
            <a:r>
              <a:rPr lang="ru-RU" dirty="0" err="1" smtClean="0">
                <a:latin typeface="+mj-lt"/>
              </a:rPr>
              <a:t>фингерпринт</a:t>
            </a:r>
            <a:endParaRPr lang="ru-RU" dirty="0"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577293" y="6420237"/>
            <a:ext cx="2373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j-lt"/>
                <a:hlinkClick r:id="rId4"/>
              </a:rPr>
              <a:t>bit.ly/BM-Proteomics</a:t>
            </a:r>
            <a:endParaRPr lang="ru-RU" dirty="0">
              <a:solidFill>
                <a:srgbClr val="00B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09927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Формат файла </a:t>
            </a:r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FASTA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642090" y="0"/>
            <a:ext cx="4538422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IV.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Аминокислотные последовательности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11" name="CustomShape 2"/>
          <p:cNvSpPr/>
          <p:nvPr/>
        </p:nvSpPr>
        <p:spPr>
          <a:xfrm>
            <a:off x="99360" y="1128674"/>
            <a:ext cx="9044640" cy="3740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&gt;gi|5524211|gb|AAD44166.1| </a:t>
            </a:r>
            <a:r>
              <a:rPr lang="ru-RU" b="1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cytochrome</a:t>
            </a:r>
            <a:r>
              <a:rPr lang="ru-RU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b [</a:t>
            </a:r>
            <a:r>
              <a:rPr lang="ru-RU" b="1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Elephas</a:t>
            </a:r>
            <a:r>
              <a:rPr lang="ru-RU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b="1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maximus</a:t>
            </a:r>
            <a:r>
              <a:rPr lang="ru-RU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b="1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maximus</a:t>
            </a:r>
            <a:r>
              <a:rPr lang="ru-RU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LCLYTHIGRNIYYGSYLYSETWNTGIMLLLITMATAFMGYVLPWGQMSFWGATVITNLFSAIPYIGTNLV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EWIWGGFSVDKATLNRFFAFHFILPFTMVALAGVHLTFLHETGSNNPLGLTSDSDKIPFHPYYTIKDFLG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LLILILLLLLLALLSPDMLGDPDNHMPADPLNTPLHIKPEWYFLFAYAILRSVPNKLGGVLALFLSIVIL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GLMPFLHTSKHRSMMLRPLSQALFWTLTMDLLTLTWIGSQPVEYPYTIIGQMASILYFSIILAFLPIAGX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IENY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&gt;SEQUENCE_1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MTEITAAMVKELRESTGAGMMDCKNALSETNGDFDKAVQLLREKGLGKAAKKADRLAAEG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LVSVKVSDDFTIAAMRPSYLSYEDLDMTFVENEYKALVAELEKENEERRRLKDPNKPEHK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IPQFASRKQLSDAILKEAEEKIKEELKAQGKPEKIWDNIIPGKMNSFIADNSQLDSKLTL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MGQFYVMDDKKTVEQVIAEKEKEFGGKIKIVEFICFEVGEGLEKKTEDFAAEVAAQL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en-US" b="1" strike="noStrike" spc="-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ru-RU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SEQUENCE_2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SATVSEINSETDFVAKNDQFIALTKDTTAHIQSNSLQSVEELHSSTINGVKFEEYLKSQI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ATIGENLVVRRFATLKAGANGVVNGYIHTNGRVGVVIAAACDSAEVASKSRDLLRQICMH</a:t>
            </a:r>
            <a:endParaRPr lang="ru-RU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5646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Пространственные структуры белков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79515" y="0"/>
            <a:ext cx="27009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V. 3D-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структуры белков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0644" y="1143028"/>
            <a:ext cx="2589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+mj-lt"/>
              </a:rPr>
              <a:t>Рентгеноструктурный анализ</a:t>
            </a:r>
            <a:endParaRPr lang="ru-RU" sz="1200" dirty="0">
              <a:latin typeface="+mj-lt"/>
            </a:endParaRPr>
          </a:p>
        </p:txBody>
      </p:sp>
      <p:pic>
        <p:nvPicPr>
          <p:cNvPr id="16386" name="Picture 2" descr="ÐÑÐ¸ÑÑÐ°Ð»Ð»Ñ Ð±ÐµÐ»ÐºÐ¾Ð²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322" y="1789359"/>
            <a:ext cx="2498803" cy="312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https://biomolecula.ru/img/content/2148/07.shema-RSA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3" r="10411"/>
          <a:stretch/>
        </p:blipFill>
        <p:spPr bwMode="auto">
          <a:xfrm>
            <a:off x="468313" y="4912863"/>
            <a:ext cx="2507813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3197170" y="1143028"/>
            <a:ext cx="2589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+mj-lt"/>
              </a:rPr>
              <a:t>ЯМР-Спектроскопия</a:t>
            </a:r>
            <a:endParaRPr lang="ru-RU" sz="1200" dirty="0">
              <a:latin typeface="+mj-lt"/>
            </a:endParaRPr>
          </a:p>
        </p:txBody>
      </p:sp>
      <p:pic>
        <p:nvPicPr>
          <p:cNvPr id="12" name="Picture 6" descr="ÐÐ¾Ð½ÑÑÐ°Ð½ÑÐ¸Ð½ ÐÐ¸Ð½ÐµÐµÐ²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14" t="11990" b="21763"/>
          <a:stretch/>
        </p:blipFill>
        <p:spPr bwMode="auto">
          <a:xfrm>
            <a:off x="3191056" y="1789359"/>
            <a:ext cx="2527020" cy="300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2" name="Picture 8" descr="Ð¢Ð¸Ð¿Ð¸ÑÐ½ÑÐµ Ð´Ð²ÑÐ¼ÐµÑÐ½ÑÐµ ÑÐ¿ÐµÐºÑÑÑ Ð¯ÐÐ 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944" y="3717032"/>
            <a:ext cx="1540583" cy="916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4" name="Picture 10" descr="https://biomolecula.ru/img/content/2148/13.JaMR.png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930"/>
          <a:stretch/>
        </p:blipFill>
        <p:spPr bwMode="auto">
          <a:xfrm>
            <a:off x="3191056" y="4797152"/>
            <a:ext cx="2527020" cy="18333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/>
          <p:cNvSpPr txBox="1"/>
          <p:nvPr/>
        </p:nvSpPr>
        <p:spPr>
          <a:xfrm>
            <a:off x="5943348" y="1143028"/>
            <a:ext cx="2589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+mj-lt"/>
              </a:rPr>
              <a:t>Криоэлектронная микроскопия</a:t>
            </a:r>
            <a:endParaRPr lang="ru-RU" sz="1200" dirty="0">
              <a:latin typeface="+mj-lt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5022" y="1789359"/>
            <a:ext cx="2527021" cy="354050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43348" y="5390666"/>
            <a:ext cx="25891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>
                <a:latin typeface="+mj-lt"/>
              </a:rPr>
              <a:t>Нобелевская премия по химии 2017</a:t>
            </a:r>
            <a:endParaRPr lang="ru-RU" sz="1400" dirty="0">
              <a:latin typeface="+mj-l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76256" y="6420237"/>
            <a:ext cx="2178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+mj-lt"/>
                <a:hlinkClick r:id="rId8"/>
              </a:rPr>
              <a:t>bit.ly/BM-</a:t>
            </a:r>
            <a:r>
              <a:rPr lang="en-US" dirty="0" err="1" smtClean="0">
                <a:latin typeface="+mj-lt"/>
                <a:hlinkClick r:id="rId8"/>
              </a:rPr>
              <a:t>StructBio</a:t>
            </a:r>
            <a:endParaRPr lang="ru-RU" dirty="0">
              <a:solidFill>
                <a:srgbClr val="00B05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51086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63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63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3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63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63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3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5" grpId="0"/>
      <p:bldP spid="18" grpId="0"/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Формат файла </a:t>
            </a:r>
            <a:r>
              <a:rPr lang="en-US" sz="3000" dirty="0" err="1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p</a:t>
            </a:r>
            <a:r>
              <a:rPr lang="en-US" sz="3000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db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79515" y="0"/>
            <a:ext cx="27009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V. 3D-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структуры белков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216000" y="864483"/>
            <a:ext cx="8715240" cy="50184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HEADER    EXTRACELLULAR MATRIX                    22-JAN-98   1A3I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TITLE     X-RAY CRYSTALLOGRAPHIC DETERMINATION OF A COLLAGEN-LIKE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TITLE    2 PEPTIDE WITH THE REPEATING SEQUENCE (PRO-PRO-GLY)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EXPDTA    X-RAY DIFFRACTION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AUTHOR    R.Z.KRAMER,L.VITAGLIANO,J.BELLA,R.BERISIO,L.MAZZARELLA,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AUTHOR   2 B.BRODSKY,A.ZAGARI,H.M.BERMAN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REMARK 350 BIOMOLECULE: 1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REMARK 350 APPLY THE FOLLOWING TO CHAINS: A, B, C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REMARK 350   BIOMT1   1  1.000000  0.000000  0.000000        0.00000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REMARK 350   BIOMT2   1  0.000000  1.000000  0.000000        0.00000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SEQRES   1 A    9  PRO </a:t>
            </a:r>
            <a:r>
              <a:rPr lang="ru-RU" sz="14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GLY PRO </a:t>
            </a:r>
            <a:r>
              <a:rPr lang="ru-RU" sz="14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GLY PRO </a:t>
            </a:r>
            <a:r>
              <a:rPr lang="ru-RU" sz="14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GLY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SEQRES   1 B    6  PRO </a:t>
            </a:r>
            <a:r>
              <a:rPr lang="ru-RU" sz="14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GLY PRO </a:t>
            </a:r>
            <a:r>
              <a:rPr lang="ru-RU" sz="14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GLY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SEQRES   1 C    6  PRO </a:t>
            </a:r>
            <a:r>
              <a:rPr lang="ru-RU" sz="14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GLY PRO </a:t>
            </a:r>
            <a:r>
              <a:rPr lang="ru-RU" sz="1400" b="0" strike="noStrike" spc="-1" dirty="0" err="1">
                <a:solidFill>
                  <a:srgbClr val="000000"/>
                </a:solidFill>
                <a:latin typeface="Consolas" panose="020B0609020204030204" pitchFamily="49" charset="0"/>
              </a:rPr>
              <a:t>PRO</a:t>
            </a: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 GLY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1  N   PRO A   1       8.316  21.206  21.530  1.00 17.44           N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2  CA  PRO A   1       7.608  20.729  20.336  1.00 17.44           C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3  C   PRO A   1       8.487  20.707  19.092  1.00 17.44           C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4  O   PRO A   1       9.466  21.457  19.005  1.00 17.44           O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5  CB  PRO A   1       6.460  21.723  20.211  1.00 22.26           C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HETATM  130  C   ACY   401       3.682  22.541  11.236  1.00 21.19           C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HETATM  131  O   ACY   401       2.807  23.097  10.553  1.00 21.19           O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HETATM  132  OXT ACY   401       4.306  23.101  12.291  1.00 21.19           O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...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3610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Формат файла </a:t>
            </a:r>
            <a:r>
              <a:rPr lang="en-US" sz="3000" dirty="0" err="1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pdb</a:t>
            </a: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: секция </a:t>
            </a:r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ATOM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79515" y="0"/>
            <a:ext cx="270099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V. 3D-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структуры белков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23" name="CustomShape 2"/>
          <p:cNvSpPr/>
          <p:nvPr/>
        </p:nvSpPr>
        <p:spPr>
          <a:xfrm>
            <a:off x="216000" y="1548360"/>
            <a:ext cx="8792280" cy="52052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1  N   ALA A   1       1.329   0.000   0.000  1.00  0.00           N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2  CA  ALA A   1       2.093  -0.001  -1.241  1.00 71.14           C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3  C   ALA A   1       2.542   1.409  -1.611  1.00 74.41           C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4  O   ALA A   1       2.089   2.390  -1.021  1.00  2.11           O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5  CB  ALA A   1       1.269  -0.607  -2.368  1.00 32.23           C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6  H1  ALA A   1       1.807  -0.001   0.855  1.00 11.33           H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7  HA  ALA A   1       2.967  -0.619  -1.095  1.00 31.51           H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8  HB1 ALA A   1       0.317  -0.939  -1.978  1.00 23.01           H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 9  HB2 ALA A   1       1.105   0.136  -3.134  1.00 21.12           H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10  HB3 ALA A   1       1.799  -1.448  -2.789  1.00 33.44           H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11  N   CYS A   2       3.434   1.502  -2.591  1.00  3.51           N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12  CA  CYS A   2       3.946   2.792  -3.039  1.00 72.01           C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13  C   CYS A   2       3.460   3.109  -4.450  1.00 52.24           C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14  O   CYS A   2       3.184   2.207  -5.241  1.00 73.02           O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15  CB  CYS A   2       5.475   2.799  -3.001  1.00 63.31           C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16  SG  CYS A   2       6.182   2.219  -1.426  1.00 24.53           S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17  H   CYS A   2       3.758   0.684  -3.024  1.00 32.34           H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18  HA  CYS A   2       3.574   3.549  -2.365  1.00 64.12           H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19  HB2 CYS A   2       5.850   2.156  -3.785  1.00 10.23           H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20  HB3 CYS A   2       5.828   3.806  -3.169  1.00 74.42           H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21  N   VAL A   3       3.358   4.398  -4.759  1.00 52.05           N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22  CA  VAL A   3       2.907   4.835  -6.075  1.00 53.32           C  </a:t>
            </a:r>
            <a:r>
              <a:rPr sz="1400" dirty="0">
                <a:latin typeface="Consolas" panose="020B0609020204030204" pitchFamily="49" charset="0"/>
              </a:rPr>
              <a:t/>
            </a:r>
            <a:br>
              <a:rPr sz="1400" dirty="0">
                <a:latin typeface="Consolas" panose="020B0609020204030204" pitchFamily="49" charset="0"/>
              </a:rPr>
            </a:b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ATOM     23  C   VAL A   3       3.990   5.635  -6.790  1.00 64.51           C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400" b="0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END</a:t>
            </a:r>
            <a:endParaRPr lang="ru-RU" sz="14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439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Выравнивание последовательностей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последовательностей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12" name="Rectangle 3"/>
          <p:cNvSpPr txBox="1">
            <a:spLocks noChangeArrowheads="1"/>
          </p:cNvSpPr>
          <p:nvPr/>
        </p:nvSpPr>
        <p:spPr>
          <a:xfrm>
            <a:off x="457200" y="1052736"/>
            <a:ext cx="8579296" cy="1873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eaLnBrk="1" hangingPunct="1">
              <a:lnSpc>
                <a:spcPct val="90000"/>
              </a:lnSpc>
              <a:buNone/>
            </a:pPr>
            <a:r>
              <a:rPr lang="ru-RU" sz="2400" dirty="0"/>
              <a:t>Выравнивание – это определение соответствия между аминокислотными остатками (для белков) или нуклеотидами (для ДНК/РНК</a:t>
            </a:r>
            <a:r>
              <a:rPr lang="ru-RU" sz="2400" dirty="0" smtClean="0"/>
              <a:t>) в последовательностях</a:t>
            </a:r>
            <a:endParaRPr lang="ru-RU" sz="2400" dirty="0"/>
          </a:p>
          <a:p>
            <a:pPr eaLnBrk="1" hangingPunct="1">
              <a:lnSpc>
                <a:spcPct val="90000"/>
              </a:lnSpc>
            </a:pPr>
            <a:r>
              <a:rPr lang="ru-RU" sz="1600" dirty="0" smtClean="0">
                <a:latin typeface="+mj-lt"/>
              </a:rPr>
              <a:t>Парное выравнивание: поиск </a:t>
            </a:r>
            <a:r>
              <a:rPr lang="ru-RU" sz="1600" dirty="0">
                <a:latin typeface="+mj-lt"/>
              </a:rPr>
              <a:t>сходных участков двух последовательностей</a:t>
            </a:r>
          </a:p>
          <a:p>
            <a:pPr eaLnBrk="1" hangingPunct="1">
              <a:lnSpc>
                <a:spcPct val="90000"/>
              </a:lnSpc>
            </a:pPr>
            <a:r>
              <a:rPr lang="ru-RU" sz="1600" dirty="0">
                <a:latin typeface="+mj-lt"/>
              </a:rPr>
              <a:t>Множественное </a:t>
            </a:r>
            <a:r>
              <a:rPr lang="ru-RU" sz="1600" dirty="0" smtClean="0">
                <a:latin typeface="+mj-lt"/>
              </a:rPr>
              <a:t>выравнивание: поиск консервативных </a:t>
            </a:r>
            <a:r>
              <a:rPr lang="ru-RU" sz="1600" dirty="0">
                <a:latin typeface="+mj-lt"/>
              </a:rPr>
              <a:t>участков в наборе </a:t>
            </a:r>
            <a:r>
              <a:rPr lang="ru-RU" sz="1600" dirty="0" smtClean="0">
                <a:latin typeface="+mj-lt"/>
              </a:rPr>
              <a:t>последовательностей</a:t>
            </a:r>
            <a:endParaRPr lang="ru-RU" sz="16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8313" y="3068960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в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об</a:t>
            </a:r>
            <a:r>
              <a:rPr lang="ru-RU" b="1" dirty="0" err="1">
                <a:latin typeface="Consolas" panose="020B0609020204030204" pitchFamily="49" charset="0"/>
              </a:rPr>
              <a:t>Р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ажение</a:t>
            </a:r>
            <a:r>
              <a:rPr lang="ru-RU" dirty="0">
                <a:latin typeface="Consolas" panose="020B0609020204030204" pitchFamily="49" charset="0"/>
              </a:rPr>
              <a:t/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с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де</a:t>
            </a:r>
            <a:r>
              <a:rPr lang="ru-RU" b="1" dirty="0" err="1">
                <a:latin typeface="Consolas" panose="020B0609020204030204" pitchFamily="49" charset="0"/>
              </a:rPr>
              <a:t>Р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жание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44" y="3068960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во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бра</a:t>
            </a:r>
            <a:r>
              <a:rPr lang="ru-RU" b="1" dirty="0" err="1">
                <a:latin typeface="Consolas" panose="020B0609020204030204" pitchFamily="49" charset="0"/>
              </a:rPr>
              <a:t>Ж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е</a:t>
            </a:r>
            <a:r>
              <a:rPr lang="ru-RU" b="1" dirty="0" err="1">
                <a:latin typeface="Consolas" panose="020B0609020204030204" pitchFamily="49" charset="0"/>
              </a:rPr>
              <a:t>НИЕ</a:t>
            </a:r>
            <a:r>
              <a:rPr lang="ru-RU" dirty="0">
                <a:latin typeface="Consolas" panose="020B0609020204030204" pitchFamily="49" charset="0"/>
              </a:rPr>
              <a:t/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с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дер</a:t>
            </a:r>
            <a:r>
              <a:rPr lang="ru-RU" b="1" dirty="0" err="1">
                <a:latin typeface="Consolas" panose="020B0609020204030204" pitchFamily="49" charset="0"/>
              </a:rPr>
              <a:t>Ж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а</a:t>
            </a:r>
            <a:r>
              <a:rPr lang="ru-RU" b="1" dirty="0" err="1">
                <a:latin typeface="Consolas" panose="020B0609020204030204" pitchFamily="49" charset="0"/>
              </a:rPr>
              <a:t>НИЕ</a:t>
            </a:r>
            <a:endParaRPr lang="ru-RU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67175" y="3068960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в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об</a:t>
            </a:r>
            <a:r>
              <a:rPr lang="ru-RU" b="1" dirty="0" err="1">
                <a:latin typeface="Consolas" panose="020B0609020204030204" pitchFamily="49" charset="0"/>
              </a:rPr>
              <a:t>Р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а</a:t>
            </a:r>
            <a:r>
              <a:rPr lang="ru-RU" b="1" dirty="0" err="1">
                <a:latin typeface="Consolas" panose="020B0609020204030204" pitchFamily="49" charset="0"/>
              </a:rPr>
              <a:t>Ж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е</a:t>
            </a:r>
            <a:r>
              <a:rPr lang="ru-RU" b="1" dirty="0" err="1">
                <a:latin typeface="Consolas" panose="020B0609020204030204" pitchFamily="49" charset="0"/>
              </a:rPr>
              <a:t>НИЕ</a:t>
            </a:r>
            <a:r>
              <a:rPr lang="ru-RU" dirty="0">
                <a:latin typeface="Consolas" panose="020B0609020204030204" pitchFamily="49" charset="0"/>
              </a:rPr>
              <a:t/>
            </a:r>
            <a:br>
              <a:rPr lang="ru-RU" dirty="0">
                <a:latin typeface="Consolas" panose="020B0609020204030204" pitchFamily="49" charset="0"/>
              </a:rPr>
            </a:b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с</a:t>
            </a:r>
            <a:r>
              <a:rPr lang="ru-RU" b="1" dirty="0" err="1">
                <a:latin typeface="Consolas" panose="020B0609020204030204" pitchFamily="49" charset="0"/>
              </a:rPr>
              <a:t>О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де</a:t>
            </a:r>
            <a:r>
              <a:rPr lang="ru-RU" b="1" dirty="0" err="1">
                <a:latin typeface="Consolas" panose="020B0609020204030204" pitchFamily="49" charset="0"/>
              </a:rPr>
              <a:t>Р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ru-RU" b="1" dirty="0" err="1">
                <a:latin typeface="Consolas" panose="020B0609020204030204" pitchFamily="49" charset="0"/>
              </a:rPr>
              <a:t>Ж</a:t>
            </a:r>
            <a:r>
              <a:rPr lang="ru-RU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а</a:t>
            </a:r>
            <a:r>
              <a:rPr lang="ru-RU" b="1" dirty="0" err="1">
                <a:latin typeface="Consolas" panose="020B0609020204030204" pitchFamily="49" charset="0"/>
              </a:rPr>
              <a:t>НИЕ</a:t>
            </a:r>
            <a:endParaRPr lang="ru-RU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68313" y="3858265"/>
            <a:ext cx="15776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latin typeface="Consolas" panose="020B0609020204030204" pitchFamily="49" charset="0"/>
              </a:rPr>
              <a:t>GT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b="1" dirty="0" err="1">
                <a:latin typeface="Consolas" panose="020B0609020204030204" pitchFamily="49" charset="0"/>
              </a:rPr>
              <a:t>TAGT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b="1" dirty="0">
                <a:latin typeface="Consolas" panose="020B0609020204030204" pitchFamily="49" charset="0"/>
              </a:rPr>
              <a:t>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</a:t>
            </a:r>
            <a:r>
              <a:rPr lang="en-US" dirty="0">
                <a:latin typeface="Consolas" panose="020B0609020204030204" pitchFamily="49" charset="0"/>
              </a:rPr>
              <a:t/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1" dirty="0">
                <a:latin typeface="Consolas" panose="020B0609020204030204" pitchFamily="49" charset="0"/>
              </a:rPr>
              <a:t>GT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b="1" dirty="0" err="1">
                <a:latin typeface="Consolas" panose="020B0609020204030204" pitchFamily="49" charset="0"/>
              </a:rPr>
              <a:t>TAGT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ag</a:t>
            </a:r>
            <a:r>
              <a:rPr lang="en-US" b="1" dirty="0" err="1">
                <a:latin typeface="Consolas" panose="020B0609020204030204" pitchFamily="49" charset="0"/>
              </a:rPr>
              <a:t>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c</a:t>
            </a:r>
            <a:endParaRPr lang="ru-RU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67744" y="3858265"/>
            <a:ext cx="17043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</a:rPr>
              <a:t>GT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b="1" dirty="0">
                <a:latin typeface="Consolas" panose="020B0609020204030204" pitchFamily="49" charset="0"/>
              </a:rPr>
              <a:t>A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</a:t>
            </a:r>
            <a:r>
              <a:rPr lang="en-US" b="1" dirty="0" err="1">
                <a:latin typeface="Consolas" panose="020B0609020204030204" pitchFamily="49" charset="0"/>
              </a:rPr>
              <a:t>TAGTC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ta</a:t>
            </a:r>
            <a:r>
              <a:rPr lang="en-US" dirty="0">
                <a:latin typeface="Consolas" panose="020B0609020204030204" pitchFamily="49" charset="0"/>
              </a:rPr>
              <a:t/>
            </a:r>
            <a:br>
              <a:rPr lang="en-US" dirty="0">
                <a:latin typeface="Consolas" panose="020B0609020204030204" pitchFamily="49" charset="0"/>
              </a:rPr>
            </a:br>
            <a:r>
              <a:rPr lang="en-US" b="1" dirty="0" err="1">
                <a:latin typeface="Consolas" panose="020B0609020204030204" pitchFamily="49" charset="0"/>
              </a:rPr>
              <a:t>GT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t</a:t>
            </a:r>
            <a:r>
              <a:rPr lang="en-US" b="1" dirty="0" err="1">
                <a:latin typeface="Consolas" panose="020B0609020204030204" pitchFamily="49" charset="0"/>
              </a:rPr>
              <a:t>A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g</a:t>
            </a:r>
            <a:r>
              <a:rPr lang="en-US" b="1" dirty="0" err="1">
                <a:latin typeface="Consolas" panose="020B0609020204030204" pitchFamily="49" charset="0"/>
              </a:rPr>
              <a:t>TAGTC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--</a:t>
            </a:r>
            <a:endParaRPr lang="ru-RU" dirty="0">
              <a:solidFill>
                <a:schemeClr val="bg1">
                  <a:lumMod val="50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067175" y="3996764"/>
            <a:ext cx="51459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+mj-lt"/>
              </a:rPr>
              <a:t>N = 184 </a:t>
            </a:r>
            <a:r>
              <a:rPr lang="en-US" dirty="0" smtClean="0">
                <a:latin typeface="+mj-lt"/>
              </a:rPr>
              <a:t>756. N</a:t>
            </a:r>
            <a:r>
              <a:rPr lang="en-US" baseline="-25000" dirty="0" smtClean="0">
                <a:latin typeface="+mj-lt"/>
              </a:rPr>
              <a:t>20 </a:t>
            </a:r>
            <a:r>
              <a:rPr lang="en-US" dirty="0" smtClean="0">
                <a:latin typeface="+mj-lt"/>
              </a:rPr>
              <a:t>= </a:t>
            </a:r>
            <a:r>
              <a:rPr lang="ru-RU" dirty="0" smtClean="0">
                <a:latin typeface="+mj-lt"/>
              </a:rPr>
              <a:t>1,38 </a:t>
            </a:r>
            <a:r>
              <a:rPr lang="ru-RU" dirty="0">
                <a:latin typeface="+mj-lt"/>
              </a:rPr>
              <a:t>× </a:t>
            </a:r>
            <a:r>
              <a:rPr lang="ru-RU" dirty="0" smtClean="0">
                <a:latin typeface="+mj-lt"/>
              </a:rPr>
              <a:t>10</a:t>
            </a:r>
            <a:r>
              <a:rPr lang="ru-RU" baseline="30000" dirty="0" smtClean="0">
                <a:latin typeface="+mj-lt"/>
              </a:rPr>
              <a:t>11</a:t>
            </a:r>
            <a:r>
              <a:rPr lang="en-US" dirty="0" smtClean="0">
                <a:latin typeface="+mj-lt"/>
              </a:rPr>
              <a:t>. N</a:t>
            </a:r>
            <a:r>
              <a:rPr lang="en-US" baseline="-25000" dirty="0" smtClean="0">
                <a:latin typeface="+mj-lt"/>
              </a:rPr>
              <a:t>100</a:t>
            </a:r>
            <a:r>
              <a:rPr lang="en-US" dirty="0" smtClean="0">
                <a:latin typeface="+mj-lt"/>
              </a:rPr>
              <a:t> = </a:t>
            </a:r>
            <a:r>
              <a:rPr lang="ru-RU" dirty="0">
                <a:latin typeface="+mj-lt"/>
              </a:rPr>
              <a:t>9,05 × </a:t>
            </a:r>
            <a:r>
              <a:rPr lang="ru-RU" dirty="0" smtClean="0">
                <a:latin typeface="+mj-lt"/>
              </a:rPr>
              <a:t>10</a:t>
            </a:r>
            <a:r>
              <a:rPr lang="ru-RU" baseline="30000" dirty="0" smtClean="0">
                <a:latin typeface="+mj-lt"/>
              </a:rPr>
              <a:t>58</a:t>
            </a:r>
            <a:endParaRPr lang="ru-RU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20" name="Picture 2"/>
          <p:cNvPicPr/>
          <p:nvPr/>
        </p:nvPicPr>
        <p:blipFill>
          <a:blip r:embed="rId2"/>
          <a:stretch/>
        </p:blipFill>
        <p:spPr>
          <a:xfrm>
            <a:off x="447183" y="5013176"/>
            <a:ext cx="8305560" cy="171432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614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4" grpId="0"/>
      <p:bldP spid="15" grpId="0"/>
      <p:bldP spid="16" grpId="0"/>
      <p:bldP spid="1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8521" y="764704"/>
            <a:ext cx="9329459" cy="56166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37333" y="6408322"/>
            <a:ext cx="21066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solidFill>
                  <a:srgbClr val="00B050"/>
                </a:solidFill>
                <a:latin typeface="+mj-lt"/>
                <a:hlinkClick r:id="rId3"/>
              </a:rPr>
              <a:t>bit.ly/BM-</a:t>
            </a:r>
            <a:r>
              <a:rPr lang="en-US" dirty="0" err="1" smtClean="0">
                <a:solidFill>
                  <a:srgbClr val="00B050"/>
                </a:solidFill>
                <a:latin typeface="+mj-lt"/>
                <a:hlinkClick r:id="rId3"/>
              </a:rPr>
              <a:t>InSilico</a:t>
            </a:r>
            <a:r>
              <a:rPr lang="ru-RU" dirty="0" smtClean="0">
                <a:solidFill>
                  <a:srgbClr val="00B050"/>
                </a:solidFill>
                <a:latin typeface="+mj-lt"/>
              </a:rPr>
              <a:t> </a:t>
            </a:r>
            <a:endParaRPr lang="ru-RU" dirty="0">
              <a:solidFill>
                <a:srgbClr val="00B050"/>
              </a:solidFill>
              <a:latin typeface="+mj-lt"/>
            </a:endParaRPr>
          </a:p>
        </p:txBody>
      </p:sp>
      <p:sp>
        <p:nvSpPr>
          <p:cNvPr id="6" name="Text Box 16"/>
          <p:cNvSpPr txBox="1">
            <a:spLocks noChangeArrowheads="1"/>
          </p:cNvSpPr>
          <p:nvPr/>
        </p:nvSpPr>
        <p:spPr bwMode="auto">
          <a:xfrm>
            <a:off x="468313" y="287338"/>
            <a:ext cx="7777162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Выравнивание: пример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последовательностей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898052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«Расстояние» между последовательностями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последовательностей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12" name="CustomShape 2"/>
          <p:cNvSpPr/>
          <p:nvPr/>
        </p:nvSpPr>
        <p:spPr>
          <a:xfrm>
            <a:off x="468312" y="968400"/>
            <a:ext cx="8479488" cy="58838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2000" b="0" strike="noStrike" spc="-1" dirty="0" smtClean="0">
                <a:solidFill>
                  <a:srgbClr val="000000"/>
                </a:solidFill>
                <a:latin typeface="+mj-lt"/>
              </a:rPr>
              <a:t>1. </a:t>
            </a:r>
            <a:r>
              <a:rPr lang="ru-RU" sz="2000" b="1" strike="noStrike" spc="-1" dirty="0" smtClean="0">
                <a:solidFill>
                  <a:srgbClr val="000000"/>
                </a:solidFill>
                <a:latin typeface="+mj-lt"/>
              </a:rPr>
              <a:t>Идентичность последовательностей</a:t>
            </a:r>
            <a:r>
              <a:rPr lang="ru-RU" sz="2000" b="1" spc="-1" dirty="0" smtClean="0">
                <a:solidFill>
                  <a:srgbClr val="000000"/>
                </a:solidFill>
                <a:latin typeface="+mj-lt"/>
              </a:rPr>
              <a:t>.</a:t>
            </a:r>
            <a:r>
              <a:rPr lang="ru-RU" sz="2000" b="0" strike="noStrike" spc="-1" dirty="0" smtClean="0">
                <a:solidFill>
                  <a:srgbClr val="FFFFFF"/>
                </a:solidFill>
                <a:latin typeface="+mj-lt"/>
              </a:rPr>
              <a:t> </a:t>
            </a:r>
            <a:r>
              <a:rPr lang="ru-RU" sz="1400" spc="-1" dirty="0" smtClean="0">
                <a:solidFill>
                  <a:srgbClr val="000000"/>
                </a:solidFill>
                <a:latin typeface="+mj-lt"/>
              </a:rPr>
              <a:t>Доля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+mj-lt"/>
              </a:rPr>
              <a:t> идентичных </a:t>
            </a:r>
            <a:r>
              <a:rPr lang="ru-RU" sz="1400" b="0" strike="noStrike" spc="-1" dirty="0" err="1" smtClean="0">
                <a:solidFill>
                  <a:srgbClr val="000000"/>
                </a:solidFill>
                <a:latin typeface="+mj-lt"/>
              </a:rPr>
              <a:t>а.о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+mj-lt"/>
              </a:rPr>
              <a:t>., </a:t>
            </a:r>
            <a:r>
              <a:rPr lang="ru-RU" sz="1400" b="0" strike="noStrike" spc="-1" dirty="0">
                <a:solidFill>
                  <a:srgbClr val="000000"/>
                </a:solidFill>
                <a:latin typeface="+mj-lt"/>
              </a:rPr>
              <a:t>стоящих в тех же позициях в 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+mj-lt"/>
              </a:rPr>
              <a:t>последовательностях А и В</a:t>
            </a:r>
          </a:p>
          <a:p>
            <a:pPr>
              <a:lnSpc>
                <a:spcPct val="100000"/>
              </a:lnSpc>
            </a:pPr>
            <a:endParaRPr lang="en-US" sz="1600" b="1" strike="noStrike" spc="-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Seq1</a:t>
            </a: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: FTFTALILLA   Идентичность = 80%</a:t>
            </a:r>
            <a:endParaRPr lang="ru-RU" sz="16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Seq2: F</a:t>
            </a:r>
            <a:r>
              <a:rPr lang="ru-RU" sz="1600" b="1" strike="noStrike" spc="-1" dirty="0">
                <a:solidFill>
                  <a:srgbClr val="FF0000"/>
                </a:solidFill>
                <a:latin typeface="Consolas" panose="020B0609020204030204" pitchFamily="49" charset="0"/>
              </a:rPr>
              <a:t>E</a:t>
            </a: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FTAL</a:t>
            </a:r>
            <a:r>
              <a:rPr lang="ru-RU" sz="1600" b="1" strike="noStrike" spc="-1" dirty="0">
                <a:solidFill>
                  <a:srgbClr val="FF0000"/>
                </a:solidFill>
                <a:latin typeface="Consolas" panose="020B0609020204030204" pitchFamily="49" charset="0"/>
              </a:rPr>
              <a:t>V</a:t>
            </a: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LLA</a:t>
            </a:r>
            <a:endParaRPr lang="ru-RU" sz="16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ru-RU" sz="2000" b="0" strike="noStrike" spc="-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2000" b="0" strike="noStrike" spc="-1" dirty="0">
                <a:solidFill>
                  <a:srgbClr val="000000"/>
                </a:solidFill>
                <a:latin typeface="+mj-lt"/>
              </a:rPr>
              <a:t>2. </a:t>
            </a:r>
            <a:r>
              <a:rPr lang="ru-RU" sz="2000" b="1" strike="noStrike" spc="-1" dirty="0">
                <a:solidFill>
                  <a:srgbClr val="000000"/>
                </a:solidFill>
                <a:latin typeface="+mj-lt"/>
              </a:rPr>
              <a:t>Расстояние по </a:t>
            </a:r>
            <a:r>
              <a:rPr lang="ru-RU" sz="2000" b="1" strike="noStrike" spc="-1" dirty="0" smtClean="0">
                <a:solidFill>
                  <a:srgbClr val="000000"/>
                </a:solidFill>
                <a:latin typeface="+mj-lt"/>
              </a:rPr>
              <a:t>Хеммингу</a:t>
            </a:r>
            <a:r>
              <a:rPr lang="en-US" sz="2000" b="1" spc="-1" dirty="0" smtClean="0">
                <a:solidFill>
                  <a:srgbClr val="000000"/>
                </a:solidFill>
                <a:latin typeface="+mj-lt"/>
              </a:rPr>
              <a:t>. 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+mj-lt"/>
              </a:rPr>
              <a:t>Количество </a:t>
            </a:r>
            <a:r>
              <a:rPr lang="ru-RU" sz="1400" b="0" strike="noStrike" spc="-1" dirty="0">
                <a:solidFill>
                  <a:srgbClr val="000000"/>
                </a:solidFill>
                <a:latin typeface="+mj-lt"/>
              </a:rPr>
              <a:t>несовпадающих 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+mj-lt"/>
              </a:rPr>
              <a:t>позиций</a:t>
            </a:r>
            <a:endParaRPr lang="ru-RU" sz="1400" b="0" strike="noStrike" spc="-1" dirty="0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100000"/>
              </a:lnSpc>
            </a:pPr>
            <a:endParaRPr lang="en-US" sz="1400" b="1" strike="noStrike" spc="-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Seq1</a:t>
            </a: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: FTFTALILLA   </a:t>
            </a:r>
            <a:r>
              <a:rPr lang="en-US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lang="ru-RU" sz="1600" b="1" strike="noStrike" spc="-1" baseline="-25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Хемминг</a:t>
            </a:r>
            <a:r>
              <a:rPr lang="ru-RU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= 2</a:t>
            </a:r>
            <a:endParaRPr lang="ru-RU" sz="16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Seq2: F</a:t>
            </a:r>
            <a:r>
              <a:rPr lang="ru-RU" sz="1600" b="1" strike="noStrike" spc="-1" dirty="0">
                <a:solidFill>
                  <a:srgbClr val="FF0000"/>
                </a:solidFill>
                <a:latin typeface="Consolas" panose="020B0609020204030204" pitchFamily="49" charset="0"/>
              </a:rPr>
              <a:t>E</a:t>
            </a: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FTAL</a:t>
            </a:r>
            <a:r>
              <a:rPr lang="ru-RU" sz="1600" b="1" strike="noStrike" spc="-1" dirty="0">
                <a:solidFill>
                  <a:srgbClr val="FF0000"/>
                </a:solidFill>
                <a:latin typeface="Consolas" panose="020B0609020204030204" pitchFamily="49" charset="0"/>
              </a:rPr>
              <a:t>V</a:t>
            </a: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LLA</a:t>
            </a:r>
            <a:endParaRPr lang="ru-RU" sz="16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endParaRPr lang="ru-RU" sz="2000" b="0" strike="noStrike" spc="-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2000" b="0" strike="noStrike" spc="-1" dirty="0">
                <a:solidFill>
                  <a:srgbClr val="000000"/>
                </a:solidFill>
                <a:latin typeface="+mj-lt"/>
              </a:rPr>
              <a:t>3. </a:t>
            </a:r>
            <a:r>
              <a:rPr lang="ru-RU" sz="2000" b="1" strike="noStrike" spc="-1" dirty="0">
                <a:solidFill>
                  <a:srgbClr val="000000"/>
                </a:solidFill>
                <a:latin typeface="+mj-lt"/>
              </a:rPr>
              <a:t>Расстояние по </a:t>
            </a:r>
            <a:r>
              <a:rPr lang="ru-RU" sz="2000" b="1" strike="noStrike" spc="-1" dirty="0" err="1">
                <a:solidFill>
                  <a:srgbClr val="000000"/>
                </a:solidFill>
                <a:latin typeface="+mj-lt"/>
              </a:rPr>
              <a:t>Левенштайну</a:t>
            </a:r>
            <a:r>
              <a:rPr lang="ru-RU" sz="2000" b="1" strike="noStrike" spc="-1" dirty="0">
                <a:solidFill>
                  <a:srgbClr val="000000"/>
                </a:solidFill>
                <a:latin typeface="+mj-lt"/>
              </a:rPr>
              <a:t> (редакционное </a:t>
            </a:r>
            <a:r>
              <a:rPr lang="ru-RU" sz="2000" b="1" strike="noStrike" spc="-1" dirty="0" smtClean="0">
                <a:solidFill>
                  <a:srgbClr val="000000"/>
                </a:solidFill>
                <a:latin typeface="+mj-lt"/>
              </a:rPr>
              <a:t>расстояние)</a:t>
            </a:r>
            <a:r>
              <a:rPr lang="en-US" sz="2000" b="1" spc="-1" dirty="0" smtClean="0">
                <a:solidFill>
                  <a:srgbClr val="000000"/>
                </a:solidFill>
                <a:latin typeface="+mj-lt"/>
              </a:rPr>
              <a:t>. 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+mj-lt"/>
              </a:rPr>
              <a:t>Минимальное число </a:t>
            </a:r>
            <a:r>
              <a:rPr lang="ru-RU" sz="1400" b="0" strike="noStrike" spc="-1" dirty="0">
                <a:solidFill>
                  <a:srgbClr val="000000"/>
                </a:solidFill>
                <a:latin typeface="+mj-lt"/>
              </a:rPr>
              <a:t>преобразований, переводящих одну последовательность в </a:t>
            </a:r>
            <a:r>
              <a:rPr lang="ru-RU" sz="1400" b="0" strike="noStrike" spc="-1" dirty="0" smtClean="0">
                <a:solidFill>
                  <a:srgbClr val="000000"/>
                </a:solidFill>
                <a:latin typeface="+mj-lt"/>
              </a:rPr>
              <a:t>другую</a:t>
            </a:r>
            <a:endParaRPr lang="ru-RU" sz="1400" b="0" strike="noStrike" spc="-1" dirty="0">
              <a:solidFill>
                <a:srgbClr val="FFFFFF"/>
              </a:solidFill>
              <a:latin typeface="+mj-lt"/>
            </a:endParaRPr>
          </a:p>
          <a:p>
            <a:pPr>
              <a:lnSpc>
                <a:spcPct val="100000"/>
              </a:lnSpc>
            </a:pPr>
            <a:endParaRPr lang="en-US" sz="1600" b="1" strike="noStrike" spc="-1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Seq1</a:t>
            </a: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: FTFT-LILLA   </a:t>
            </a:r>
            <a:r>
              <a:rPr lang="en-US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R</a:t>
            </a:r>
            <a:r>
              <a:rPr lang="ru-RU" sz="1600" b="1" strike="noStrike" spc="-1" baseline="-25000" dirty="0" smtClean="0">
                <a:solidFill>
                  <a:srgbClr val="000000"/>
                </a:solidFill>
                <a:latin typeface="Consolas" panose="020B0609020204030204" pitchFamily="49" charset="0"/>
              </a:rPr>
              <a:t>Ред</a:t>
            </a:r>
            <a:r>
              <a:rPr lang="ru-RU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= 3</a:t>
            </a:r>
            <a:endParaRPr lang="ru-RU" sz="1600" b="0" strike="noStrike" spc="-1" dirty="0">
              <a:solidFill>
                <a:srgbClr val="FFFFFF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1600" b="1" strike="noStrike" spc="-1" dirty="0">
                <a:solidFill>
                  <a:srgbClr val="000000"/>
                </a:solidFill>
                <a:latin typeface="Consolas" panose="020B0609020204030204" pitchFamily="49" charset="0"/>
              </a:rPr>
              <a:t>Seq2: </a:t>
            </a:r>
            <a:r>
              <a:rPr lang="ru-RU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</a:t>
            </a:r>
            <a:r>
              <a:rPr lang="ru-RU" sz="1600" b="1" strike="noStrike" spc="-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E</a:t>
            </a:r>
            <a:r>
              <a:rPr lang="ru-RU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FT</a:t>
            </a:r>
            <a:r>
              <a:rPr lang="ru-RU" sz="1600" b="1" strike="noStrike" spc="-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A</a:t>
            </a:r>
            <a:r>
              <a:rPr lang="ru-RU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</a:t>
            </a:r>
            <a:r>
              <a:rPr lang="ru-RU" sz="1600" b="1" strike="noStrike" spc="-1" dirty="0" smtClean="0">
                <a:solidFill>
                  <a:srgbClr val="FF0000"/>
                </a:solidFill>
                <a:latin typeface="Consolas" panose="020B0609020204030204" pitchFamily="49" charset="0"/>
              </a:rPr>
              <a:t>V</a:t>
            </a:r>
            <a:r>
              <a:rPr lang="ru-RU" sz="1600" b="1" strike="noStrike" spc="-1" dirty="0" smtClean="0">
                <a:solidFill>
                  <a:srgbClr val="000000"/>
                </a:solidFill>
                <a:latin typeface="Consolas" panose="020B0609020204030204" pitchFamily="49" charset="0"/>
              </a:rPr>
              <a:t>LLA</a:t>
            </a:r>
          </a:p>
          <a:p>
            <a:pPr>
              <a:lnSpc>
                <a:spcPct val="100000"/>
              </a:lnSpc>
            </a:pPr>
            <a:endParaRPr lang="ru-RU" sz="1600" b="1" spc="-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00000"/>
              </a:lnSpc>
            </a:pPr>
            <a:r>
              <a:rPr lang="ru-RU" sz="2000" strike="noStrike" spc="-1" dirty="0" smtClean="0">
                <a:solidFill>
                  <a:srgbClr val="C00000"/>
                </a:solidFill>
                <a:latin typeface="+mj-lt"/>
              </a:rPr>
              <a:t>Требуется учитывать природу а</a:t>
            </a:r>
            <a:r>
              <a:rPr lang="en-US" sz="2000" strike="noStrike" spc="-1" dirty="0" smtClean="0">
                <a:solidFill>
                  <a:srgbClr val="C00000"/>
                </a:solidFill>
                <a:latin typeface="+mj-lt"/>
              </a:rPr>
              <a:t>/</a:t>
            </a:r>
            <a:r>
              <a:rPr lang="ru-RU" sz="2000" strike="noStrike" spc="-1" dirty="0" smtClean="0">
                <a:solidFill>
                  <a:srgbClr val="C00000"/>
                </a:solidFill>
                <a:latin typeface="+mj-lt"/>
              </a:rPr>
              <a:t>к замен!</a:t>
            </a:r>
            <a:endParaRPr lang="ru-RU" sz="2000" strike="noStrike" spc="-1" dirty="0">
              <a:solidFill>
                <a:srgbClr val="C0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24078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Физико-химические свойства а</a:t>
            </a:r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/</a:t>
            </a: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 остатков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последовательностей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pic>
        <p:nvPicPr>
          <p:cNvPr id="20482" name="Picture 2" descr="https://player.slideplayer.com/77/12785111/slides/slide_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3636" r="9091"/>
          <a:stretch/>
        </p:blipFill>
        <p:spPr bwMode="auto">
          <a:xfrm>
            <a:off x="683568" y="764446"/>
            <a:ext cx="7712306" cy="610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1502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Вероятность замены а</a:t>
            </a:r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/</a:t>
            </a: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 остатков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последовательностей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pic>
        <p:nvPicPr>
          <p:cNvPr id="23554" name="Picture 2" descr="ÐÐ°ÑÑÐ¸Ð½ÐºÐ¸ Ð¿Ð¾ Ð·Ð°Ð¿ÑÐ¾ÑÑ amino acid properti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692" y="841336"/>
            <a:ext cx="7920112" cy="593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8310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Матрицы замены а</a:t>
            </a:r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/</a:t>
            </a: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к остатков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последовательностей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pic>
        <p:nvPicPr>
          <p:cNvPr id="11" name="Picture 1"/>
          <p:cNvPicPr/>
          <p:nvPr/>
        </p:nvPicPr>
        <p:blipFill>
          <a:blip r:embed="rId2"/>
          <a:stretch/>
        </p:blipFill>
        <p:spPr>
          <a:xfrm>
            <a:off x="611560" y="841781"/>
            <a:ext cx="7704000" cy="5778000"/>
          </a:xfrm>
          <a:prstGeom prst="rect">
            <a:avLst/>
          </a:prstGeom>
          <a:ln w="9360">
            <a:noFill/>
          </a:ln>
        </p:spPr>
      </p:pic>
    </p:spTree>
    <p:extLst>
      <p:ext uri="{BB962C8B-B14F-4D97-AF65-F5344CB8AC3E}">
        <p14:creationId xmlns:p14="http://schemas.microsoft.com/office/powerpoint/2010/main" val="1620357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Множественное выравнивание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последовательностей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6" name="CustomShape 2"/>
          <p:cNvSpPr/>
          <p:nvPr/>
        </p:nvSpPr>
        <p:spPr>
          <a:xfrm>
            <a:off x="468312" y="953640"/>
            <a:ext cx="7919688" cy="7304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2400" b="1" strike="noStrike" spc="-1" dirty="0" err="1">
                <a:solidFill>
                  <a:srgbClr val="000000"/>
                </a:solidFill>
              </a:rPr>
              <a:t>Сlustal</a:t>
            </a:r>
            <a:r>
              <a:rPr lang="ru-RU" sz="2400" b="1" strike="noStrike" spc="-1" dirty="0">
                <a:solidFill>
                  <a:srgbClr val="000000"/>
                </a:solidFill>
              </a:rPr>
              <a:t> </a:t>
            </a:r>
            <a:r>
              <a:rPr lang="ru-RU" sz="1800" b="0" strike="noStrike" spc="-1" dirty="0">
                <a:solidFill>
                  <a:srgbClr val="000000"/>
                </a:solidFill>
              </a:rPr>
              <a:t>– наиболее используемый в мире кластер программ для множественного выравнивания последовательностей</a:t>
            </a:r>
            <a:endParaRPr lang="ru-RU" sz="1800" b="0" strike="noStrike" spc="-1" dirty="0">
              <a:solidFill>
                <a:srgbClr val="FFFFFF"/>
              </a:solidFill>
            </a:endParaRPr>
          </a:p>
        </p:txBody>
      </p:sp>
      <p:pic>
        <p:nvPicPr>
          <p:cNvPr id="2050" name="Picture 2" descr="https://biomolecula.ru/img/content/2301/06.mnozhestvennoe-vyravnivani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" y="1684080"/>
            <a:ext cx="9142832" cy="51638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535993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12" y="841335"/>
            <a:ext cx="5255816" cy="6065877"/>
          </a:xfrm>
          <a:prstGeom prst="rect">
            <a:avLst/>
          </a:prstGeom>
        </p:spPr>
      </p:pic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568184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Множественное выравнивание</a:t>
            </a:r>
            <a:endParaRPr lang="ru-RU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VI. </a:t>
            </a:r>
            <a:r>
              <a:rPr lang="ru-RU" sz="1600" b="1" i="1" dirty="0">
                <a:solidFill>
                  <a:srgbClr val="FFFF00"/>
                </a:solidFill>
                <a:latin typeface="+mj-lt"/>
              </a:rPr>
              <a:t>Выравнивание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последовательностей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95387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VII.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Поиск последовательностей в базах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Поиск «гомологов»</a:t>
            </a:r>
            <a:endParaRPr lang="ru-RU" sz="30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9" name="CustomShape 2"/>
          <p:cNvSpPr/>
          <p:nvPr/>
        </p:nvSpPr>
        <p:spPr>
          <a:xfrm>
            <a:off x="468312" y="953640"/>
            <a:ext cx="8391288" cy="18270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ru-RU" sz="2400" b="1" strike="noStrike" spc="-1" dirty="0">
                <a:solidFill>
                  <a:srgbClr val="000000"/>
                </a:solidFill>
              </a:rPr>
              <a:t>BLAST</a:t>
            </a:r>
            <a:r>
              <a:rPr lang="ru-RU" sz="2400" b="0" strike="noStrike" spc="-1" dirty="0">
                <a:solidFill>
                  <a:srgbClr val="000000"/>
                </a:solidFill>
              </a:rPr>
              <a:t> (англ. </a:t>
            </a:r>
            <a:r>
              <a:rPr lang="ru-RU" sz="2400" b="1" strike="noStrike" spc="-1" dirty="0" err="1">
                <a:solidFill>
                  <a:srgbClr val="000000"/>
                </a:solidFill>
              </a:rPr>
              <a:t>B</a:t>
            </a:r>
            <a:r>
              <a:rPr lang="ru-RU" sz="2400" b="0" strike="noStrike" spc="-1" dirty="0" err="1">
                <a:solidFill>
                  <a:srgbClr val="000000"/>
                </a:solidFill>
              </a:rPr>
              <a:t>asic</a:t>
            </a:r>
            <a:r>
              <a:rPr lang="ru-RU" sz="2400" b="0" strike="noStrike" spc="-1" dirty="0">
                <a:solidFill>
                  <a:srgbClr val="000000"/>
                </a:solidFill>
              </a:rPr>
              <a:t> </a:t>
            </a:r>
            <a:r>
              <a:rPr lang="ru-RU" sz="2400" b="1" strike="noStrike" spc="-1" dirty="0" err="1">
                <a:solidFill>
                  <a:srgbClr val="000000"/>
                </a:solidFill>
              </a:rPr>
              <a:t>L</a:t>
            </a:r>
            <a:r>
              <a:rPr lang="ru-RU" sz="2400" b="0" strike="noStrike" spc="-1" dirty="0" err="1">
                <a:solidFill>
                  <a:srgbClr val="000000"/>
                </a:solidFill>
              </a:rPr>
              <a:t>ocal</a:t>
            </a:r>
            <a:r>
              <a:rPr lang="ru-RU" sz="2400" b="0" strike="noStrike" spc="-1" dirty="0">
                <a:solidFill>
                  <a:srgbClr val="000000"/>
                </a:solidFill>
              </a:rPr>
              <a:t> </a:t>
            </a:r>
            <a:r>
              <a:rPr lang="ru-RU" sz="2400" b="1" strike="noStrike" spc="-1" dirty="0" err="1">
                <a:solidFill>
                  <a:srgbClr val="000000"/>
                </a:solidFill>
              </a:rPr>
              <a:t>A</a:t>
            </a:r>
            <a:r>
              <a:rPr lang="ru-RU" sz="2400" b="0" strike="noStrike" spc="-1" dirty="0" err="1">
                <a:solidFill>
                  <a:srgbClr val="000000"/>
                </a:solidFill>
              </a:rPr>
              <a:t>lignment</a:t>
            </a:r>
            <a:r>
              <a:rPr lang="ru-RU" sz="2400" b="0" strike="noStrike" spc="-1" dirty="0">
                <a:solidFill>
                  <a:srgbClr val="000000"/>
                </a:solidFill>
              </a:rPr>
              <a:t> </a:t>
            </a:r>
            <a:r>
              <a:rPr lang="ru-RU" sz="2400" b="1" strike="noStrike" spc="-1" dirty="0" err="1">
                <a:solidFill>
                  <a:srgbClr val="000000"/>
                </a:solidFill>
              </a:rPr>
              <a:t>S</a:t>
            </a:r>
            <a:r>
              <a:rPr lang="ru-RU" sz="2400" b="0" strike="noStrike" spc="-1" dirty="0" err="1">
                <a:solidFill>
                  <a:srgbClr val="000000"/>
                </a:solidFill>
              </a:rPr>
              <a:t>earch</a:t>
            </a:r>
            <a:r>
              <a:rPr lang="ru-RU" sz="2400" b="0" strike="noStrike" spc="-1" dirty="0">
                <a:solidFill>
                  <a:srgbClr val="000000"/>
                </a:solidFill>
              </a:rPr>
              <a:t> </a:t>
            </a:r>
            <a:r>
              <a:rPr lang="ru-RU" sz="2400" b="1" strike="noStrike" spc="-1" dirty="0" err="1">
                <a:solidFill>
                  <a:srgbClr val="000000"/>
                </a:solidFill>
              </a:rPr>
              <a:t>T</a:t>
            </a:r>
            <a:r>
              <a:rPr lang="ru-RU" sz="2400" b="0" strike="noStrike" spc="-1" dirty="0" err="1">
                <a:solidFill>
                  <a:srgbClr val="000000"/>
                </a:solidFill>
              </a:rPr>
              <a:t>ool</a:t>
            </a:r>
            <a:r>
              <a:rPr lang="ru-RU" sz="2400" b="0" strike="noStrike" spc="-1" dirty="0">
                <a:solidFill>
                  <a:srgbClr val="000000"/>
                </a:solidFill>
              </a:rPr>
              <a:t>)</a:t>
            </a:r>
            <a:r>
              <a:rPr lang="ru-RU" sz="1800" b="0" strike="noStrike" spc="-1" dirty="0">
                <a:solidFill>
                  <a:srgbClr val="000000"/>
                </a:solidFill>
              </a:rPr>
              <a:t> — семейство компьютерных программ для поиска гомологов белков или нуклеиновых кислот, для которых известна первичная структура или её фрагмент.</a:t>
            </a:r>
            <a:endParaRPr lang="ru-RU" sz="1800" b="0" strike="noStrike" spc="-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endParaRPr lang="ru-RU" sz="1800" b="0" strike="noStrike" spc="-1" dirty="0">
              <a:solidFill>
                <a:srgbClr val="FFFFFF"/>
              </a:solidFill>
            </a:endParaRPr>
          </a:p>
          <a:p>
            <a:pPr>
              <a:lnSpc>
                <a:spcPct val="100000"/>
              </a:lnSpc>
            </a:pPr>
            <a:r>
              <a:rPr lang="ru-RU" sz="1800" b="0" strike="noStrike" spc="-1" dirty="0">
                <a:solidFill>
                  <a:srgbClr val="000000"/>
                </a:solidFill>
              </a:rPr>
              <a:t>Идея — поиск в последовательности похожих или совпадающих «слов» максимальной </a:t>
            </a:r>
            <a:r>
              <a:rPr lang="ru-RU" sz="1800" b="0" strike="noStrike" spc="-1" dirty="0" smtClean="0">
                <a:solidFill>
                  <a:srgbClr val="000000"/>
                </a:solidFill>
              </a:rPr>
              <a:t>длины</a:t>
            </a:r>
            <a:r>
              <a:rPr lang="en-US" spc="-1" dirty="0">
                <a:solidFill>
                  <a:srgbClr val="000000"/>
                </a:solidFill>
              </a:rPr>
              <a:t>.</a:t>
            </a:r>
            <a:endParaRPr lang="ru-RU" sz="1800" b="0" strike="noStrike" spc="-1" dirty="0">
              <a:solidFill>
                <a:srgbClr val="FFFFFF"/>
              </a:solidFill>
            </a:endParaRPr>
          </a:p>
        </p:txBody>
      </p:sp>
      <p:pic>
        <p:nvPicPr>
          <p:cNvPr id="10" name="Рисунок 9"/>
          <p:cNvPicPr/>
          <p:nvPr/>
        </p:nvPicPr>
        <p:blipFill>
          <a:blip r:embed="rId2"/>
          <a:stretch/>
        </p:blipFill>
        <p:spPr>
          <a:xfrm>
            <a:off x="1547664" y="3140968"/>
            <a:ext cx="5760000" cy="351288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21609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VII.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Поиск последовательностей в базах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Поиск «гомологов»: </a:t>
            </a:r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BLAST</a:t>
            </a:r>
            <a:endParaRPr lang="ru-RU" sz="30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12" y="1129834"/>
            <a:ext cx="9144000" cy="541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71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839259" y="0"/>
            <a:ext cx="4341253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VII.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Поиск последовательностей в базах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Поиск «гомологов»: </a:t>
            </a:r>
            <a:r>
              <a:rPr lang="en-US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FASTA</a:t>
            </a:r>
            <a:endParaRPr lang="ru-RU" sz="30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4690"/>
            <a:ext cx="9144000" cy="541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48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96251" y="0"/>
            <a:ext cx="3384261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sz="1600" b="1" i="1" dirty="0" smtClean="0">
                <a:solidFill>
                  <a:srgbClr val="FFFF00"/>
                </a:solidFill>
                <a:latin typeface="+mj-lt"/>
              </a:rPr>
              <a:t>VII. </a:t>
            </a:r>
            <a:r>
              <a:rPr lang="ru-RU" sz="1600" b="1" i="1" dirty="0" smtClean="0">
                <a:solidFill>
                  <a:srgbClr val="FFFF00"/>
                </a:solidFill>
                <a:latin typeface="+mj-lt"/>
              </a:rPr>
              <a:t>Филогенетические деревья</a:t>
            </a:r>
            <a:endParaRPr lang="ru-RU" sz="1600" b="1" i="1" dirty="0">
              <a:solidFill>
                <a:srgbClr val="FFFF00"/>
              </a:solidFill>
              <a:latin typeface="+mj-lt"/>
            </a:endParaRPr>
          </a:p>
        </p:txBody>
      </p:sp>
      <p:sp>
        <p:nvSpPr>
          <p:cNvPr id="5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Молекулярная эволюция</a:t>
            </a:r>
            <a:endParaRPr lang="ru-RU" sz="30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pic>
        <p:nvPicPr>
          <p:cNvPr id="1026" name="Picture 2" descr="ÐÑÐ¸Ð¼ÐµÑ ÑÐ¸Ð»Ð¾Ð³ÐµÐ½ÐµÑÐ¸ÑÐµÑÐºÐ¾Ð³Ð¾ Ð´ÐµÑÐµÐ²Ð°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1" r="1926"/>
          <a:stretch/>
        </p:blipFill>
        <p:spPr bwMode="auto">
          <a:xfrm>
            <a:off x="468311" y="980728"/>
            <a:ext cx="7584929" cy="4752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biomolecula.ru/media/cache/b2/6f/b26f8c87be2d0bd26f45cb25f79e71ed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2492896"/>
            <a:ext cx="1990725" cy="381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611560" y="6302896"/>
            <a:ext cx="2714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>
                <a:latin typeface="+mj-lt"/>
              </a:rPr>
              <a:t>Карл </a:t>
            </a:r>
            <a:r>
              <a:rPr lang="ru-RU" b="1" dirty="0" err="1">
                <a:latin typeface="+mj-lt"/>
              </a:rPr>
              <a:t>Вёзе</a:t>
            </a:r>
            <a:r>
              <a:rPr lang="ru-RU" b="1" dirty="0">
                <a:latin typeface="+mj-lt"/>
              </a:rPr>
              <a:t> (1928–2012</a:t>
            </a:r>
            <a:r>
              <a:rPr lang="ru-RU" b="1" dirty="0" smtClean="0">
                <a:latin typeface="+mj-lt"/>
              </a:rPr>
              <a:t>)</a:t>
            </a:r>
            <a:endParaRPr lang="ru-RU" b="1" dirty="0">
              <a:latin typeface="+mj-lt"/>
            </a:endParaRPr>
          </a:p>
        </p:txBody>
      </p:sp>
      <p:pic>
        <p:nvPicPr>
          <p:cNvPr id="1030" name="Picture 6" descr="ÐÐ°ÑÑÐ¸Ð½ÐºÐ¸ Ð¿Ð¾ Ð·Ð°Ð¿ÑÐ¾ÑÑ Phylogenetic Classification and the Universal Tree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274" y="2772016"/>
            <a:ext cx="4917285" cy="36994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672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Выводы</a:t>
            </a:r>
            <a:endParaRPr lang="ru-RU" sz="30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457200" y="1052736"/>
            <a:ext cx="8579296" cy="187325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r>
              <a:rPr lang="ru-RU" sz="2200" dirty="0" smtClean="0"/>
              <a:t>Без</a:t>
            </a:r>
            <a:r>
              <a:rPr lang="en-US" sz="2200" dirty="0" smtClean="0"/>
              <a:t> </a:t>
            </a:r>
            <a:r>
              <a:rPr lang="ru-RU" sz="2200" dirty="0" err="1" smtClean="0"/>
              <a:t>биоинформатики</a:t>
            </a:r>
            <a:r>
              <a:rPr lang="ru-RU" sz="2200" dirty="0" smtClean="0"/>
              <a:t> современная биология невозможна</a:t>
            </a:r>
          </a:p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endParaRPr lang="ru-RU" sz="2200" dirty="0"/>
          </a:p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r>
              <a:rPr lang="ru-RU" sz="2200" dirty="0" smtClean="0"/>
              <a:t>Продукт </a:t>
            </a:r>
            <a:r>
              <a:rPr lang="ru-RU" sz="2200" dirty="0" err="1" smtClean="0"/>
              <a:t>биоинформатики</a:t>
            </a:r>
            <a:r>
              <a:rPr lang="ru-RU" sz="2200" dirty="0" smtClean="0"/>
              <a:t> — онлайн-базы </a:t>
            </a:r>
            <a:r>
              <a:rPr lang="ru-RU" sz="2200" dirty="0"/>
              <a:t>данных </a:t>
            </a:r>
            <a:r>
              <a:rPr lang="ru-RU" sz="2200" dirty="0" smtClean="0"/>
              <a:t>— уже воспринимается как «воздух»</a:t>
            </a:r>
          </a:p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endParaRPr lang="ru-RU" sz="2200" dirty="0"/>
          </a:p>
          <a:p>
            <a:pPr eaLnBrk="1" hangingPunct="1">
              <a:lnSpc>
                <a:spcPct val="90000"/>
              </a:lnSpc>
              <a:buFont typeface="+mj-lt"/>
              <a:buAutoNum type="arabicPeriod"/>
            </a:pPr>
            <a:r>
              <a:rPr lang="ru-RU" sz="2200" dirty="0" smtClean="0"/>
              <a:t>Очень многие исследования в современной биологии можно делать «всухую», без капли реактива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405756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71304"/>
            <a:ext cx="6096000" cy="929640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16832"/>
            <a:ext cx="1440000" cy="1281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195576" y="2132856"/>
            <a:ext cx="20882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Торжество компьютерных методов: предсказание строения </a:t>
            </a:r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белков</a:t>
            </a:r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195416" y="3717032"/>
            <a:ext cx="208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Молекулярная динамика </a:t>
            </a:r>
            <a:r>
              <a:rPr lang="ru-RU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биомолекул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. </a:t>
            </a:r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История 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полувековой давности</a:t>
            </a:r>
          </a:p>
        </p:txBody>
      </p:sp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169" y="3356992"/>
            <a:ext cx="1440000" cy="127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555" y="4869160"/>
            <a:ext cx="1440000" cy="10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195416" y="4995053"/>
            <a:ext cx="208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Драг-дизайн: как в современном мире создаются новые лекарства</a:t>
            </a:r>
          </a:p>
        </p:txBody>
      </p:sp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872" y="1969506"/>
            <a:ext cx="1440000" cy="96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377264" y="2405030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454-секвенирование </a:t>
            </a:r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ДНК</a:t>
            </a:r>
            <a:endParaRPr lang="ru-RU" sz="140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13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872" y="3050083"/>
            <a:ext cx="1440000" cy="1852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377264" y="4373382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На заре молекулярной графики</a:t>
            </a:r>
          </a:p>
        </p:txBody>
      </p:sp>
      <p:pic>
        <p:nvPicPr>
          <p:cNvPr id="15" name="Picture 9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872" y="5013384"/>
            <a:ext cx="1440000" cy="1090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6377264" y="5157192"/>
            <a:ext cx="208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Ловля бабочек, или чем структурная </a:t>
            </a:r>
            <a:r>
              <a:rPr lang="ru-RU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геномика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 поможет биологии</a:t>
            </a:r>
          </a:p>
        </p:txBody>
      </p:sp>
    </p:spTree>
    <p:extLst>
      <p:ext uri="{BB962C8B-B14F-4D97-AF65-F5344CB8AC3E}">
        <p14:creationId xmlns:p14="http://schemas.microsoft.com/office/powerpoint/2010/main" val="401210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2" grpId="0"/>
      <p:bldP spid="14" grpId="0"/>
      <p:bldP spid="1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71304"/>
            <a:ext cx="6096000" cy="929640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060848"/>
            <a:ext cx="1440000" cy="10656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122959" y="2353185"/>
            <a:ext cx="20882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Невидимая граница: где сталкиваются «нано» и «</a:t>
            </a:r>
            <a:r>
              <a:rPr lang="ru-RU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био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»</a:t>
            </a: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133" y="3289289"/>
            <a:ext cx="1440000" cy="1418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122959" y="4153385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Недоупорядоченные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 белки</a:t>
            </a:r>
          </a:p>
        </p:txBody>
      </p:sp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873465"/>
            <a:ext cx="1440000" cy="10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122959" y="4873465"/>
            <a:ext cx="208823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Антимикробные пептиды — возможная альтернатива традиционным антибиотикам</a:t>
            </a:r>
          </a:p>
        </p:txBody>
      </p:sp>
      <p:pic>
        <p:nvPicPr>
          <p:cNvPr id="11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321" y="1949449"/>
            <a:ext cx="1440000" cy="114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6321661" y="2353185"/>
            <a:ext cx="22100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Зрительный родопсин — рецептор, реагирующий на свет</a:t>
            </a:r>
          </a:p>
        </p:txBody>
      </p:sp>
      <p:pic>
        <p:nvPicPr>
          <p:cNvPr id="13" name="Picture 6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321" y="3289289"/>
            <a:ext cx="1440000" cy="1627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321661" y="4369409"/>
            <a:ext cx="2210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Рецепторы в активной форме</a:t>
            </a:r>
          </a:p>
        </p:txBody>
      </p:sp>
      <p:pic>
        <p:nvPicPr>
          <p:cNvPr id="15" name="Picture 7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321" y="5114216"/>
            <a:ext cx="1440000" cy="9288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6321661" y="5519796"/>
            <a:ext cx="2210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Миллисекундный барьер взят!</a:t>
            </a:r>
          </a:p>
        </p:txBody>
      </p:sp>
    </p:spTree>
    <p:extLst>
      <p:ext uri="{BB962C8B-B14F-4D97-AF65-F5344CB8AC3E}">
        <p14:creationId xmlns:p14="http://schemas.microsoft.com/office/powerpoint/2010/main" val="2064220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2" grpId="0"/>
      <p:bldP spid="14" grpId="0"/>
      <p:bldP spid="1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71304"/>
            <a:ext cx="6096000" cy="929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051560" y="2491036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Калиевый </a:t>
            </a:r>
            <a: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канал</a:t>
            </a:r>
            <a:br>
              <a:rPr lang="ru-RU" sz="1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</a:br>
            <a:r>
              <a:rPr lang="en-US" sz="1400" i="1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in </a:t>
            </a:r>
            <a:r>
              <a:rPr lang="en-US" sz="1400" i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silico</a:t>
            </a:r>
            <a:endParaRPr lang="ru-RU" sz="1400" i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6" name="Picture 2" descr="http://biomolecula.ru/includes/doc_photo.php?view=1048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988840"/>
            <a:ext cx="1440000" cy="1044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http://biomolecula.ru/includes/doc_photo.php?view=108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230280"/>
            <a:ext cx="1440000" cy="14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2051560" y="3716173"/>
            <a:ext cx="20882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Пространственно-временное моделирование в биологии</a:t>
            </a:r>
            <a:endParaRPr lang="ru-RU" sz="1400" i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Calibri Light" panose="020F0302020204030204" pitchFamily="34" charset="0"/>
            </a:endParaRPr>
          </a:p>
        </p:txBody>
      </p:sp>
      <p:pic>
        <p:nvPicPr>
          <p:cNvPr id="9" name="Picture 6" descr="http://biomolecula.ru/includes/doc_photo.php?view=999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446" y="4958472"/>
            <a:ext cx="1440000" cy="10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051560" y="5515252"/>
            <a:ext cx="20882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Липидный фундамент жизни</a:t>
            </a:r>
            <a:endParaRPr lang="ru-RU" sz="1400" i="1" dirty="0">
              <a:solidFill>
                <a:schemeClr val="tx1">
                  <a:lumMod val="95000"/>
                  <a:lumOff val="5000"/>
                </a:schemeClr>
              </a:solidFill>
              <a:latin typeface="+mj-lt"/>
              <a:cs typeface="Calibri Light" panose="020F03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50262" y="2078733"/>
            <a:ext cx="22100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Компьютерные игры в молекулярную биофизику биологических мембран</a:t>
            </a:r>
          </a:p>
        </p:txBody>
      </p:sp>
      <p:pic>
        <p:nvPicPr>
          <p:cNvPr id="12" name="Picture 8" descr="http://biomolecula.ru/includes/doc_photo.php?view=76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864" y="1912502"/>
            <a:ext cx="1440000" cy="108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0" descr="http://biomolecula.ru/includes/doc_photo.php?view=88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864" y="3219833"/>
            <a:ext cx="1440000" cy="1440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250262" y="3921169"/>
            <a:ext cx="22100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Рецептор “нетрадиционной ориентации”</a:t>
            </a:r>
          </a:p>
        </p:txBody>
      </p:sp>
      <p:pic>
        <p:nvPicPr>
          <p:cNvPr id="15" name="Picture 12" descr="http://biomolecula.ru/includes/doc_photo.php?view=831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50"/>
          <a:stretch/>
        </p:blipFill>
        <p:spPr bwMode="auto">
          <a:xfrm>
            <a:off x="4787864" y="4814456"/>
            <a:ext cx="1440000" cy="1406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6250262" y="5531930"/>
            <a:ext cx="22100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Биохакеры</a:t>
            </a:r>
            <a:r>
              <a:rPr lang="ru-RU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cs typeface="Calibri Light" panose="020F0302020204030204" pitchFamily="34" charset="0"/>
              </a:rPr>
              <a:t>: молекулярная биология в стиле «сделай сам»</a:t>
            </a:r>
          </a:p>
        </p:txBody>
      </p:sp>
    </p:spTree>
    <p:extLst>
      <p:ext uri="{BB962C8B-B14F-4D97-AF65-F5344CB8AC3E}">
        <p14:creationId xmlns:p14="http://schemas.microsoft.com/office/powerpoint/2010/main" val="14984708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  <p:bldP spid="11" grpId="0"/>
      <p:bldP spid="14" grpId="0"/>
      <p:bldP spid="1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2256" y="0"/>
            <a:ext cx="10437624" cy="6957392"/>
          </a:xfrm>
          <a:prstGeom prst="rect">
            <a:avLst/>
          </a:prstGeom>
        </p:spPr>
      </p:pic>
      <p:sp>
        <p:nvSpPr>
          <p:cNvPr id="3" name="Text Box 16"/>
          <p:cNvSpPr txBox="1">
            <a:spLocks noChangeArrowheads="1"/>
          </p:cNvSpPr>
          <p:nvPr/>
        </p:nvSpPr>
        <p:spPr bwMode="auto">
          <a:xfrm>
            <a:off x="468312" y="287338"/>
            <a:ext cx="8136135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>
            <a:lvl1pPr eaLnBrk="0" hangingPunct="0">
              <a:defRPr i="1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i="1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i="1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i="1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lang="ru-RU" sz="3000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cs typeface="+mn-cs"/>
              </a:rPr>
              <a:t>Спасибо за внимание!</a:t>
            </a:r>
            <a:endParaRPr lang="en-US" sz="3000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037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Другая 2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00843B"/>
      </a:hlink>
      <a:folHlink>
        <a:srgbClr val="B2B2B2"/>
      </a:folHlink>
    </a:clrScheme>
    <a:fontScheme name="Требушет / Джорджия">
      <a:majorFont>
        <a:latin typeface="Trebuchet MS"/>
        <a:ea typeface=""/>
        <a:cs typeface=""/>
      </a:majorFont>
      <a:minorFont>
        <a:latin typeface="Georgia"/>
        <a:ea typeface=""/>
        <a:cs typeface=""/>
      </a:minorFont>
    </a:fontScheme>
    <a:fmtScheme name="Метро">
      <a:fillStyleLst>
        <a:solidFill>
          <a:schemeClr val="phClr"/>
        </a:solidFill>
        <a:gradFill rotWithShape="1">
          <a:gsLst>
            <a:gs pos="0">
              <a:schemeClr val="phClr">
                <a:tint val="25000"/>
                <a:satMod val="125000"/>
              </a:schemeClr>
            </a:gs>
            <a:gs pos="40000">
              <a:schemeClr val="phClr">
                <a:tint val="55000"/>
                <a:satMod val="130000"/>
              </a:schemeClr>
            </a:gs>
            <a:gs pos="50000">
              <a:schemeClr val="phClr">
                <a:tint val="59000"/>
                <a:satMod val="130000"/>
              </a:schemeClr>
            </a:gs>
            <a:gs pos="65000">
              <a:schemeClr val="phClr">
                <a:tint val="55000"/>
                <a:satMod val="130000"/>
              </a:schemeClr>
            </a:gs>
            <a:gs pos="100000">
              <a:schemeClr val="phClr">
                <a:tint val="20000"/>
                <a:satMod val="12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8000"/>
                <a:satMod val="138000"/>
              </a:schemeClr>
            </a:gs>
            <a:gs pos="25000">
              <a:schemeClr val="phClr">
                <a:tint val="85000"/>
              </a:schemeClr>
            </a:gs>
            <a:gs pos="40000">
              <a:schemeClr val="phClr">
                <a:tint val="92000"/>
              </a:schemeClr>
            </a:gs>
            <a:gs pos="50000">
              <a:schemeClr val="phClr">
                <a:tint val="93000"/>
              </a:schemeClr>
            </a:gs>
            <a:gs pos="60000">
              <a:schemeClr val="phClr">
                <a:tint val="92000"/>
              </a:schemeClr>
            </a:gs>
            <a:gs pos="75000">
              <a:schemeClr val="phClr">
                <a:tint val="83000"/>
                <a:satMod val="108000"/>
              </a:schemeClr>
            </a:gs>
            <a:gs pos="100000">
              <a:schemeClr val="phClr">
                <a:tint val="48000"/>
                <a:satMod val="150000"/>
              </a:schemeClr>
            </a:gs>
          </a:gsLst>
          <a:lin ang="5400000" scaled="0"/>
        </a:gradFill>
      </a:fillStyleLst>
      <a:lnStyleLst>
        <a:ln w="12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</a:effectStyle>
        <a:effectStyle>
          <a:effectLst>
            <a:glow rad="63500">
              <a:schemeClr val="phClr">
                <a:alpha val="45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>
            <a:bevelT w="0" h="0"/>
            <a:contourClr>
              <a:schemeClr val="phClr">
                <a:tint val="70000"/>
              </a:schemeClr>
            </a:contourClr>
          </a:sp3d>
        </a:effectStyle>
        <a:effectStyle>
          <a:effectLst>
            <a:glow rad="101500">
              <a:schemeClr val="phClr">
                <a:alpha val="42000"/>
                <a:satMod val="120000"/>
              </a:schemeClr>
            </a:glow>
          </a:effectLst>
          <a:scene3d>
            <a:camera prst="orthographicFront" fov="0">
              <a:rot lat="0" lon="0" rev="0"/>
            </a:camera>
            <a:lightRig rig="glow" dir="t">
              <a:rot lat="0" lon="0" rev="4800000"/>
            </a:lightRig>
          </a:scene3d>
          <a:sp3d prstMaterial="powder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3263</TotalTime>
  <Words>1077</Words>
  <Application>Microsoft Office PowerPoint</Application>
  <PresentationFormat>Экран (4:3)</PresentationFormat>
  <Paragraphs>237</Paragraphs>
  <Slides>29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Consolas</vt:lpstr>
      <vt:lpstr>Georgia</vt:lpstr>
      <vt:lpstr>Trebuchet MS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Антон</dc:creator>
  <cp:lastModifiedBy>Антон Чугунов</cp:lastModifiedBy>
  <cp:revision>232</cp:revision>
  <dcterms:created xsi:type="dcterms:W3CDTF">2010-04-27T11:58:13Z</dcterms:created>
  <dcterms:modified xsi:type="dcterms:W3CDTF">2018-09-20T05:34:01Z</dcterms:modified>
</cp:coreProperties>
</file>