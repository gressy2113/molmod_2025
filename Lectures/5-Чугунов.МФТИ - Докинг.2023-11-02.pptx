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94" r:id="rId6"/>
    <p:sldId id="288" r:id="rId7"/>
    <p:sldId id="307" r:id="rId8"/>
    <p:sldId id="309" r:id="rId9"/>
    <p:sldId id="338" r:id="rId10"/>
    <p:sldId id="339" r:id="rId11"/>
    <p:sldId id="344" r:id="rId12"/>
    <p:sldId id="343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269" r:id="rId23"/>
    <p:sldId id="293" r:id="rId24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00CC66"/>
    <a:srgbClr val="66FFFF"/>
    <a:srgbClr val="9966FF"/>
    <a:srgbClr val="FF6699"/>
    <a:srgbClr val="336699"/>
    <a:srgbClr val="99FF99"/>
    <a:srgbClr val="00CCFF"/>
    <a:srgbClr val="CC66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84" autoAdjust="0"/>
  </p:normalViewPr>
  <p:slideViewPr>
    <p:cSldViewPr>
      <p:cViewPr varScale="1">
        <p:scale>
          <a:sx n="73" d="100"/>
          <a:sy n="73" d="100"/>
        </p:scale>
        <p:origin x="970" y="72"/>
      </p:cViewPr>
      <p:guideLst>
        <p:guide orient="horz" pos="527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D1952A-47A5-4E57-8813-9D1CB43029C3}" type="doc">
      <dgm:prSet loTypeId="urn:microsoft.com/office/officeart/2005/8/layout/funnel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277E0CE-CD5E-4F3D-AE61-5DE1D88EF306}">
      <dgm:prSet phldrT="[Текст]"/>
      <dgm:spPr/>
      <dgm:t>
        <a:bodyPr/>
        <a:lstStyle/>
        <a:p>
          <a:r>
            <a:rPr lang="ru-RU" dirty="0" err="1"/>
            <a:t>Докинг</a:t>
          </a:r>
          <a:endParaRPr lang="ru-RU" dirty="0"/>
        </a:p>
      </dgm:t>
    </dgm:pt>
    <dgm:pt modelId="{4AFC9987-417D-4183-941E-BD21B849C0BE}" type="parTrans" cxnId="{F430EFC6-6CB9-47C4-A318-1D27477E031D}">
      <dgm:prSet/>
      <dgm:spPr/>
      <dgm:t>
        <a:bodyPr/>
        <a:lstStyle/>
        <a:p>
          <a:endParaRPr lang="ru-RU"/>
        </a:p>
      </dgm:t>
    </dgm:pt>
    <dgm:pt modelId="{169FF1FF-AAE9-4A30-8917-69BCF62F03C9}" type="sibTrans" cxnId="{F430EFC6-6CB9-47C4-A318-1D27477E031D}">
      <dgm:prSet/>
      <dgm:spPr/>
      <dgm:t>
        <a:bodyPr/>
        <a:lstStyle/>
        <a:p>
          <a:endParaRPr lang="ru-RU"/>
        </a:p>
      </dgm:t>
    </dgm:pt>
    <dgm:pt modelId="{C590D333-35BC-426F-BEE0-2B91B552C060}">
      <dgm:prSet phldrT="[Текст]"/>
      <dgm:spPr/>
      <dgm:t>
        <a:bodyPr/>
        <a:lstStyle/>
        <a:p>
          <a:r>
            <a:rPr lang="ru-RU" dirty="0"/>
            <a:t>Скрининг</a:t>
          </a:r>
        </a:p>
      </dgm:t>
    </dgm:pt>
    <dgm:pt modelId="{C69EB9E9-E9F0-438F-810A-689CA03A93AF}" type="parTrans" cxnId="{8C95F300-87CD-4FEB-A2FE-EF885C3144F6}">
      <dgm:prSet/>
      <dgm:spPr/>
      <dgm:t>
        <a:bodyPr/>
        <a:lstStyle/>
        <a:p>
          <a:endParaRPr lang="ru-RU"/>
        </a:p>
      </dgm:t>
    </dgm:pt>
    <dgm:pt modelId="{E459385F-F496-41AB-935E-6459BBC7F848}" type="sibTrans" cxnId="{8C95F300-87CD-4FEB-A2FE-EF885C3144F6}">
      <dgm:prSet/>
      <dgm:spPr/>
      <dgm:t>
        <a:bodyPr/>
        <a:lstStyle/>
        <a:p>
          <a:endParaRPr lang="ru-RU"/>
        </a:p>
      </dgm:t>
    </dgm:pt>
    <dgm:pt modelId="{071B3F01-1F47-4B83-86A5-7315235242C9}">
      <dgm:prSet phldrT="[Текст]"/>
      <dgm:spPr/>
      <dgm:t>
        <a:bodyPr/>
        <a:lstStyle/>
        <a:p>
          <a:r>
            <a:rPr lang="ru-RU" dirty="0"/>
            <a:t>Синтез</a:t>
          </a:r>
        </a:p>
      </dgm:t>
    </dgm:pt>
    <dgm:pt modelId="{6671001D-436D-4F98-B138-A3C926BEF6C0}" type="parTrans" cxnId="{9C0893E5-DDFF-41CA-A495-EA764ECD24AB}">
      <dgm:prSet/>
      <dgm:spPr/>
      <dgm:t>
        <a:bodyPr/>
        <a:lstStyle/>
        <a:p>
          <a:endParaRPr lang="ru-RU"/>
        </a:p>
      </dgm:t>
    </dgm:pt>
    <dgm:pt modelId="{2F1F1ECB-FDEC-4551-A1F7-84EB5604EABE}" type="sibTrans" cxnId="{9C0893E5-DDFF-41CA-A495-EA764ECD24AB}">
      <dgm:prSet/>
      <dgm:spPr/>
      <dgm:t>
        <a:bodyPr/>
        <a:lstStyle/>
        <a:p>
          <a:endParaRPr lang="ru-RU"/>
        </a:p>
      </dgm:t>
    </dgm:pt>
    <dgm:pt modelId="{0C06EAC8-2856-4F9F-A1CD-5ECEE6B39798}">
      <dgm:prSet phldrT="[Текст]"/>
      <dgm:spPr/>
      <dgm:t>
        <a:bodyPr/>
        <a:lstStyle/>
        <a:p>
          <a:r>
            <a:rPr lang="ru-RU" dirty="0">
              <a:solidFill>
                <a:schemeClr val="accent1">
                  <a:lumMod val="50000"/>
                </a:schemeClr>
              </a:solidFill>
            </a:rPr>
            <a:t>Соединение с новой активностью</a:t>
          </a:r>
        </a:p>
      </dgm:t>
    </dgm:pt>
    <dgm:pt modelId="{CED1E5A3-EE23-47DD-8E22-86BC58123393}" type="parTrans" cxnId="{B00B241D-A64A-4E9A-84BD-AE909A731847}">
      <dgm:prSet/>
      <dgm:spPr/>
      <dgm:t>
        <a:bodyPr/>
        <a:lstStyle/>
        <a:p>
          <a:endParaRPr lang="ru-RU"/>
        </a:p>
      </dgm:t>
    </dgm:pt>
    <dgm:pt modelId="{C649AA8D-E2DC-4E0B-B128-69D0B0AAB1EA}" type="sibTrans" cxnId="{B00B241D-A64A-4E9A-84BD-AE909A731847}">
      <dgm:prSet/>
      <dgm:spPr/>
      <dgm:t>
        <a:bodyPr/>
        <a:lstStyle/>
        <a:p>
          <a:endParaRPr lang="ru-RU"/>
        </a:p>
      </dgm:t>
    </dgm:pt>
    <dgm:pt modelId="{DFD5D6E2-1F34-4FD5-9E3B-B596455AB63A}" type="pres">
      <dgm:prSet presAssocID="{95D1952A-47A5-4E57-8813-9D1CB43029C3}" presName="Name0" presStyleCnt="0">
        <dgm:presLayoutVars>
          <dgm:chMax val="4"/>
          <dgm:resizeHandles val="exact"/>
        </dgm:presLayoutVars>
      </dgm:prSet>
      <dgm:spPr/>
    </dgm:pt>
    <dgm:pt modelId="{378E4248-6E7D-4144-B19F-F79DFC593145}" type="pres">
      <dgm:prSet presAssocID="{95D1952A-47A5-4E57-8813-9D1CB43029C3}" presName="ellipse" presStyleLbl="trBgShp" presStyleIdx="0" presStyleCnt="1"/>
      <dgm:spPr/>
    </dgm:pt>
    <dgm:pt modelId="{7BE1F455-0EC6-4F23-8694-2DDD45E374FE}" type="pres">
      <dgm:prSet presAssocID="{95D1952A-47A5-4E57-8813-9D1CB43029C3}" presName="arrow1" presStyleLbl="fgShp" presStyleIdx="0" presStyleCnt="1"/>
      <dgm:spPr/>
    </dgm:pt>
    <dgm:pt modelId="{D1C074BD-42CC-4E0E-BB8A-8F9B1FABF43B}" type="pres">
      <dgm:prSet presAssocID="{95D1952A-47A5-4E57-8813-9D1CB43029C3}" presName="rectangle" presStyleLbl="revTx" presStyleIdx="0" presStyleCnt="1" custLinFactNeighborX="329" custLinFactNeighborY="2674">
        <dgm:presLayoutVars>
          <dgm:bulletEnabled val="1"/>
        </dgm:presLayoutVars>
      </dgm:prSet>
      <dgm:spPr/>
    </dgm:pt>
    <dgm:pt modelId="{EFF5BEBF-7B77-422E-9755-B30888CAEEE0}" type="pres">
      <dgm:prSet presAssocID="{C590D333-35BC-426F-BEE0-2B91B552C060}" presName="item1" presStyleLbl="node1" presStyleIdx="0" presStyleCnt="3">
        <dgm:presLayoutVars>
          <dgm:bulletEnabled val="1"/>
        </dgm:presLayoutVars>
      </dgm:prSet>
      <dgm:spPr/>
    </dgm:pt>
    <dgm:pt modelId="{407096BF-D450-4271-BFA1-0217ECE02913}" type="pres">
      <dgm:prSet presAssocID="{071B3F01-1F47-4B83-86A5-7315235242C9}" presName="item2" presStyleLbl="node1" presStyleIdx="1" presStyleCnt="3">
        <dgm:presLayoutVars>
          <dgm:bulletEnabled val="1"/>
        </dgm:presLayoutVars>
      </dgm:prSet>
      <dgm:spPr/>
    </dgm:pt>
    <dgm:pt modelId="{14728348-7C8E-467F-A452-4D262F9CFB16}" type="pres">
      <dgm:prSet presAssocID="{0C06EAC8-2856-4F9F-A1CD-5ECEE6B39798}" presName="item3" presStyleLbl="node1" presStyleIdx="2" presStyleCnt="3">
        <dgm:presLayoutVars>
          <dgm:bulletEnabled val="1"/>
        </dgm:presLayoutVars>
      </dgm:prSet>
      <dgm:spPr/>
    </dgm:pt>
    <dgm:pt modelId="{B67961BA-D9BE-4C44-A6CE-1A3A60530F6E}" type="pres">
      <dgm:prSet presAssocID="{95D1952A-47A5-4E57-8813-9D1CB43029C3}" presName="funnel" presStyleLbl="trAlignAcc1" presStyleIdx="0" presStyleCnt="1" custLinFactNeighborX="282" custLinFactNeighborY="716"/>
      <dgm:spPr/>
    </dgm:pt>
  </dgm:ptLst>
  <dgm:cxnLst>
    <dgm:cxn modelId="{8C95F300-87CD-4FEB-A2FE-EF885C3144F6}" srcId="{95D1952A-47A5-4E57-8813-9D1CB43029C3}" destId="{C590D333-35BC-426F-BEE0-2B91B552C060}" srcOrd="1" destOrd="0" parTransId="{C69EB9E9-E9F0-438F-810A-689CA03A93AF}" sibTransId="{E459385F-F496-41AB-935E-6459BBC7F848}"/>
    <dgm:cxn modelId="{B00B241D-A64A-4E9A-84BD-AE909A731847}" srcId="{95D1952A-47A5-4E57-8813-9D1CB43029C3}" destId="{0C06EAC8-2856-4F9F-A1CD-5ECEE6B39798}" srcOrd="3" destOrd="0" parTransId="{CED1E5A3-EE23-47DD-8E22-86BC58123393}" sibTransId="{C649AA8D-E2DC-4E0B-B128-69D0B0AAB1EA}"/>
    <dgm:cxn modelId="{041B2E67-9E40-4949-B738-D6C9F04C995C}" type="presOf" srcId="{071B3F01-1F47-4B83-86A5-7315235242C9}" destId="{EFF5BEBF-7B77-422E-9755-B30888CAEEE0}" srcOrd="0" destOrd="0" presId="urn:microsoft.com/office/officeart/2005/8/layout/funnel1"/>
    <dgm:cxn modelId="{BD988478-5D0E-476A-959F-966A6C3D7770}" type="presOf" srcId="{0C06EAC8-2856-4F9F-A1CD-5ECEE6B39798}" destId="{D1C074BD-42CC-4E0E-BB8A-8F9B1FABF43B}" srcOrd="0" destOrd="0" presId="urn:microsoft.com/office/officeart/2005/8/layout/funnel1"/>
    <dgm:cxn modelId="{C2D4ED85-6BCC-4D82-ACA9-BAB685F32CAD}" type="presOf" srcId="{95D1952A-47A5-4E57-8813-9D1CB43029C3}" destId="{DFD5D6E2-1F34-4FD5-9E3B-B596455AB63A}" srcOrd="0" destOrd="0" presId="urn:microsoft.com/office/officeart/2005/8/layout/funnel1"/>
    <dgm:cxn modelId="{F430EFC6-6CB9-47C4-A318-1D27477E031D}" srcId="{95D1952A-47A5-4E57-8813-9D1CB43029C3}" destId="{8277E0CE-CD5E-4F3D-AE61-5DE1D88EF306}" srcOrd="0" destOrd="0" parTransId="{4AFC9987-417D-4183-941E-BD21B849C0BE}" sibTransId="{169FF1FF-AAE9-4A30-8917-69BCF62F03C9}"/>
    <dgm:cxn modelId="{E1B705E4-0D3F-43C3-86EE-A689031829ED}" type="presOf" srcId="{C590D333-35BC-426F-BEE0-2B91B552C060}" destId="{407096BF-D450-4271-BFA1-0217ECE02913}" srcOrd="0" destOrd="0" presId="urn:microsoft.com/office/officeart/2005/8/layout/funnel1"/>
    <dgm:cxn modelId="{9C0893E5-DDFF-41CA-A495-EA764ECD24AB}" srcId="{95D1952A-47A5-4E57-8813-9D1CB43029C3}" destId="{071B3F01-1F47-4B83-86A5-7315235242C9}" srcOrd="2" destOrd="0" parTransId="{6671001D-436D-4F98-B138-A3C926BEF6C0}" sibTransId="{2F1F1ECB-FDEC-4551-A1F7-84EB5604EABE}"/>
    <dgm:cxn modelId="{3E27E5F2-09A9-44AD-B329-59DFC6A3B9B2}" type="presOf" srcId="{8277E0CE-CD5E-4F3D-AE61-5DE1D88EF306}" destId="{14728348-7C8E-467F-A452-4D262F9CFB16}" srcOrd="0" destOrd="0" presId="urn:microsoft.com/office/officeart/2005/8/layout/funnel1"/>
    <dgm:cxn modelId="{9E5CD332-223E-4C97-A2FA-4D1F8D4DD666}" type="presParOf" srcId="{DFD5D6E2-1F34-4FD5-9E3B-B596455AB63A}" destId="{378E4248-6E7D-4144-B19F-F79DFC593145}" srcOrd="0" destOrd="0" presId="urn:microsoft.com/office/officeart/2005/8/layout/funnel1"/>
    <dgm:cxn modelId="{93247470-AA38-4F84-844B-D83292D58C51}" type="presParOf" srcId="{DFD5D6E2-1F34-4FD5-9E3B-B596455AB63A}" destId="{7BE1F455-0EC6-4F23-8694-2DDD45E374FE}" srcOrd="1" destOrd="0" presId="urn:microsoft.com/office/officeart/2005/8/layout/funnel1"/>
    <dgm:cxn modelId="{3321627D-8E1F-445C-A6E6-8F3A209D8A7F}" type="presParOf" srcId="{DFD5D6E2-1F34-4FD5-9E3B-B596455AB63A}" destId="{D1C074BD-42CC-4E0E-BB8A-8F9B1FABF43B}" srcOrd="2" destOrd="0" presId="urn:microsoft.com/office/officeart/2005/8/layout/funnel1"/>
    <dgm:cxn modelId="{084E7B34-E668-48F1-BB47-BA8281FB9257}" type="presParOf" srcId="{DFD5D6E2-1F34-4FD5-9E3B-B596455AB63A}" destId="{EFF5BEBF-7B77-422E-9755-B30888CAEEE0}" srcOrd="3" destOrd="0" presId="urn:microsoft.com/office/officeart/2005/8/layout/funnel1"/>
    <dgm:cxn modelId="{146B3C23-0BB0-4FBE-A075-4BC3D7A5DACE}" type="presParOf" srcId="{DFD5D6E2-1F34-4FD5-9E3B-B596455AB63A}" destId="{407096BF-D450-4271-BFA1-0217ECE02913}" srcOrd="4" destOrd="0" presId="urn:microsoft.com/office/officeart/2005/8/layout/funnel1"/>
    <dgm:cxn modelId="{2FE16CCF-0B81-40F1-814F-36227C06E56D}" type="presParOf" srcId="{DFD5D6E2-1F34-4FD5-9E3B-B596455AB63A}" destId="{14728348-7C8E-467F-A452-4D262F9CFB16}" srcOrd="5" destOrd="0" presId="urn:microsoft.com/office/officeart/2005/8/layout/funnel1"/>
    <dgm:cxn modelId="{C1DED4D4-5F28-4B63-95A0-EB2C912AC6B3}" type="presParOf" srcId="{DFD5D6E2-1F34-4FD5-9E3B-B596455AB63A}" destId="{B67961BA-D9BE-4C44-A6CE-1A3A60530F6E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E4248-6E7D-4144-B19F-F79DFC593145}">
      <dsp:nvSpPr>
        <dsp:cNvPr id="0" name=""/>
        <dsp:cNvSpPr/>
      </dsp:nvSpPr>
      <dsp:spPr>
        <a:xfrm>
          <a:off x="1404620" y="165099"/>
          <a:ext cx="3276600" cy="1137920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1F455-0EC6-4F23-8694-2DDD45E374FE}">
      <dsp:nvSpPr>
        <dsp:cNvPr id="0" name=""/>
        <dsp:cNvSpPr/>
      </dsp:nvSpPr>
      <dsp:spPr>
        <a:xfrm>
          <a:off x="2730500" y="2951479"/>
          <a:ext cx="635000" cy="40640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074BD-42CC-4E0E-BB8A-8F9B1FABF43B}">
      <dsp:nvSpPr>
        <dsp:cNvPr id="0" name=""/>
        <dsp:cNvSpPr/>
      </dsp:nvSpPr>
      <dsp:spPr>
        <a:xfrm>
          <a:off x="1534027" y="3296975"/>
          <a:ext cx="3048000" cy="76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accent1">
                  <a:lumMod val="50000"/>
                </a:schemeClr>
              </a:solidFill>
            </a:rPr>
            <a:t>Соединение с новой активностью</a:t>
          </a:r>
        </a:p>
      </dsp:txBody>
      <dsp:txXfrm>
        <a:off x="1534027" y="3296975"/>
        <a:ext cx="3048000" cy="762000"/>
      </dsp:txXfrm>
    </dsp:sp>
    <dsp:sp modelId="{EFF5BEBF-7B77-422E-9755-B30888CAEEE0}">
      <dsp:nvSpPr>
        <dsp:cNvPr id="0" name=""/>
        <dsp:cNvSpPr/>
      </dsp:nvSpPr>
      <dsp:spPr>
        <a:xfrm>
          <a:off x="2595880" y="1390904"/>
          <a:ext cx="1143000" cy="1143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Синтез</a:t>
          </a:r>
        </a:p>
      </dsp:txBody>
      <dsp:txXfrm>
        <a:off x="2763268" y="1558292"/>
        <a:ext cx="808224" cy="808224"/>
      </dsp:txXfrm>
    </dsp:sp>
    <dsp:sp modelId="{407096BF-D450-4271-BFA1-0217ECE02913}">
      <dsp:nvSpPr>
        <dsp:cNvPr id="0" name=""/>
        <dsp:cNvSpPr/>
      </dsp:nvSpPr>
      <dsp:spPr>
        <a:xfrm>
          <a:off x="1778000" y="533399"/>
          <a:ext cx="1143000" cy="1143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Скрининг</a:t>
          </a:r>
        </a:p>
      </dsp:txBody>
      <dsp:txXfrm>
        <a:off x="1945388" y="700787"/>
        <a:ext cx="808224" cy="808224"/>
      </dsp:txXfrm>
    </dsp:sp>
    <dsp:sp modelId="{14728348-7C8E-467F-A452-4D262F9CFB16}">
      <dsp:nvSpPr>
        <dsp:cNvPr id="0" name=""/>
        <dsp:cNvSpPr/>
      </dsp:nvSpPr>
      <dsp:spPr>
        <a:xfrm>
          <a:off x="2946400" y="257047"/>
          <a:ext cx="1143000" cy="1143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 err="1"/>
            <a:t>Докинг</a:t>
          </a:r>
          <a:endParaRPr lang="ru-RU" sz="1300" kern="1200" dirty="0"/>
        </a:p>
      </dsp:txBody>
      <dsp:txXfrm>
        <a:off x="3113788" y="424435"/>
        <a:ext cx="808224" cy="808224"/>
      </dsp:txXfrm>
    </dsp:sp>
    <dsp:sp modelId="{B67961BA-D9BE-4C44-A6CE-1A3A60530F6E}">
      <dsp:nvSpPr>
        <dsp:cNvPr id="0" name=""/>
        <dsp:cNvSpPr/>
      </dsp:nvSpPr>
      <dsp:spPr>
        <a:xfrm>
          <a:off x="1280027" y="45768"/>
          <a:ext cx="3556000" cy="284480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9FEDD-999F-47A2-A756-F22FDC506388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1AD7A-F326-4B51-9B52-0655649B01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66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A1C32A-10EA-40C8-A190-47B9D4785B9A}" type="slidenum">
              <a:rPr lang="ru-RU" altLang="ru-RU"/>
              <a:pPr/>
              <a:t>7</a:t>
            </a:fld>
            <a:endParaRPr lang="ru-RU" altLang="ru-RU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02029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084E6-0B40-4AFA-B279-781470A66729}" type="slidenum">
              <a:rPr lang="ru-RU" altLang="ru-RU"/>
              <a:pPr/>
              <a:t>8</a:t>
            </a:fld>
            <a:endParaRPr lang="ru-RU" altLang="ru-RU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55736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084E6-0B40-4AFA-B279-781470A66729}" type="slidenum">
              <a:rPr lang="ru-RU" altLang="ru-RU"/>
              <a:pPr/>
              <a:t>9</a:t>
            </a:fld>
            <a:endParaRPr lang="ru-RU" altLang="ru-RU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050077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084E6-0B40-4AFA-B279-781470A66729}" type="slidenum">
              <a:rPr lang="ru-RU" altLang="ru-RU"/>
              <a:pPr/>
              <a:t>10</a:t>
            </a:fld>
            <a:endParaRPr lang="ru-RU" altLang="ru-RU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332816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084E6-0B40-4AFA-B279-781470A66729}" type="slidenum">
              <a:rPr lang="ru-RU" altLang="ru-RU"/>
              <a:pPr/>
              <a:t>12</a:t>
            </a:fld>
            <a:endParaRPr lang="ru-RU" altLang="ru-RU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832045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1AD7A-F326-4B51-9B52-0655649B01B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305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1AD7A-F326-4B51-9B52-0655649B01B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069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768CB-FF07-4957-8F04-A857B66DD236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AA814-C8C6-4217-9B40-C128ACB5CB2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004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43063-D736-4C25-89EB-EE556E6AA182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25332-9822-4525-B28C-0D3AE9DC822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61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EAC2B-B556-456E-ADA4-6EB0A095807D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88B0B-BD04-43CF-A720-C389A7D242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37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AF90F-C566-4417-9397-CEF163D55471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EB065-2079-4EC1-921E-C4A6A0C5B8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8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54F8-1BF9-4683-B656-3A88547DEDDE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8F9C9-72FC-41FC-A357-AEA1B4347E9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65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2470F-1283-492B-ADF6-0406CB2F5430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D29DB-B74D-4A92-AC71-9130648E2B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21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A9BB1-E405-4268-A388-837F2ACCC321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66F14-DF8B-4696-A9C2-69B5A7727B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97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0B905-C717-4E97-BA8F-9A744BB62A78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620EE-A8E9-4686-8872-F08E9DBBBB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6DEE9-572C-4908-B72C-3364F6E8C73C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3597B-C3A2-4CE4-8A55-6F8E245C88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87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E90D9-3113-4E7C-9883-E686B5E48018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50A90-16EF-40C4-A67F-9280774242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83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C8F8D-1EBD-460C-B956-DA6611AF4057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D602C-32E3-47D6-AAF3-670D142816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74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52E8F3-F39E-491A-B87C-B33B40487753}" type="datetimeFigureOut">
              <a:rPr lang="ru-RU"/>
              <a:pPr>
                <a:defRPr/>
              </a:pPr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4877C75-F312-49DC-AA1A-6D44C2C87A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4.wmf"/><Relationship Id="rId5" Type="http://schemas.openxmlformats.org/officeDocument/2006/relationships/diagramLayout" Target="../diagrams/layout1.xml"/><Relationship Id="rId10" Type="http://schemas.openxmlformats.org/officeDocument/2006/relationships/image" Target="../media/image3.wmf"/><Relationship Id="rId4" Type="http://schemas.openxmlformats.org/officeDocument/2006/relationships/diagramData" Target="../diagrams/data1.xml"/><Relationship Id="rId9" Type="http://schemas.openxmlformats.org/officeDocument/2006/relationships/hyperlink" Target="https://www.ibch.ru/structure/groups/giamp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16/S0169-409X(96)00423-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38/nrd791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16/S1359-6446(04)02939-3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nci.nih.gov/" TargetMode="External"/><Relationship Id="rId3" Type="http://schemas.openxmlformats.org/officeDocument/2006/relationships/hyperlink" Target="http://chemfinder.cambridgesoft.com/reference/AshgateDrugs.asp" TargetMode="External"/><Relationship Id="rId7" Type="http://schemas.openxmlformats.org/officeDocument/2006/relationships/hyperlink" Target="http://chemfinder.cambridgesoft.com/safety/chemmsdx.asp" TargetMode="External"/><Relationship Id="rId12" Type="http://schemas.openxmlformats.org/officeDocument/2006/relationships/hyperlink" Target="http://cambridgesoft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hemfinder.cambridgesoft.com/reference/TheMerckIndex.asp" TargetMode="External"/><Relationship Id="rId11" Type="http://schemas.openxmlformats.org/officeDocument/2006/relationships/hyperlink" Target="http://blaster.docking.org/zinc/choose.shtml" TargetMode="External"/><Relationship Id="rId5" Type="http://schemas.openxmlformats.org/officeDocument/2006/relationships/hyperlink" Target="http://chemfinder.cambridgesoft.com/reactions/chemsynth.asp" TargetMode="External"/><Relationship Id="rId10" Type="http://schemas.openxmlformats.org/officeDocument/2006/relationships/hyperlink" Target="http://mdli.com/products/experiment/available_chem_dir/index.jsp" TargetMode="External"/><Relationship Id="rId4" Type="http://schemas.openxmlformats.org/officeDocument/2006/relationships/hyperlink" Target="http://chemfinder.cambridgesoft.com/chemicals/chemacxpro.asp" TargetMode="External"/><Relationship Id="rId9" Type="http://schemas.openxmlformats.org/officeDocument/2006/relationships/hyperlink" Target="http://thomsonderwent.com/products/lr/wd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laster.docking.org/zinc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as.org/content/113/30/E4286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21/jm0111043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dx.doi.org/10.1021/jm011112j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44" y="-512416"/>
            <a:ext cx="12603433" cy="7901856"/>
          </a:xfrm>
          <a:prstGeom prst="rect">
            <a:avLst/>
          </a:prstGeom>
        </p:spPr>
      </p:pic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2954627923"/>
              </p:ext>
            </p:extLst>
          </p:nvPr>
        </p:nvGraphicFramePr>
        <p:xfrm>
          <a:off x="-190544" y="150017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719736" y="1700808"/>
            <a:ext cx="6336158" cy="1470025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ru-RU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Компьютерный </a:t>
            </a:r>
            <a:r>
              <a:rPr lang="ru-RU" sz="3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докинг</a:t>
            </a:r>
            <a:r>
              <a:rPr lang="ru-RU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 виртуальный скрининг молекулярных баз данных </a:t>
            </a:r>
            <a:endParaRPr lang="ru-RU" sz="26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A3B1D-D88E-4856-A96D-EA924CB6A6E8}"/>
              </a:ext>
            </a:extLst>
          </p:cNvPr>
          <p:cNvSpPr txBox="1"/>
          <p:nvPr/>
        </p:nvSpPr>
        <p:spPr>
          <a:xfrm>
            <a:off x="4871864" y="3356992"/>
            <a:ext cx="65527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i="1" dirty="0">
                <a:solidFill>
                  <a:srgbClr val="C00000"/>
                </a:solidFill>
              </a:rPr>
              <a:t>Чугунов Антон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  <a:t>Группа анализа структуры </a:t>
            </a:r>
            <a:br>
              <a:rPr lang="ru-RU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</a:br>
            <a:r>
              <a:rPr lang="ru-RU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  <a:t>мембранных белков </a:t>
            </a:r>
            <a:r>
              <a:rPr lang="en-US" sz="18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 silico</a:t>
            </a:r>
            <a:endParaRPr lang="ru-RU" sz="1800" i="1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C0000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https://www.ibch.ru/structure/groups/giamps</a:t>
            </a:r>
            <a:r>
              <a:rPr lang="ru-RU" sz="1600" dirty="0">
                <a:solidFill>
                  <a:srgbClr val="C00000"/>
                </a:solidFill>
              </a:rPr>
              <a:t> </a:t>
            </a:r>
            <a:endParaRPr lang="en-US" sz="1600" dirty="0">
              <a:solidFill>
                <a:srgbClr val="C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1" u="none" strike="noStrike" kern="1200" cap="none" spc="0" normalizeH="0" baseline="0" noProof="0" dirty="0">
              <a:ln>
                <a:noFill/>
              </a:ln>
              <a:uLnTx/>
              <a:uFillTx/>
              <a:latin typeface="Georgia" pitchFamily="18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1" u="none" strike="noStrike" kern="1200" cap="none" spc="0" normalizeH="0" baseline="0" noProof="0" dirty="0">
              <a:ln>
                <a:noFill/>
              </a:ln>
              <a:uLnTx/>
              <a:uFillTx/>
              <a:latin typeface="Georgia" pitchFamily="18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Georgia" pitchFamily="18" charset="0"/>
                <a:ea typeface="+mn-ea"/>
                <a:cs typeface="Arial" charset="0"/>
              </a:rPr>
              <a:t>Долгопрудный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uLnTx/>
              <a:uFillTx/>
              <a:latin typeface="Georgia" pitchFamily="18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600" i="1" dirty="0"/>
              <a:t>2 ноября </a:t>
            </a: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Georgia" pitchFamily="18" charset="0"/>
                <a:ea typeface="+mn-ea"/>
                <a:cs typeface="Arial" charset="0"/>
              </a:rPr>
              <a:t>2023 г.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27C239-5CA4-4837-8E8E-3AE074438D4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127" y="3356993"/>
            <a:ext cx="526722" cy="103323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01056E-30F4-503A-9801-A634B1EBA11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23" y="260648"/>
            <a:ext cx="1466564" cy="438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424167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Драг-дизайн: история и основные понятия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5" name="Picture 11" descr="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4556126"/>
            <a:ext cx="26924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ehrlic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50" y="981076"/>
            <a:ext cx="170815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084313" y="3284538"/>
            <a:ext cx="201612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000" i="0" dirty="0">
                <a:latin typeface="+mj-lt"/>
              </a:rPr>
              <a:t>Пауль Эрлих впервые выдвинул гипотезу о существовании хеморецепторов</a:t>
            </a:r>
            <a:br>
              <a:rPr lang="ru-RU" altLang="ru-RU" sz="1000" i="0" dirty="0">
                <a:latin typeface="+mj-lt"/>
              </a:rPr>
            </a:br>
            <a:endParaRPr lang="ru-RU" altLang="ru-RU" sz="400" i="0" dirty="0">
              <a:latin typeface="+mj-lt"/>
            </a:endParaRPr>
          </a:p>
          <a:p>
            <a:pPr eaLnBrk="1" hangingPunct="1">
              <a:spcBef>
                <a:spcPct val="50000"/>
              </a:spcBef>
            </a:pPr>
            <a:r>
              <a:rPr lang="ru-RU" altLang="ru-RU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Изображение из Национальной Библиотеки Медицины США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394723" y="981075"/>
            <a:ext cx="7022454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0975" indent="-180975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i="0" dirty="0">
                <a:latin typeface="+mn-lt"/>
              </a:rPr>
              <a:t>1872-1874 гг., Страсбург: Пауль Эрлих выдвигает гипотезу о существовании </a:t>
            </a:r>
            <a:r>
              <a:rPr lang="ru-RU" altLang="ru-RU" sz="1400" b="1" i="0" dirty="0">
                <a:latin typeface="+mn-lt"/>
              </a:rPr>
              <a:t>хеморецепторов</a:t>
            </a:r>
            <a:r>
              <a:rPr lang="ru-RU" altLang="ru-RU" sz="1400" i="0" dirty="0">
                <a:latin typeface="+mn-lt"/>
              </a:rPr>
              <a:t> — молекулярных «мишеней» для биологических и химических веществ. Это стало основой для </a:t>
            </a:r>
            <a:r>
              <a:rPr lang="ru-RU" altLang="ru-RU" sz="1400" b="1" i="0" dirty="0" err="1">
                <a:latin typeface="+mn-lt"/>
              </a:rPr>
              <a:t>таргетной</a:t>
            </a:r>
            <a:r>
              <a:rPr lang="ru-RU" altLang="ru-RU" sz="1400" b="1" i="0" dirty="0">
                <a:latin typeface="+mn-lt"/>
              </a:rPr>
              <a:t> терапии</a:t>
            </a:r>
            <a:endParaRPr lang="en-US" altLang="ru-RU" sz="1400" i="0" dirty="0">
              <a:latin typeface="+mn-lt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i="0" dirty="0">
                <a:latin typeface="+mn-lt"/>
              </a:rPr>
              <a:t>1905 г., Дж. Лэнгли: Рецептор </a:t>
            </a:r>
            <a:r>
              <a:rPr lang="ru-RU" altLang="ru-RU" sz="1400" i="0" dirty="0"/>
              <a:t>—</a:t>
            </a:r>
            <a:r>
              <a:rPr lang="ru-RU" altLang="ru-RU" sz="1400" i="0" dirty="0">
                <a:latin typeface="+mn-lt"/>
              </a:rPr>
              <a:t> генератор внутриклеточных биологических импульсов, активируемый </a:t>
            </a:r>
            <a:r>
              <a:rPr lang="ru-RU" altLang="ru-RU" sz="1400" dirty="0">
                <a:latin typeface="+mn-lt"/>
              </a:rPr>
              <a:t>агонистами</a:t>
            </a:r>
            <a:r>
              <a:rPr lang="ru-RU" altLang="ru-RU" sz="1400" i="0" dirty="0">
                <a:latin typeface="+mn-lt"/>
              </a:rPr>
              <a:t> и инактивируемый </a:t>
            </a:r>
            <a:r>
              <a:rPr lang="ru-RU" altLang="ru-RU" sz="1400" dirty="0">
                <a:latin typeface="+mn-lt"/>
              </a:rPr>
              <a:t>антагонистами</a:t>
            </a:r>
            <a:endParaRPr lang="ru-RU" altLang="ru-RU" sz="1400" i="0" dirty="0">
              <a:latin typeface="+mn-lt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i="0" dirty="0">
                <a:latin typeface="+mn-lt"/>
              </a:rPr>
              <a:t>В 1929 году Александром Флемингом открыт и впоследствии исследован </a:t>
            </a:r>
            <a:r>
              <a:rPr lang="ru-RU" altLang="ru-RU" sz="1400" i="0" dirty="0" err="1">
                <a:latin typeface="+mn-lt"/>
              </a:rPr>
              <a:t>Чейном</a:t>
            </a:r>
            <a:r>
              <a:rPr lang="ru-RU" altLang="ru-RU" sz="1400" i="0" dirty="0">
                <a:latin typeface="+mn-lt"/>
              </a:rPr>
              <a:t> и </a:t>
            </a:r>
            <a:r>
              <a:rPr lang="ru-RU" altLang="ru-RU" sz="1400" i="0" dirty="0" err="1">
                <a:latin typeface="+mn-lt"/>
              </a:rPr>
              <a:t>Флори</a:t>
            </a:r>
            <a:r>
              <a:rPr lang="ru-RU" altLang="ru-RU" sz="1400" i="0" dirty="0">
                <a:latin typeface="+mn-lt"/>
              </a:rPr>
              <a:t> антибиотик </a:t>
            </a:r>
            <a:r>
              <a:rPr lang="ru-RU" altLang="ru-RU" sz="1400" dirty="0">
                <a:latin typeface="+mn-lt"/>
              </a:rPr>
              <a:t>пенициллин</a:t>
            </a:r>
            <a:endParaRPr lang="ru-RU" altLang="ru-RU" sz="1400" i="0" dirty="0">
              <a:latin typeface="+mn-lt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i="0" dirty="0">
                <a:latin typeface="+mn-lt"/>
              </a:rPr>
              <a:t>1953 г.: Дж. Уотсон, Ф. Крик открывают «двойную спираль». </a:t>
            </a:r>
            <a:br>
              <a:rPr lang="ru-RU" altLang="ru-RU" sz="1400" i="0" dirty="0">
                <a:latin typeface="+mn-lt"/>
              </a:rPr>
            </a:br>
            <a:r>
              <a:rPr lang="ru-RU" altLang="ru-RU" sz="1400" i="0" dirty="0">
                <a:latin typeface="+mn-lt"/>
              </a:rPr>
              <a:t>Начало геномной эры в медицине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i="0" dirty="0">
                <a:latin typeface="+mn-lt"/>
              </a:rPr>
              <a:t>1990-е — середина 2000-х: проект «Геном человека». </a:t>
            </a:r>
            <a:br>
              <a:rPr lang="ru-RU" altLang="ru-RU" sz="1400" i="0" dirty="0">
                <a:latin typeface="+mn-lt"/>
              </a:rPr>
            </a:br>
            <a:r>
              <a:rPr lang="ru-RU" altLang="ru-RU" sz="1400" i="0" dirty="0">
                <a:latin typeface="+mn-lt"/>
              </a:rPr>
              <a:t>Начало </a:t>
            </a:r>
            <a:r>
              <a:rPr lang="ru-RU" altLang="ru-RU" sz="1400" b="1" i="0" dirty="0" err="1">
                <a:latin typeface="+mn-lt"/>
              </a:rPr>
              <a:t>пост</a:t>
            </a:r>
            <a:r>
              <a:rPr lang="ru-RU" altLang="ru-RU" sz="1400" i="0" dirty="0" err="1">
                <a:latin typeface="+mn-lt"/>
              </a:rPr>
              <a:t>геномной</a:t>
            </a:r>
            <a:r>
              <a:rPr lang="ru-RU" altLang="ru-RU" sz="1400" i="0" dirty="0">
                <a:latin typeface="+mn-lt"/>
              </a:rPr>
              <a:t> эры. 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897960" y="4032934"/>
            <a:ext cx="677004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0975" indent="-180975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Основные понятия в драг-дизайне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b="1" i="0" dirty="0">
                <a:latin typeface="+mn-lt"/>
              </a:rPr>
              <a:t>Мишень</a:t>
            </a:r>
            <a:r>
              <a:rPr lang="en-US" altLang="ru-RU" sz="1400" i="0" dirty="0">
                <a:latin typeface="+mn-lt"/>
              </a:rPr>
              <a:t> </a:t>
            </a:r>
            <a:r>
              <a:rPr lang="ru-RU" altLang="ru-RU" sz="1400" i="0" dirty="0">
                <a:latin typeface="+mn-lt"/>
              </a:rPr>
              <a:t>—</a:t>
            </a:r>
            <a:r>
              <a:rPr lang="en-US" altLang="ru-RU" sz="1400" i="0" dirty="0">
                <a:latin typeface="+mn-lt"/>
              </a:rPr>
              <a:t> </a:t>
            </a:r>
            <a:r>
              <a:rPr lang="ru-RU" altLang="ru-RU" sz="1400" i="0" dirty="0">
                <a:latin typeface="+mn-lt"/>
              </a:rPr>
              <a:t>макромолекула, связанная с определенной функцией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>
                <a:latin typeface="+mn-lt"/>
              </a:rPr>
              <a:t>Ее нарушение приводит к заболеванию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>
                <a:latin typeface="+mn-lt"/>
              </a:rPr>
              <a:t>Воздействие на нее — путь к лечению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b="1" i="0" dirty="0">
                <a:latin typeface="+mn-lt"/>
              </a:rPr>
              <a:t>Лекарство</a:t>
            </a:r>
            <a:r>
              <a:rPr lang="en-US" altLang="ru-RU" sz="1400" i="0" dirty="0">
                <a:latin typeface="+mn-lt"/>
              </a:rPr>
              <a:t> </a:t>
            </a:r>
            <a:r>
              <a:rPr lang="ru-RU" altLang="ru-RU" sz="1400" i="0" dirty="0">
                <a:latin typeface="+mn-lt"/>
              </a:rPr>
              <a:t>— малая молекула или антитело, специфически взаимодействующее с мишенью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>
                <a:latin typeface="+mn-lt"/>
              </a:rPr>
              <a:t>Высокая </a:t>
            </a:r>
            <a:r>
              <a:rPr lang="ru-RU" altLang="ru-RU" sz="1200" i="0" dirty="0" err="1">
                <a:latin typeface="+mn-lt"/>
              </a:rPr>
              <a:t>аффинность</a:t>
            </a:r>
            <a:endParaRPr lang="ru-RU" altLang="ru-RU" sz="1200" i="0" dirty="0">
              <a:latin typeface="+mn-lt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>
                <a:latin typeface="+mn-lt"/>
              </a:rPr>
              <a:t>Специфичность создаваемого ответа</a:t>
            </a: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>
                <a:latin typeface="+mn-lt"/>
              </a:rPr>
              <a:t>Изменение клеточного ответа = лечение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523058" y="4605338"/>
            <a:ext cx="6159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800" i="0">
                <a:solidFill>
                  <a:schemeClr val="accent1"/>
                </a:solidFill>
                <a:latin typeface="Arial Narrow" panose="020B0606020202030204" pitchFamily="34" charset="0"/>
              </a:rPr>
              <a:t>Рецепторы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2531121" y="4821238"/>
            <a:ext cx="58896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800" i="0">
                <a:solidFill>
                  <a:schemeClr val="accent1"/>
                </a:solidFill>
                <a:latin typeface="Arial Narrow" panose="020B0606020202030204" pitchFamily="34" charset="0"/>
              </a:rPr>
              <a:t>Ферменты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099321" y="5276850"/>
            <a:ext cx="6016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800" i="0">
                <a:solidFill>
                  <a:schemeClr val="accent1"/>
                </a:solidFill>
                <a:latin typeface="Arial Narrow" panose="020B0606020202030204" pitchFamily="34" charset="0"/>
              </a:rPr>
              <a:t>Гормоны и</a:t>
            </a:r>
          </a:p>
          <a:p>
            <a:pPr eaLnBrk="1" hangingPunct="1"/>
            <a:r>
              <a:rPr lang="ru-RU" altLang="ru-RU" sz="800" i="0">
                <a:solidFill>
                  <a:schemeClr val="accent1"/>
                </a:solidFill>
                <a:latin typeface="Arial Narrow" panose="020B0606020202030204" pitchFamily="34" charset="0"/>
              </a:rPr>
              <a:t>факторы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1810397" y="5613401"/>
            <a:ext cx="350837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800" i="0">
                <a:latin typeface="Arial Narrow" panose="020B0606020202030204" pitchFamily="34" charset="0"/>
              </a:rPr>
              <a:t>ДНК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1307159" y="5613400"/>
            <a:ext cx="606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ru-RU" altLang="ru-RU" sz="800" i="0">
                <a:latin typeface="Arial Narrow" panose="020B0606020202030204" pitchFamily="34" charset="0"/>
              </a:rPr>
              <a:t>Ядерные</a:t>
            </a:r>
          </a:p>
          <a:p>
            <a:pPr algn="r" eaLnBrk="1" hangingPunct="1"/>
            <a:r>
              <a:rPr lang="ru-RU" altLang="ru-RU" sz="800" i="0">
                <a:latin typeface="Arial Narrow" panose="020B0606020202030204" pitchFamily="34" charset="0"/>
              </a:rPr>
              <a:t>рецепторы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1235722" y="5181600"/>
            <a:ext cx="4905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ru-RU" altLang="ru-RU" sz="800" i="0">
                <a:solidFill>
                  <a:schemeClr val="accent1"/>
                </a:solidFill>
                <a:latin typeface="Arial Narrow" panose="020B0606020202030204" pitchFamily="34" charset="0"/>
              </a:rPr>
              <a:t>Ионные</a:t>
            </a:r>
          </a:p>
          <a:p>
            <a:pPr algn="r" eaLnBrk="1" hangingPunct="1"/>
            <a:r>
              <a:rPr lang="ru-RU" altLang="ru-RU" sz="800" i="0">
                <a:solidFill>
                  <a:schemeClr val="accent1"/>
                </a:solidFill>
                <a:latin typeface="Arial Narrow" panose="020B0606020202030204" pitchFamily="34" charset="0"/>
              </a:rPr>
              <a:t>каналы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875358" y="5181601"/>
            <a:ext cx="47148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800" i="0">
                <a:solidFill>
                  <a:schemeClr val="accent1"/>
                </a:solidFill>
                <a:latin typeface="Arial Narrow" panose="020B0606020202030204" pitchFamily="34" charset="0"/>
              </a:rPr>
              <a:t>Прочие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1270647" y="5957889"/>
            <a:ext cx="21240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000" i="0" dirty="0">
                <a:latin typeface="+mj-lt"/>
              </a:rPr>
              <a:t>Классификация молекулярных мишеней в современной фармацевтической индустрии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208143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Химическое и биологическое пространство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16" name="Picture 8" descr="Chemical space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7CC3"/>
              </a:clrFrom>
              <a:clrTo>
                <a:srgbClr val="007CC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87" y="908050"/>
            <a:ext cx="3157537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4583832" y="890588"/>
            <a:ext cx="6084168" cy="4385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ru-RU" i="0" dirty="0">
                <a:latin typeface="+mn-lt"/>
              </a:rPr>
              <a:t>Химическое пространство</a:t>
            </a:r>
            <a:r>
              <a:rPr lang="en-US" dirty="0">
                <a:latin typeface="+mn-lt"/>
              </a:rPr>
              <a:t>:</a:t>
            </a:r>
            <a:r>
              <a:rPr lang="ru-RU" sz="1400" dirty="0">
                <a:latin typeface="+mn-lt"/>
              </a:rPr>
              <a:t> </a:t>
            </a:r>
            <a:r>
              <a:rPr lang="ru-RU" sz="1600" dirty="0">
                <a:latin typeface="+mn-lt"/>
              </a:rPr>
              <a:t>множество всех молекул с заданным числом атомов. </a:t>
            </a:r>
            <a:br>
              <a:rPr lang="ru-RU" sz="1600" dirty="0">
                <a:latin typeface="+mn-lt"/>
              </a:rPr>
            </a:br>
            <a:r>
              <a:rPr lang="ru-RU" sz="1600" dirty="0">
                <a:latin typeface="+mn-lt"/>
              </a:rPr>
              <a:t>Возможное число</a:t>
            </a:r>
            <a:r>
              <a:rPr lang="en-US" sz="1600" dirty="0">
                <a:latin typeface="+mn-lt"/>
              </a:rPr>
              <a:t>:</a:t>
            </a:r>
            <a:r>
              <a:rPr lang="ru-RU" sz="1600" dirty="0">
                <a:latin typeface="+mn-lt"/>
              </a:rPr>
              <a:t> 10</a:t>
            </a:r>
            <a:r>
              <a:rPr lang="en-US" sz="1600" baseline="30000" dirty="0">
                <a:latin typeface="+mn-lt"/>
              </a:rPr>
              <a:t>40</a:t>
            </a:r>
            <a:r>
              <a:rPr lang="en-US" sz="1600" baseline="30000" dirty="0">
                <a:latin typeface="+mn-lt"/>
                <a:sym typeface="Symbol" pitchFamily="18" charset="2"/>
              </a:rPr>
              <a:t>60</a:t>
            </a:r>
            <a:r>
              <a:rPr lang="ru-RU" sz="1600" dirty="0">
                <a:latin typeface="+mn-lt"/>
                <a:sym typeface="Symbol" pitchFamily="18" charset="2"/>
              </a:rPr>
              <a:t> («комбинаторный взрыв»)</a:t>
            </a: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ru-RU" i="0" dirty="0">
                <a:latin typeface="+mn-lt"/>
                <a:sym typeface="Symbol" pitchFamily="18" charset="2"/>
              </a:rPr>
              <a:t>Биологическое пространство каждой мишени существенно уже</a:t>
            </a:r>
            <a:endParaRPr lang="ru-RU" sz="1400" dirty="0">
              <a:latin typeface="+mn-lt"/>
              <a:sym typeface="Symbol" pitchFamily="18" charset="2"/>
            </a:endParaRPr>
          </a:p>
          <a:p>
            <a:pPr>
              <a:spcBef>
                <a:spcPct val="50000"/>
              </a:spcBef>
              <a:defRPr/>
            </a:pPr>
            <a:r>
              <a:rPr lang="ru-RU" sz="1600" dirty="0">
                <a:latin typeface="+mn-lt"/>
                <a:sym typeface="Symbol" pitchFamily="18" charset="2"/>
              </a:rPr>
              <a:t>«Сужение» возможно за счет выбора лигандов определенного вида и за счет сканирования специально составленных «библиотек» соединений (подмножеств химического или биологического пространства) на предмет сродства к определенной мишени.</a:t>
            </a:r>
            <a:endParaRPr lang="en-US" sz="1600" dirty="0">
              <a:latin typeface="+mn-lt"/>
              <a:sym typeface="Symbol" pitchFamily="18" charset="2"/>
            </a:endParaRPr>
          </a:p>
          <a:p>
            <a:pPr>
              <a:spcBef>
                <a:spcPct val="50000"/>
              </a:spcBef>
              <a:defRPr/>
            </a:pPr>
            <a:endParaRPr lang="ru-RU" sz="1400" dirty="0">
              <a:latin typeface="+mn-lt"/>
              <a:sym typeface="Symbol" pitchFamily="18" charset="2"/>
            </a:endParaRPr>
          </a:p>
          <a:p>
            <a:pPr>
              <a:spcBef>
                <a:spcPct val="50000"/>
              </a:spcBef>
              <a:defRPr/>
            </a:pPr>
            <a:r>
              <a:rPr lang="ru-RU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Symbol" pitchFamily="18" charset="2"/>
              </a:rPr>
              <a:t>Способы сканирования:</a:t>
            </a:r>
          </a:p>
          <a:p>
            <a:pPr marL="273050" indent="-273050">
              <a:buFont typeface="Wingdings" pitchFamily="2" charset="2"/>
              <a:buChar char="§"/>
              <a:defRPr/>
            </a:pPr>
            <a:r>
              <a:rPr lang="en-US" sz="1600" i="1" dirty="0">
                <a:latin typeface="+mn-lt"/>
                <a:sym typeface="Symbol" pitchFamily="18" charset="2"/>
              </a:rPr>
              <a:t>in vitro</a:t>
            </a:r>
            <a:r>
              <a:rPr lang="en-US" sz="1600" dirty="0">
                <a:latin typeface="+mn-lt"/>
                <a:sym typeface="Symbol" pitchFamily="18" charset="2"/>
              </a:rPr>
              <a:t> (</a:t>
            </a:r>
            <a:r>
              <a:rPr lang="ru-RU" sz="1600" dirty="0">
                <a:latin typeface="+mn-lt"/>
                <a:sym typeface="Symbol" pitchFamily="18" charset="2"/>
              </a:rPr>
              <a:t>высокопроизводительный скрининг</a:t>
            </a:r>
            <a:r>
              <a:rPr lang="en-US" sz="1600" dirty="0">
                <a:latin typeface="+mn-lt"/>
                <a:sym typeface="Symbol" pitchFamily="18" charset="2"/>
              </a:rPr>
              <a:t>)</a:t>
            </a:r>
            <a:r>
              <a:rPr lang="ru-RU" sz="1600" dirty="0">
                <a:latin typeface="+mn-lt"/>
                <a:sym typeface="Symbol" pitchFamily="18" charset="2"/>
              </a:rPr>
              <a:t> и</a:t>
            </a:r>
          </a:p>
          <a:p>
            <a:pPr marL="273050" indent="-273050">
              <a:buFont typeface="Wingdings" pitchFamily="2" charset="2"/>
              <a:buChar char="§"/>
              <a:defRPr/>
            </a:pPr>
            <a:r>
              <a:rPr lang="en-US" sz="1600" i="1" dirty="0">
                <a:latin typeface="+mn-lt"/>
                <a:sym typeface="Symbol" pitchFamily="18" charset="2"/>
              </a:rPr>
              <a:t>in </a:t>
            </a:r>
            <a:r>
              <a:rPr lang="en-US" sz="1600" i="1" dirty="0" err="1">
                <a:latin typeface="+mn-lt"/>
                <a:sym typeface="Symbol" pitchFamily="18" charset="2"/>
              </a:rPr>
              <a:t>silico</a:t>
            </a:r>
            <a:r>
              <a:rPr lang="en-US" sz="1600" dirty="0">
                <a:latin typeface="+mn-lt"/>
                <a:sym typeface="Symbol" pitchFamily="18" charset="2"/>
              </a:rPr>
              <a:t> (</a:t>
            </a:r>
            <a:r>
              <a:rPr lang="ru-RU" sz="1600" dirty="0">
                <a:latin typeface="+mn-lt"/>
                <a:sym typeface="Symbol" pitchFamily="18" charset="2"/>
              </a:rPr>
              <a:t>виртуальный скрининг</a:t>
            </a:r>
            <a:r>
              <a:rPr lang="en-US" sz="1600" dirty="0">
                <a:latin typeface="+mn-lt"/>
                <a:sym typeface="Symbol" pitchFamily="18" charset="2"/>
              </a:rPr>
              <a:t> </a:t>
            </a:r>
            <a:r>
              <a:rPr lang="ru-RU" sz="1600" dirty="0">
                <a:latin typeface="+mn-lt"/>
                <a:sym typeface="Symbol" pitchFamily="18" charset="2"/>
              </a:rPr>
              <a:t>или высокопроизводительный </a:t>
            </a:r>
            <a:r>
              <a:rPr lang="ru-RU" sz="1600" dirty="0" err="1">
                <a:latin typeface="+mn-lt"/>
                <a:sym typeface="Symbol" pitchFamily="18" charset="2"/>
              </a:rPr>
              <a:t>докинг</a:t>
            </a:r>
            <a:r>
              <a:rPr lang="en-US" sz="1600" dirty="0">
                <a:latin typeface="+mn-lt"/>
                <a:sym typeface="Symbol" pitchFamily="18" charset="2"/>
              </a:rPr>
              <a:t>)</a:t>
            </a:r>
            <a:endParaRPr lang="ru-RU" sz="1600" dirty="0">
              <a:latin typeface="+mn-lt"/>
              <a:sym typeface="Symbol" pitchFamily="18" charset="2"/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911424" y="4292601"/>
            <a:ext cx="360109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«Правило пяти» </a:t>
            </a:r>
            <a:r>
              <a:rPr lang="ru-RU" altLang="ru-RU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Липинского</a:t>
            </a:r>
            <a:endParaRPr lang="ru-RU" altLang="ru-RU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eaLnBrk="1" hangingPunct="1"/>
            <a:r>
              <a:rPr lang="ru-RU" altLang="ru-RU" sz="1400" i="0" dirty="0">
                <a:latin typeface="+mj-lt"/>
              </a:rPr>
              <a:t>Анализа реестра </a:t>
            </a:r>
            <a:r>
              <a:rPr lang="en-US" altLang="ru-RU" sz="1400" i="0" dirty="0">
                <a:latin typeface="+mj-lt"/>
              </a:rPr>
              <a:t>World Drug Index </a:t>
            </a:r>
            <a:r>
              <a:rPr lang="ru-RU" altLang="ru-RU" sz="1400" i="0" dirty="0">
                <a:latin typeface="+mj-lt"/>
                <a:sym typeface="Wingdings" panose="05000000000000000000" pitchFamily="2" charset="2"/>
              </a:rPr>
              <a:t></a:t>
            </a:r>
            <a:r>
              <a:rPr lang="ru-RU" altLang="ru-RU" sz="1400" i="0" dirty="0">
                <a:latin typeface="+mj-lt"/>
              </a:rPr>
              <a:t> критерий «похожести на лекарство»:</a:t>
            </a:r>
          </a:p>
          <a:p>
            <a:pPr marL="176213" indent="-176213" eaLnBrk="1" hangingPunct="1">
              <a:buFont typeface="Wingdings" panose="05000000000000000000" pitchFamily="2" charset="2"/>
              <a:buChar char="§"/>
            </a:pPr>
            <a:r>
              <a:rPr lang="ru-RU" altLang="ru-RU" sz="1400" i="0" dirty="0">
                <a:latin typeface="+mj-lt"/>
              </a:rPr>
              <a:t>Молекулярная масса </a:t>
            </a:r>
            <a:r>
              <a:rPr lang="en-US" altLang="ru-RU" sz="1400" i="0" dirty="0">
                <a:latin typeface="+mj-lt"/>
              </a:rPr>
              <a:t>&lt;500 </a:t>
            </a:r>
            <a:r>
              <a:rPr lang="ru-RU" altLang="ru-RU" sz="1400" i="0" dirty="0">
                <a:latin typeface="+mj-lt"/>
              </a:rPr>
              <a:t>Да</a:t>
            </a:r>
          </a:p>
          <a:p>
            <a:pPr marL="176213" indent="-176213" eaLnBrk="1" hangingPunct="1">
              <a:buFont typeface="Wingdings" panose="05000000000000000000" pitchFamily="2" charset="2"/>
              <a:buChar char="§"/>
            </a:pPr>
            <a:r>
              <a:rPr lang="en-US" altLang="ru-RU" sz="1400" i="0" dirty="0">
                <a:latin typeface="+mj-lt"/>
              </a:rPr>
              <a:t># </a:t>
            </a:r>
            <a:r>
              <a:rPr lang="ru-RU" altLang="ru-RU" sz="1400" i="0" dirty="0">
                <a:latin typeface="+mj-lt"/>
              </a:rPr>
              <a:t>доноров водородной связи </a:t>
            </a:r>
            <a:r>
              <a:rPr lang="en-US" altLang="ru-RU" sz="1400" i="0" dirty="0">
                <a:latin typeface="+mj-lt"/>
              </a:rPr>
              <a:t>&lt;5</a:t>
            </a:r>
            <a:endParaRPr lang="ru-RU" altLang="ru-RU" sz="1400" i="0" dirty="0">
              <a:latin typeface="+mj-lt"/>
            </a:endParaRPr>
          </a:p>
          <a:p>
            <a:pPr marL="176213" indent="-176213" eaLnBrk="1" hangingPunct="1">
              <a:buFont typeface="Wingdings" panose="05000000000000000000" pitchFamily="2" charset="2"/>
              <a:buChar char="§"/>
            </a:pPr>
            <a:r>
              <a:rPr lang="en-US" altLang="ru-RU" sz="1400" i="0" dirty="0">
                <a:latin typeface="+mj-lt"/>
              </a:rPr>
              <a:t>#</a:t>
            </a:r>
            <a:r>
              <a:rPr lang="ru-RU" altLang="ru-RU" sz="1400" i="0" dirty="0">
                <a:latin typeface="+mj-lt"/>
              </a:rPr>
              <a:t> акцепторов водородной связи</a:t>
            </a:r>
            <a:r>
              <a:rPr lang="en-US" altLang="ru-RU" sz="1400" i="0" dirty="0">
                <a:latin typeface="+mj-lt"/>
              </a:rPr>
              <a:t> &lt;10</a:t>
            </a:r>
            <a:endParaRPr lang="ru-RU" altLang="ru-RU" sz="1400" i="0" dirty="0">
              <a:latin typeface="+mj-lt"/>
            </a:endParaRPr>
          </a:p>
          <a:p>
            <a:pPr marL="176213" indent="-176213" eaLnBrk="1" hangingPunct="1">
              <a:buFont typeface="Wingdings" panose="05000000000000000000" pitchFamily="2" charset="2"/>
              <a:buChar char="§"/>
            </a:pPr>
            <a:r>
              <a:rPr lang="en-US" altLang="ru-RU" sz="1400" i="0" dirty="0">
                <a:latin typeface="+mj-lt"/>
              </a:rPr>
              <a:t>log </a:t>
            </a:r>
            <a:r>
              <a:rPr lang="en-US" altLang="ru-RU" sz="1400" dirty="0">
                <a:latin typeface="+mj-lt"/>
              </a:rPr>
              <a:t>P </a:t>
            </a:r>
            <a:r>
              <a:rPr lang="en-US" altLang="ru-RU" sz="1400" i="0" dirty="0">
                <a:latin typeface="+mj-lt"/>
              </a:rPr>
              <a:t>&lt; 5</a:t>
            </a:r>
          </a:p>
          <a:p>
            <a:pPr eaLnBrk="1" hangingPunct="1"/>
            <a:endParaRPr lang="en-US" altLang="ru-RU" sz="1400" i="0" dirty="0">
              <a:latin typeface="+mj-lt"/>
            </a:endParaRPr>
          </a:p>
          <a:p>
            <a:pPr eaLnBrk="1" hangingPunct="1"/>
            <a:r>
              <a:rPr lang="en-US" altLang="ru-RU" sz="1000" i="0" dirty="0">
                <a:latin typeface="+mj-lt"/>
              </a:rPr>
              <a:t>Lipinski et al. (1997) </a:t>
            </a:r>
            <a:r>
              <a:rPr lang="en-US" altLang="ru-RU" sz="1000" dirty="0">
                <a:latin typeface="+mj-lt"/>
                <a:hlinkClick r:id="rId3"/>
              </a:rPr>
              <a:t>Adv. Drug </a:t>
            </a:r>
            <a:r>
              <a:rPr lang="en-US" altLang="ru-RU" sz="1000" dirty="0" err="1">
                <a:latin typeface="+mj-lt"/>
                <a:hlinkClick r:id="rId3"/>
              </a:rPr>
              <a:t>Deliv</a:t>
            </a:r>
            <a:r>
              <a:rPr lang="en-US" altLang="ru-RU" sz="1000" dirty="0">
                <a:latin typeface="+mj-lt"/>
                <a:hlinkClick r:id="rId3"/>
              </a:rPr>
              <a:t>. Rev. </a:t>
            </a:r>
            <a:r>
              <a:rPr lang="en-US" altLang="ru-RU" sz="1000" b="1" i="0" dirty="0">
                <a:latin typeface="+mj-lt"/>
                <a:hlinkClick r:id="rId3"/>
              </a:rPr>
              <a:t>23</a:t>
            </a:r>
            <a:r>
              <a:rPr lang="en-US" altLang="ru-RU" sz="1000" i="0" dirty="0">
                <a:latin typeface="+mj-lt"/>
                <a:hlinkClick r:id="rId3"/>
              </a:rPr>
              <a:t>, 3-25</a:t>
            </a:r>
            <a:endParaRPr lang="ru-RU" altLang="ru-RU" sz="1000" i="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51384" y="287339"/>
            <a:ext cx="77771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In vitro 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сканирование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6" name="Picture 6" descr="Рисунок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853" y="3767138"/>
            <a:ext cx="3238500" cy="243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Рисунок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853" y="887414"/>
            <a:ext cx="3238500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839416" y="6216651"/>
            <a:ext cx="1094521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000" b="1" i="0" dirty="0">
                <a:latin typeface="Arial Narrow" panose="020B0606020202030204" pitchFamily="34" charset="0"/>
              </a:rPr>
              <a:t>Аппаратура, используемая для высокопроизводительного (ВП) скрининга.</a:t>
            </a:r>
            <a:r>
              <a:rPr lang="ru-RU" altLang="ru-RU" sz="1000" i="0" dirty="0">
                <a:latin typeface="Arial Narrow" panose="020B0606020202030204" pitchFamily="34" charset="0"/>
              </a:rPr>
              <a:t> </a:t>
            </a:r>
            <a:r>
              <a:rPr lang="ru-RU" altLang="ru-RU" sz="1000" b="1" i="0" dirty="0">
                <a:latin typeface="Arial Narrow" panose="020B0606020202030204" pitchFamily="34" charset="0"/>
              </a:rPr>
              <a:t>А.</a:t>
            </a:r>
            <a:r>
              <a:rPr lang="ru-RU" altLang="ru-RU" sz="1000" i="0" dirty="0">
                <a:latin typeface="Arial Narrow" panose="020B0606020202030204" pitchFamily="34" charset="0"/>
              </a:rPr>
              <a:t> Установка для ВП скрининга и считывания флуоресцентного сигнала Mark II </a:t>
            </a:r>
            <a:r>
              <a:rPr lang="ru-RU" altLang="ru-RU" sz="1000" i="0" dirty="0" err="1">
                <a:latin typeface="Arial Narrow" panose="020B0606020202030204" pitchFamily="34" charset="0"/>
              </a:rPr>
              <a:t>Scarina</a:t>
            </a:r>
            <a:r>
              <a:rPr lang="ru-RU" altLang="ru-RU" sz="1000" i="0" dirty="0">
                <a:latin typeface="Arial Narrow" panose="020B0606020202030204" pitchFamily="34" charset="0"/>
              </a:rPr>
              <a:t>. Работает с плашками, содержащими 2048 углублений (</a:t>
            </a:r>
            <a:r>
              <a:rPr lang="ru-RU" altLang="ru-RU" sz="1000" i="0" dirty="0" err="1">
                <a:latin typeface="Arial Narrow" panose="020B0606020202030204" pitchFamily="34" charset="0"/>
              </a:rPr>
              <a:t>NanoCarrier</a:t>
            </a:r>
            <a:r>
              <a:rPr lang="ru-RU" altLang="ru-RU" sz="1000" i="0" dirty="0">
                <a:latin typeface="Arial Narrow" panose="020B0606020202030204" pitchFamily="34" charset="0"/>
              </a:rPr>
              <a:t>). Полностью автоматическая (работает в круглосуточном режиме). Производительность — более 100000 образцов в день. </a:t>
            </a:r>
            <a:r>
              <a:rPr lang="ru-RU" altLang="ru-RU" sz="1000" b="1" i="0" dirty="0">
                <a:latin typeface="Arial Narrow" panose="020B0606020202030204" pitchFamily="34" charset="0"/>
              </a:rPr>
              <a:t>Б. </a:t>
            </a:r>
            <a:r>
              <a:rPr lang="ru-RU" altLang="ru-RU" sz="1000" i="0" dirty="0">
                <a:latin typeface="Arial Narrow" panose="020B0606020202030204" pitchFamily="34" charset="0"/>
              </a:rPr>
              <a:t>Роботизированная пипетка, в автоматическом ВП режиме наносящая образцы тестируемых соединений в плашку с системой для скрининга. Типичное количество углублений на плашке — тысячи. Объем системы в одной лунке — микролитры. Объем вносимого образца — </a:t>
            </a:r>
            <a:r>
              <a:rPr lang="ru-RU" altLang="ru-RU" sz="1000" i="0" dirty="0" err="1">
                <a:latin typeface="Arial Narrow" panose="020B0606020202030204" pitchFamily="34" charset="0"/>
              </a:rPr>
              <a:t>нанолитры</a:t>
            </a:r>
            <a:r>
              <a:rPr lang="ru-RU" altLang="ru-RU" sz="1000" dirty="0">
                <a:latin typeface="Arial Narrow" panose="020B0606020202030204" pitchFamily="34" charset="0"/>
              </a:rPr>
              <a:t>.</a:t>
            </a:r>
            <a:r>
              <a:rPr lang="ru-RU" altLang="ru-RU" sz="1000" i="0" dirty="0">
                <a:latin typeface="Arial Narrow" panose="020B0606020202030204" pitchFamily="34" charset="0"/>
              </a:rPr>
              <a:t> 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4295800" y="836614"/>
            <a:ext cx="6372201" cy="524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latin typeface="+mn-lt"/>
              </a:rPr>
              <a:t>Сканирование (</a:t>
            </a:r>
            <a:r>
              <a:rPr lang="ru-RU" i="1" dirty="0">
                <a:latin typeface="+mn-lt"/>
              </a:rPr>
              <a:t>скрининг</a:t>
            </a:r>
            <a:r>
              <a:rPr lang="ru-RU" dirty="0">
                <a:latin typeface="+mn-lt"/>
              </a:rPr>
              <a:t>) — автоматизированная процедура измерения </a:t>
            </a:r>
            <a:r>
              <a:rPr lang="ru-RU" dirty="0" err="1">
                <a:latin typeface="+mn-lt"/>
              </a:rPr>
              <a:t>аффинности</a:t>
            </a:r>
            <a:r>
              <a:rPr lang="en-US" dirty="0">
                <a:latin typeface="+mn-lt"/>
              </a:rPr>
              <a:t>/</a:t>
            </a:r>
            <a:r>
              <a:rPr lang="ru-RU" dirty="0">
                <a:latin typeface="+mn-lt"/>
              </a:rPr>
              <a:t>активности для большой базы соединений.</a:t>
            </a:r>
          </a:p>
          <a:p>
            <a:pPr>
              <a:spcBef>
                <a:spcPct val="50000"/>
              </a:spcBef>
              <a:defRPr/>
            </a:pPr>
            <a:r>
              <a:rPr lang="ru-RU" dirty="0">
                <a:latin typeface="+mn-lt"/>
              </a:rPr>
              <a:t>В зависимости от размера базы скрининг:</a:t>
            </a:r>
          </a:p>
          <a:p>
            <a:pPr marL="177800" indent="-177800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600" dirty="0" err="1">
                <a:latin typeface="+mn-lt"/>
              </a:rPr>
              <a:t>Низкопроизводительный</a:t>
            </a:r>
            <a:r>
              <a:rPr lang="ru-RU" sz="1600" dirty="0">
                <a:latin typeface="+mn-lt"/>
              </a:rPr>
              <a:t> (10 ÷ 50 тыс. образцов)</a:t>
            </a:r>
          </a:p>
          <a:p>
            <a:pPr marL="177800" indent="-177800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600" dirty="0" err="1">
                <a:latin typeface="+mn-lt"/>
              </a:rPr>
              <a:t>Среднепроизводительный</a:t>
            </a:r>
            <a:r>
              <a:rPr lang="ru-RU" sz="1600" dirty="0">
                <a:latin typeface="+mn-lt"/>
              </a:rPr>
              <a:t> (50 ÷ 100 тыс. образцов) </a:t>
            </a:r>
          </a:p>
          <a:p>
            <a:pPr marL="177800" indent="-177800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600" dirty="0">
                <a:latin typeface="+mn-lt"/>
              </a:rPr>
              <a:t>Высокопроизводительный (100 тыс. ÷ 5+ млн. образцов)</a:t>
            </a:r>
          </a:p>
          <a:p>
            <a:pPr>
              <a:spcBef>
                <a:spcPct val="50000"/>
              </a:spcBef>
              <a:defRPr/>
            </a:pPr>
            <a:r>
              <a:rPr lang="ru-RU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Экспериментальные методики: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latin typeface="+mn-lt"/>
              </a:rPr>
              <a:t>поляризация флуоресценции</a:t>
            </a:r>
            <a:endParaRPr lang="en-US" sz="1600" dirty="0">
              <a:latin typeface="+mn-lt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latin typeface="+mn-lt"/>
              </a:rPr>
              <a:t>спектроскопия </a:t>
            </a:r>
            <a:r>
              <a:rPr lang="ru-RU" sz="1600" dirty="0" err="1">
                <a:latin typeface="+mn-lt"/>
              </a:rPr>
              <a:t>скоррелированной</a:t>
            </a:r>
            <a:r>
              <a:rPr lang="ru-RU" sz="1600" dirty="0">
                <a:latin typeface="+mn-lt"/>
              </a:rPr>
              <a:t> флуоресценции</a:t>
            </a:r>
            <a:endParaRPr lang="en-US" sz="1600" dirty="0">
              <a:latin typeface="+mn-lt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latin typeface="+mn-lt"/>
              </a:rPr>
              <a:t>радиография</a:t>
            </a:r>
            <a:endParaRPr lang="en-US" sz="1600" dirty="0">
              <a:latin typeface="+mn-lt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latin typeface="+mn-lt"/>
              </a:rPr>
              <a:t>ЯМР</a:t>
            </a:r>
            <a:endParaRPr lang="en-US" sz="1600" dirty="0">
              <a:latin typeface="+mn-lt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latin typeface="+mn-lt"/>
              </a:rPr>
              <a:t>масс-спектрометрия</a:t>
            </a:r>
            <a:endParaRPr lang="en-US" sz="1600" dirty="0">
              <a:latin typeface="+mn-lt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latin typeface="+mn-lt"/>
              </a:rPr>
              <a:t>поверхностный </a:t>
            </a:r>
            <a:r>
              <a:rPr lang="ru-RU" sz="1600" dirty="0" err="1">
                <a:latin typeface="+mn-lt"/>
              </a:rPr>
              <a:t>плазмонный</a:t>
            </a:r>
            <a:r>
              <a:rPr lang="ru-RU" sz="1600" dirty="0">
                <a:latin typeface="+mn-lt"/>
              </a:rPr>
              <a:t> резонанс</a:t>
            </a:r>
            <a:endParaRPr lang="en-US" sz="1600" dirty="0">
              <a:latin typeface="+mn-lt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dirty="0" err="1">
                <a:latin typeface="+mn-lt"/>
              </a:rPr>
              <a:t>микрокалориметрия</a:t>
            </a:r>
            <a:endParaRPr lang="en-US" sz="1600" dirty="0">
              <a:latin typeface="+mn-lt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latin typeface="+mn-lt"/>
              </a:rPr>
              <a:t>массивы лигандов и белков 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small-molecule 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и 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protein microarray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)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1600" dirty="0" err="1">
                <a:latin typeface="+mn-lt"/>
              </a:rPr>
              <a:t>тригибридная</a:t>
            </a:r>
            <a:r>
              <a:rPr lang="ru-RU" sz="1600" dirty="0">
                <a:latin typeface="+mn-lt"/>
              </a:rPr>
              <a:t> система 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(транскрипция тестового гена сопряжена со связыванием </a:t>
            </a:r>
            <a:r>
              <a:rPr lang="ru-RU" sz="10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лиганда</a:t>
            </a:r>
            <a:r>
              <a:rPr 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Схема драг-дизайна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6" name="Picture 6" descr="DD-pipe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944723"/>
            <a:ext cx="9649072" cy="541950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51384" y="6434273"/>
            <a:ext cx="37306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1000" i="0" dirty="0" err="1"/>
              <a:t>Agrafiotis</a:t>
            </a:r>
            <a:r>
              <a:rPr lang="en-US" altLang="ru-RU" sz="1000" i="0" dirty="0"/>
              <a:t> </a:t>
            </a:r>
            <a:r>
              <a:rPr lang="en-US" altLang="ru-RU" sz="1000" dirty="0"/>
              <a:t>et al</a:t>
            </a:r>
            <a:r>
              <a:rPr lang="en-US" altLang="ru-RU" sz="1000" i="0" dirty="0"/>
              <a:t> (2002) </a:t>
            </a:r>
            <a:r>
              <a:rPr lang="en-US" altLang="ru-RU" sz="1000" dirty="0">
                <a:hlinkClick r:id="rId3"/>
              </a:rPr>
              <a:t>Nature Rev. Drug Disc. </a:t>
            </a:r>
            <a:r>
              <a:rPr lang="en-US" altLang="ru-RU" sz="1000" b="1" i="0" dirty="0">
                <a:hlinkClick r:id="rId3"/>
              </a:rPr>
              <a:t>1</a:t>
            </a:r>
            <a:r>
              <a:rPr lang="en-US" altLang="ru-RU" sz="1000" i="0" dirty="0">
                <a:hlinkClick r:id="rId3"/>
              </a:rPr>
              <a:t>, 337-346</a:t>
            </a:r>
            <a:endParaRPr lang="ru-RU" altLang="ru-RU" sz="1000" i="0" dirty="0"/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9984431" y="959237"/>
            <a:ext cx="2207569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000" i="0" dirty="0">
                <a:latin typeface="Arial Narrow" panose="020B0606020202030204" pitchFamily="34" charset="0"/>
              </a:rPr>
              <a:t>Ген белка-мишени устанавливается методами функциональной геномики, клонируется, экспрессируется в определенных биологических системах, проходит «валидацию» и встраивается в систему </a:t>
            </a:r>
            <a:r>
              <a:rPr lang="en-US" altLang="ru-RU" sz="1000" dirty="0">
                <a:latin typeface="Arial Narrow" panose="020B0606020202030204" pitchFamily="34" charset="0"/>
              </a:rPr>
              <a:t>in vitro </a:t>
            </a:r>
            <a:r>
              <a:rPr lang="ru-RU" altLang="ru-RU" sz="1000" i="0" dirty="0">
                <a:latin typeface="Arial Narrow" panose="020B0606020202030204" pitchFamily="34" charset="0"/>
              </a:rPr>
              <a:t>сканирования. В этой системе проводится сканирование небольшой, специально составленной библиотеки проб, и информация об активности и сродстве к мишени соединений-предшественников используется для построения начальной модели структура-активность для лигандов. На основании этой модели из виртуальных баз химических соединений выбирается «сфокусированная» библиотека, производится ее синтез и очередной этап ВП сканирования. Цикл продолжается до тех пор, пока соединения-прототипы не сочтут готовыми к биологическому и клиническому тестированию.</a:t>
            </a:r>
          </a:p>
        </p:txBody>
      </p:sp>
    </p:spTree>
    <p:extLst>
      <p:ext uri="{BB962C8B-B14F-4D97-AF65-F5344CB8AC3E}">
        <p14:creationId xmlns:p14="http://schemas.microsoft.com/office/powerpoint/2010/main" val="211316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49617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In </a:t>
            </a:r>
            <a:r>
              <a:rPr lang="en-US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silico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сканирование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51384" y="836613"/>
            <a:ext cx="97927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b="1" i="0" dirty="0">
                <a:latin typeface="+mn-lt"/>
              </a:rPr>
              <a:t>Цель:</a:t>
            </a:r>
            <a:r>
              <a:rPr lang="ru-RU" altLang="ru-RU" i="0" dirty="0">
                <a:latin typeface="+mn-lt"/>
              </a:rPr>
              <a:t> выбрать из сканируемой библиотеки (</a:t>
            </a:r>
            <a:r>
              <a:rPr lang="en-US" altLang="ru-RU" i="0" dirty="0">
                <a:latin typeface="+mn-lt"/>
              </a:rPr>
              <a:t>10</a:t>
            </a:r>
            <a:r>
              <a:rPr lang="en-US" altLang="ru-RU" i="0" baseline="30000" dirty="0">
                <a:latin typeface="+mn-lt"/>
              </a:rPr>
              <a:t>3</a:t>
            </a:r>
            <a:r>
              <a:rPr lang="en-US" altLang="ru-RU" i="0" dirty="0">
                <a:latin typeface="+mn-lt"/>
                <a:sym typeface="Symbol" panose="05050102010706020507" pitchFamily="18" charset="2"/>
              </a:rPr>
              <a:t>10</a:t>
            </a:r>
            <a:r>
              <a:rPr lang="en-US" altLang="ru-RU" i="0" baseline="30000" dirty="0">
                <a:latin typeface="+mn-lt"/>
                <a:sym typeface="Symbol" panose="05050102010706020507" pitchFamily="18" charset="2"/>
              </a:rPr>
              <a:t>6 </a:t>
            </a:r>
            <a:r>
              <a:rPr lang="ru-RU" altLang="ru-RU" i="0" dirty="0">
                <a:latin typeface="+mn-lt"/>
                <a:sym typeface="Symbol" panose="05050102010706020507" pitchFamily="18" charset="2"/>
              </a:rPr>
              <a:t>соединений</a:t>
            </a:r>
            <a:r>
              <a:rPr lang="ru-RU" altLang="ru-RU" i="0" dirty="0">
                <a:latin typeface="+mn-lt"/>
              </a:rPr>
              <a:t>) подмножества (</a:t>
            </a:r>
            <a:r>
              <a:rPr lang="en-US" altLang="ru-RU" i="0" dirty="0">
                <a:latin typeface="+mn-lt"/>
              </a:rPr>
              <a:t>&lt;10</a:t>
            </a:r>
            <a:r>
              <a:rPr lang="en-US" altLang="ru-RU" i="0" baseline="30000" dirty="0">
                <a:latin typeface="+mn-lt"/>
              </a:rPr>
              <a:t>2</a:t>
            </a:r>
            <a:r>
              <a:rPr lang="ru-RU" altLang="ru-RU" i="0" dirty="0">
                <a:latin typeface="+mn-lt"/>
              </a:rPr>
              <a:t>)</a:t>
            </a:r>
            <a:r>
              <a:rPr lang="en-US" altLang="ru-RU" i="0" dirty="0">
                <a:latin typeface="+mn-lt"/>
              </a:rPr>
              <a:t> </a:t>
            </a:r>
            <a:r>
              <a:rPr lang="ru-RU" altLang="ru-RU" i="0" dirty="0">
                <a:latin typeface="+mn-lt"/>
              </a:rPr>
              <a:t>«наверное активных» молекул.</a:t>
            </a:r>
            <a:br>
              <a:rPr lang="ru-RU" altLang="ru-RU" i="0" dirty="0">
                <a:latin typeface="+mn-lt"/>
              </a:rPr>
            </a:br>
            <a:r>
              <a:rPr lang="ru-RU" altLang="ru-RU" i="0" dirty="0">
                <a:latin typeface="+mn-lt"/>
              </a:rPr>
              <a:t>Критерий – </a:t>
            </a:r>
            <a:r>
              <a:rPr lang="ru-RU" altLang="ru-RU" dirty="0">
                <a:latin typeface="+mn-lt"/>
              </a:rPr>
              <a:t>степень обогащения</a:t>
            </a:r>
            <a:r>
              <a:rPr lang="ru-RU" altLang="ru-RU" i="0" dirty="0">
                <a:latin typeface="+mn-lt"/>
              </a:rPr>
              <a:t>.</a:t>
            </a:r>
          </a:p>
        </p:txBody>
      </p:sp>
      <p:pic>
        <p:nvPicPr>
          <p:cNvPr id="18" name="Picture 7" descr="insili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1916113"/>
            <a:ext cx="5549660" cy="2856390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6456040" y="1916114"/>
            <a:ext cx="5328592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i="0" dirty="0">
                <a:latin typeface="+mn-lt"/>
              </a:rPr>
              <a:t>Выбранное множество тестируется экспериментально (</a:t>
            </a:r>
            <a:r>
              <a:rPr lang="ru-RU" altLang="ru-RU" sz="1600" dirty="0">
                <a:latin typeface="+mn-lt"/>
              </a:rPr>
              <a:t>интеграция </a:t>
            </a:r>
            <a:r>
              <a:rPr lang="ru-RU" altLang="ru-RU" sz="1600" i="0" dirty="0">
                <a:latin typeface="+mn-lt"/>
              </a:rPr>
              <a:t>и </a:t>
            </a:r>
            <a:r>
              <a:rPr lang="ru-RU" altLang="ru-RU" sz="1600" dirty="0">
                <a:latin typeface="+mn-lt"/>
              </a:rPr>
              <a:t>конвейеризация</a:t>
            </a:r>
            <a:r>
              <a:rPr lang="ru-RU" altLang="ru-RU" sz="1600" i="0" dirty="0">
                <a:latin typeface="+mn-lt"/>
              </a:rPr>
              <a:t> </a:t>
            </a:r>
            <a:r>
              <a:rPr lang="en-US" altLang="ru-RU" sz="1600" dirty="0">
                <a:latin typeface="+mn-lt"/>
              </a:rPr>
              <a:t>in </a:t>
            </a:r>
            <a:r>
              <a:rPr lang="en-US" altLang="ru-RU" sz="1600" dirty="0" err="1">
                <a:latin typeface="+mn-lt"/>
              </a:rPr>
              <a:t>silico</a:t>
            </a:r>
            <a:r>
              <a:rPr lang="en-US" altLang="ru-RU" sz="1600" i="0" dirty="0">
                <a:latin typeface="+mn-lt"/>
              </a:rPr>
              <a:t> </a:t>
            </a:r>
            <a:r>
              <a:rPr lang="ru-RU" altLang="ru-RU" sz="1600" i="0" dirty="0">
                <a:latin typeface="+mn-lt"/>
              </a:rPr>
              <a:t>и </a:t>
            </a:r>
            <a:r>
              <a:rPr lang="en-US" altLang="ru-RU" sz="1600" dirty="0">
                <a:latin typeface="+mn-lt"/>
              </a:rPr>
              <a:t>in vitro</a:t>
            </a:r>
            <a:r>
              <a:rPr lang="en-US" altLang="ru-RU" sz="1600" i="0" dirty="0">
                <a:latin typeface="+mn-lt"/>
              </a:rPr>
              <a:t> </a:t>
            </a:r>
            <a:r>
              <a:rPr lang="ru-RU" altLang="ru-RU" sz="1600" i="0" dirty="0">
                <a:latin typeface="+mn-lt"/>
              </a:rPr>
              <a:t>методов)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  <a:t>Два варианта совместного использования ВП скрининга и молекулярного моделирования. </a:t>
            </a:r>
            <a:r>
              <a:rPr kumimoji="0" lang="ru-RU" alt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  <a:t>Сверху: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  <a:t> последовательный итеративный скрининг. На каждом шаге процедуры используется сравнительно небольшой набор лигандов; по результатам скрининга строится модель, объясняющая связь между структурой и активностью. Модель используется для выбора следующего набора лигандов для тестирования. </a:t>
            </a:r>
            <a:r>
              <a:rPr kumimoji="0" lang="ru-RU" alt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  <a:t>Снизу: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  <a:t> «разовый» скрининг. На каждом шаге модель строится по обучающей выборке и используется для предсказаний на тестовой выборке. </a:t>
            </a:r>
            <a:br>
              <a:rPr kumimoji="0" lang="en-US" alt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</a:br>
            <a:br>
              <a:rPr kumimoji="0" lang="en-US" alt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</a:b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  <a:t>По </a:t>
            </a:r>
            <a:r>
              <a:rPr kumimoji="0" lang="en-US" alt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  <a:t>Lengauer</a:t>
            </a:r>
            <a:r>
              <a:rPr kumimoji="0" lang="en-US" alt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</a:rPr>
              <a:t> et al (2004) </a:t>
            </a:r>
            <a:r>
              <a:rPr kumimoji="0" lang="en-US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  <a:hlinkClick r:id="rId3"/>
              </a:rPr>
              <a:t>Drug </a:t>
            </a:r>
            <a:r>
              <a:rPr kumimoji="0" lang="en-US" alt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  <a:hlinkClick r:id="rId3"/>
              </a:rPr>
              <a:t>Discov</a:t>
            </a:r>
            <a:r>
              <a:rPr kumimoji="0" lang="en-US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  <a:hlinkClick r:id="rId3"/>
              </a:rPr>
              <a:t>. Today </a:t>
            </a:r>
            <a:r>
              <a:rPr kumimoji="0" lang="en-US" alt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  <a:hlinkClick r:id="rId3"/>
              </a:rPr>
              <a:t>9</a:t>
            </a:r>
            <a:r>
              <a:rPr kumimoji="0" lang="en-US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charset="0"/>
                <a:hlinkClick r:id="rId3"/>
              </a:rPr>
              <a:t>, 27-34.</a:t>
            </a:r>
            <a:endParaRPr kumimoji="0" lang="ru-RU" alt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charset="0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551383" y="4869160"/>
            <a:ext cx="4933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Методики виртуального сканирования:</a:t>
            </a:r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auto">
          <a:xfrm>
            <a:off x="551384" y="5156499"/>
            <a:ext cx="38893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Одно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-</a:t>
            </a:r>
            <a:r>
              <a:rPr lang="ru-RU" sz="1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/ </a:t>
            </a:r>
            <a:r>
              <a:rPr lang="ru-RU" sz="1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двумерные:</a:t>
            </a:r>
          </a:p>
          <a:p>
            <a:pPr marL="177800" indent="-177800">
              <a:buFont typeface="Wingdings" pitchFamily="2" charset="2"/>
              <a:buChar char="§"/>
              <a:defRPr/>
            </a:pPr>
            <a:r>
              <a:rPr lang="ru-RU" sz="1400" dirty="0">
                <a:latin typeface="+mj-lt"/>
              </a:rPr>
              <a:t>Молекулярные свойства и дескрипторы</a:t>
            </a:r>
          </a:p>
          <a:p>
            <a:pPr marL="177800" indent="-177800">
              <a:buFont typeface="Wingdings" pitchFamily="2" charset="2"/>
              <a:buChar char="§"/>
              <a:defRPr/>
            </a:pPr>
            <a:r>
              <a:rPr lang="ru-RU" sz="1400" dirty="0">
                <a:latin typeface="+mj-lt"/>
              </a:rPr>
              <a:t>Битовые последовательности (отпечатки)</a:t>
            </a:r>
          </a:p>
          <a:p>
            <a:pPr marL="177800" indent="-177800">
              <a:buFont typeface="Wingdings" pitchFamily="2" charset="2"/>
              <a:buChar char="§"/>
              <a:defRPr/>
            </a:pPr>
            <a:r>
              <a:rPr lang="ru-RU" sz="1400" dirty="0">
                <a:latin typeface="+mj-lt"/>
              </a:rPr>
              <a:t>Поиск подструктур, 2</a:t>
            </a:r>
            <a:r>
              <a:rPr lang="en-US" sz="1400" dirty="0">
                <a:latin typeface="+mj-lt"/>
              </a:rPr>
              <a:t>D </a:t>
            </a:r>
            <a:r>
              <a:rPr lang="ru-RU" sz="1400" dirty="0">
                <a:latin typeface="+mj-lt"/>
              </a:rPr>
              <a:t>запросы к БД</a:t>
            </a:r>
          </a:p>
          <a:p>
            <a:pPr marL="177800" indent="-177800">
              <a:buFont typeface="Wingdings" pitchFamily="2" charset="2"/>
              <a:buChar char="§"/>
              <a:defRPr/>
            </a:pPr>
            <a:r>
              <a:rPr lang="ru-RU" sz="1400" dirty="0">
                <a:latin typeface="+mj-lt"/>
              </a:rPr>
              <a:t>Индексы похожести (</a:t>
            </a:r>
            <a:r>
              <a:rPr lang="ru-RU" sz="1400" dirty="0" err="1">
                <a:latin typeface="+mj-lt"/>
              </a:rPr>
              <a:t>Танимото</a:t>
            </a:r>
            <a:r>
              <a:rPr lang="ru-RU" sz="1400" dirty="0">
                <a:latin typeface="+mj-lt"/>
              </a:rPr>
              <a:t>)</a:t>
            </a: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948259" y="645348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6" name="Rectangle 15"/>
          <p:cNvSpPr>
            <a:spLocks noChangeArrowheads="1"/>
          </p:cNvSpPr>
          <p:nvPr/>
        </p:nvSpPr>
        <p:spPr bwMode="auto">
          <a:xfrm>
            <a:off x="1164159" y="6453485"/>
            <a:ext cx="215900" cy="215900"/>
          </a:xfrm>
          <a:prstGeom prst="rect">
            <a:avLst/>
          </a:prstGeom>
          <a:solidFill>
            <a:srgbClr val="99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1380059" y="6453485"/>
            <a:ext cx="215900" cy="215900"/>
          </a:xfrm>
          <a:prstGeom prst="rect">
            <a:avLst/>
          </a:prstGeom>
          <a:solidFill>
            <a:srgbClr val="99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1595959" y="6453485"/>
            <a:ext cx="215900" cy="215900"/>
          </a:xfrm>
          <a:prstGeom prst="rect">
            <a:avLst/>
          </a:prstGeom>
          <a:solidFill>
            <a:srgbClr val="99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1813446" y="645348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2029346" y="6453485"/>
            <a:ext cx="215900" cy="215900"/>
          </a:xfrm>
          <a:prstGeom prst="rect">
            <a:avLst/>
          </a:prstGeom>
          <a:solidFill>
            <a:srgbClr val="99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1" name="Rectangle 21"/>
          <p:cNvSpPr>
            <a:spLocks noChangeArrowheads="1"/>
          </p:cNvSpPr>
          <p:nvPr/>
        </p:nvSpPr>
        <p:spPr bwMode="auto">
          <a:xfrm>
            <a:off x="2245246" y="645348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461146" y="6453485"/>
            <a:ext cx="215900" cy="215900"/>
          </a:xfrm>
          <a:prstGeom prst="rect">
            <a:avLst/>
          </a:prstGeom>
          <a:solidFill>
            <a:srgbClr val="99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3" name="Rectangle 23"/>
          <p:cNvSpPr>
            <a:spLocks noChangeArrowheads="1"/>
          </p:cNvSpPr>
          <p:nvPr/>
        </p:nvSpPr>
        <p:spPr bwMode="auto">
          <a:xfrm>
            <a:off x="2677046" y="6453485"/>
            <a:ext cx="215900" cy="215900"/>
          </a:xfrm>
          <a:prstGeom prst="rect">
            <a:avLst/>
          </a:prstGeom>
          <a:solidFill>
            <a:srgbClr val="99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4" name="Rectangle 24"/>
          <p:cNvSpPr>
            <a:spLocks noChangeArrowheads="1"/>
          </p:cNvSpPr>
          <p:nvPr/>
        </p:nvSpPr>
        <p:spPr bwMode="auto">
          <a:xfrm>
            <a:off x="2892946" y="645348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5" name="Rectangle 25"/>
          <p:cNvSpPr>
            <a:spLocks noChangeArrowheads="1"/>
          </p:cNvSpPr>
          <p:nvPr/>
        </p:nvSpPr>
        <p:spPr bwMode="auto">
          <a:xfrm>
            <a:off x="3108846" y="645348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3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636154"/>
              </p:ext>
            </p:extLst>
          </p:nvPr>
        </p:nvGraphicFramePr>
        <p:xfrm>
          <a:off x="3469209" y="6164561"/>
          <a:ext cx="1439862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996440" imgH="876300" progId="ChemDraw.Document.6.0">
                  <p:embed/>
                </p:oleObj>
              </mc:Choice>
              <mc:Fallback>
                <p:oleObj name="CS ChemDraw Drawing" r:id="rId4" imgW="1996440" imgH="876300" progId="ChemDraw.Document.6.0">
                  <p:embed/>
                  <p:pic>
                    <p:nvPicPr>
                      <p:cNvPr id="2357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9209" y="6164561"/>
                        <a:ext cx="1439862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" name="Picture 30" descr="btn_surf_total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7BFF"/>
              </a:clrFrom>
              <a:clrTo>
                <a:srgbClr val="007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511" y="4688840"/>
            <a:ext cx="3132137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 Box 28"/>
          <p:cNvSpPr txBox="1">
            <a:spLocks noChangeArrowheads="1"/>
          </p:cNvSpPr>
          <p:nvPr/>
        </p:nvSpPr>
        <p:spPr bwMode="auto">
          <a:xfrm>
            <a:off x="5015880" y="5156498"/>
            <a:ext cx="3671887" cy="98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Трехмерные:</a:t>
            </a:r>
          </a:p>
          <a:p>
            <a:pPr marL="177800" indent="-177800">
              <a:buFont typeface="Wingdings" pitchFamily="2" charset="2"/>
              <a:buChar char="§"/>
              <a:defRPr/>
            </a:pPr>
            <a:r>
              <a:rPr lang="ru-RU" sz="1400" dirty="0">
                <a:latin typeface="+mj-lt"/>
              </a:rPr>
              <a:t>Модели </a:t>
            </a:r>
            <a:r>
              <a:rPr lang="ru-RU" sz="1400" dirty="0" err="1">
                <a:latin typeface="+mj-lt"/>
              </a:rPr>
              <a:t>фармакофоров</a:t>
            </a:r>
            <a:r>
              <a:rPr lang="ru-RU" sz="1400" dirty="0">
                <a:latin typeface="+mj-lt"/>
              </a:rPr>
              <a:t>;</a:t>
            </a:r>
          </a:p>
          <a:p>
            <a:pPr marL="177800" indent="-177800">
              <a:buFont typeface="Wingdings" pitchFamily="2" charset="2"/>
              <a:buChar char="§"/>
              <a:defRPr/>
            </a:pPr>
            <a:r>
              <a:rPr lang="ru-RU" sz="1400" dirty="0">
                <a:latin typeface="+mj-lt"/>
              </a:rPr>
              <a:t>3</a:t>
            </a:r>
            <a:r>
              <a:rPr lang="en-US" sz="1400" dirty="0">
                <a:latin typeface="+mj-lt"/>
              </a:rPr>
              <a:t>D </a:t>
            </a:r>
            <a:r>
              <a:rPr lang="ru-RU" sz="1400" dirty="0">
                <a:latin typeface="+mj-lt"/>
              </a:rPr>
              <a:t>запросы к базам данных;</a:t>
            </a:r>
          </a:p>
          <a:p>
            <a:pPr marL="177800" indent="-177800">
              <a:buFont typeface="Wingdings" pitchFamily="2" charset="2"/>
              <a:buChar char="§"/>
              <a:defRPr/>
            </a:pPr>
            <a:r>
              <a:rPr lang="ru-RU" sz="1400" dirty="0">
                <a:latin typeface="+mj-lt"/>
              </a:rPr>
              <a:t>Молекулярный </a:t>
            </a:r>
            <a:r>
              <a:rPr lang="ru-RU" sz="1400" dirty="0" err="1">
                <a:latin typeface="+mj-lt"/>
              </a:rPr>
              <a:t>докинг</a:t>
            </a:r>
            <a:r>
              <a:rPr lang="ru-RU" sz="14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759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51384" y="138152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Библиотеки химических соединений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graphicFrame>
        <p:nvGraphicFramePr>
          <p:cNvPr id="7" name="Group 26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6383272"/>
              </p:ext>
            </p:extLst>
          </p:nvPr>
        </p:nvGraphicFramePr>
        <p:xfrm>
          <a:off x="623392" y="692150"/>
          <a:ext cx="10873207" cy="5197476"/>
        </p:xfrm>
        <a:graphic>
          <a:graphicData uri="http://schemas.openxmlformats.org/drawingml/2006/table">
            <a:tbl>
              <a:tblPr/>
              <a:tblGrid>
                <a:gridCol w="2007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7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2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Название</a:t>
                      </a:r>
                    </a:p>
                  </a:txBody>
                  <a:tcPr marL="54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# </a:t>
                      </a:r>
                      <a:r>
                        <a:rPr kumimoji="0" 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соединений</a:t>
                      </a:r>
                    </a:p>
                  </a:txBody>
                  <a:tcPr marL="5400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Содержимое</a:t>
                      </a:r>
                    </a:p>
                  </a:txBody>
                  <a:tcPr marL="5400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Условия приобретения</a:t>
                      </a:r>
                    </a:p>
                  </a:txBody>
                  <a:tcPr marL="5400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Примечание</a:t>
                      </a:r>
                    </a:p>
                  </a:txBody>
                  <a:tcPr marL="5400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CS* /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3"/>
                        </a:rPr>
                        <a:t>AshGate Drugs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8000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Синонимы, физические свойства, медицинские применения, патенты, индексы монографий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210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$/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год (интернет),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710$ (CDROM)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Энциклопедия широко известных лекарственных соединений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CS* /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4"/>
                        </a:rPr>
                        <a:t>ChemACX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4"/>
                        </a:rPr>
                        <a:t> Pro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500000+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$420/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год (интернет), 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1250$ (CDROM)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Включает более 300 каталогов химических соединений от ведущих поставщиков (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Sigma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Aldrich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Zeneca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Lancaster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TCI, ACROS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Organics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&amp;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Alpha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Aesar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CS* /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5"/>
                        </a:rPr>
                        <a:t>ChemSynth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180000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реакций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Химические реакции, поиск по структурам, библиография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420$/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год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интернет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3999$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CDROM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База данных по высокоэффективным химическим синтезам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CS* /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6"/>
                        </a:rPr>
                        <a:t>The Merck Index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10000+ 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статей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Статьи и монографии, токсичность, терапия, синтезы, патенты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$250/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год (интернет),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$790 (CDROM)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Энциклопедия химических и биологически активных соединений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CS* /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7"/>
                        </a:rPr>
                        <a:t>ChemMSDX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7000+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записей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Материалы по здоровью и безопасному применению веществ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$3050 (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 комплекте с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ChemOffice)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Данные о безопасности применения веществ в медицине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CS* / Traditional Cheneese Medicine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10,458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Соединения, выделенные из натуральных источников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8"/>
                        </a:rPr>
                        <a:t>NCI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250000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Данные по канцерогенной активности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Бесплатно (интернет, экспорт)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База данных по канцерогенным соединениям, поддерживается 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National Cancer Institute USA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9"/>
                        </a:rPr>
                        <a:t>Derwent World Drug Index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58000+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Данные по активности к определенной мишени, патенты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Содержит все лекарства, сертифицированные на территории США и не только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10"/>
                        </a:rPr>
                        <a:t>Avaliable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10"/>
                        </a:rPr>
                        <a:t> Chemical Directory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 млн. соединений, 10+ млн. реакций, 200+ млн. связанных фактов и т.п. 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Структуры, свойства, патенты, статьи, синтезы, токсикология, фармакокинетика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ACD 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распространяется фирмой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MDL.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Крупнейшая база данных, тесно интегрированная с помощью ПО производителя с разнообразной научной информацией (20000+ журналов)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hlinkClick r:id="rId11"/>
                        </a:rPr>
                        <a:t>Zinc</a:t>
                      </a:r>
                      <a:endParaRPr kumimoji="0" lang="ru-RU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,3+ млн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Бесплатно (интернет, экспорт)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Структуры соединений от крупнейших поставщиков реагентов (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ChemBridge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Sigma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Aldrich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ComGenex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Asinex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NCI,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Maybridge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InterBioScreen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Key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Organics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Microsource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Nanosyn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Pharmeks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PubChem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InterChim</a:t>
                      </a:r>
                      <a:r>
                        <a:rPr kumimoji="0" lang="ru-RU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5400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Box 269"/>
          <p:cNvSpPr txBox="1">
            <a:spLocks noChangeArrowheads="1"/>
          </p:cNvSpPr>
          <p:nvPr/>
        </p:nvSpPr>
        <p:spPr bwMode="auto">
          <a:xfrm rot="16200000">
            <a:off x="-474389" y="5102845"/>
            <a:ext cx="14319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000" i="0" dirty="0"/>
              <a:t>* CS = </a:t>
            </a:r>
            <a:r>
              <a:rPr lang="en-US" altLang="ru-RU" sz="1000" i="0" dirty="0" err="1">
                <a:hlinkClick r:id="rId12"/>
              </a:rPr>
              <a:t>CambridgeSoft</a:t>
            </a:r>
            <a:endParaRPr lang="ru-RU" altLang="ru-RU" sz="1000" i="0" dirty="0"/>
          </a:p>
        </p:txBody>
      </p:sp>
    </p:spTree>
    <p:extLst>
      <p:ext uri="{BB962C8B-B14F-4D97-AF65-F5344CB8AC3E}">
        <p14:creationId xmlns:p14="http://schemas.microsoft.com/office/powerpoint/2010/main" val="12588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Построение запросов к базе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26" name="Picture 6" descr="DB que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7" y="836612"/>
            <a:ext cx="6153725" cy="602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7032104" y="836614"/>
            <a:ext cx="3456509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400" i="0" dirty="0">
                <a:latin typeface="+mn-lt"/>
              </a:rPr>
              <a:t>Виртуальные библиотеки построены на механизмах реляционных баз данных и позволяют использовать стандартных синтаксис языка запросов (</a:t>
            </a:r>
            <a:r>
              <a:rPr lang="en-US" altLang="ru-RU" sz="1400" i="0" dirty="0">
                <a:latin typeface="+mn-lt"/>
              </a:rPr>
              <a:t>SQL</a:t>
            </a:r>
            <a:r>
              <a:rPr lang="ru-RU" altLang="ru-RU" sz="1400" i="0" dirty="0">
                <a:latin typeface="+mn-lt"/>
              </a:rPr>
              <a:t>) для выборки из базы: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006699"/>
              </a:buClr>
            </a:pPr>
            <a:r>
              <a:rPr lang="hu-HU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SELECT count(*) FROM nci_10m WHERE jc_compare(structure,</a:t>
            </a:r>
            <a:br>
              <a:rPr lang="en-US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hu-HU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'CC(C)NCC(O)COC1=C2C=C(C)NC2=CC=C1','sep=!</a:t>
            </a:r>
            <a:r>
              <a:rPr lang="en-US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t:s!ctFilter:(</a:t>
            </a:r>
            <a:r>
              <a:rPr lang="en-US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mass() &lt;= 500) &amp;&amp; (log</a:t>
            </a:r>
            <a:r>
              <a:rPr lang="hu-HU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() &lt;= 5) &amp;&amp; </a:t>
            </a:r>
            <a:r>
              <a:rPr lang="hu-HU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donor</a:t>
            </a:r>
            <a:r>
              <a:rPr lang="hu-HU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Count()</a:t>
            </a:r>
            <a:r>
              <a:rPr lang="en-US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 &lt;= 5) &amp;&amp; </a:t>
            </a:r>
            <a:r>
              <a:rPr lang="hu-HU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acceptor</a:t>
            </a:r>
            <a:r>
              <a:rPr lang="hu-HU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Count()</a:t>
            </a:r>
            <a:r>
              <a:rPr lang="en-US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&lt;=10)</a:t>
            </a:r>
            <a:r>
              <a:rPr lang="hu-HU" altLang="ru-RU" sz="1000" i="0" dirty="0">
                <a:solidFill>
                  <a:srgbClr val="000000"/>
                </a:solidFill>
                <a:latin typeface="Consolas" panose="020B0609020204030204" pitchFamily="49" charset="0"/>
              </a:rPr>
              <a:t>') = 1</a:t>
            </a:r>
            <a:endParaRPr lang="en-US" altLang="ru-RU" sz="10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006699"/>
              </a:buClr>
            </a:pPr>
            <a:r>
              <a:rPr lang="ru-RU" altLang="ru-RU" sz="1400" i="0" dirty="0">
                <a:solidFill>
                  <a:srgbClr val="000000"/>
                </a:solidFill>
                <a:latin typeface="+mn-lt"/>
              </a:rPr>
              <a:t>Полученные результаты могут быть экспортированы в распространенные форматы файлов (</a:t>
            </a:r>
            <a:r>
              <a:rPr lang="en-US" altLang="ru-RU" sz="1400" i="0" dirty="0">
                <a:solidFill>
                  <a:srgbClr val="000000"/>
                </a:solidFill>
                <a:latin typeface="+mn-lt"/>
              </a:rPr>
              <a:t>SMILES, SDF, multiMOL2</a:t>
            </a:r>
            <a:r>
              <a:rPr lang="ru-RU" altLang="ru-RU" sz="1400" i="0" dirty="0">
                <a:solidFill>
                  <a:srgbClr val="000000"/>
                </a:solidFill>
                <a:latin typeface="+mn-lt"/>
              </a:rPr>
              <a:t>)</a:t>
            </a:r>
            <a:r>
              <a:rPr lang="en-US" altLang="ru-RU" sz="1400" i="0" dirty="0">
                <a:solidFill>
                  <a:srgbClr val="000000"/>
                </a:solidFill>
                <a:latin typeface="+mn-lt"/>
              </a:rPr>
              <a:t>.</a:t>
            </a:r>
            <a:endParaRPr lang="ru-RU" altLang="ru-RU" sz="1400" i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7162907" y="6418262"/>
            <a:ext cx="1628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400" i="0" dirty="0">
                <a:latin typeface="+mj-lt"/>
              </a:rPr>
              <a:t>База данных </a:t>
            </a:r>
            <a:r>
              <a:rPr lang="en-US" altLang="ru-RU" sz="1400" i="0" dirty="0">
                <a:latin typeface="+mj-lt"/>
                <a:hlinkClick r:id="rId4"/>
              </a:rPr>
              <a:t>Zinc</a:t>
            </a:r>
            <a:endParaRPr lang="ru-RU" altLang="ru-RU" sz="1400" i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9380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67568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Представление молекулярных данных: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39740" y="908051"/>
            <a:ext cx="83534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ru-RU" i="0" dirty="0">
                <a:latin typeface="+mn-lt"/>
              </a:rPr>
              <a:t>3D</a:t>
            </a:r>
            <a:r>
              <a:rPr lang="ru-RU" altLang="ru-RU" i="0" dirty="0">
                <a:latin typeface="+mn-lt"/>
              </a:rPr>
              <a:t> (заданы координаты атомов),</a:t>
            </a:r>
            <a:endParaRPr lang="en-US" altLang="ru-RU" i="0" dirty="0">
              <a:latin typeface="+mn-lt"/>
            </a:endParaRPr>
          </a:p>
          <a:p>
            <a:pPr marL="285750" indent="-2857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ru-RU" i="0" dirty="0">
                <a:latin typeface="+mn-lt"/>
              </a:rPr>
              <a:t>2D </a:t>
            </a:r>
            <a:r>
              <a:rPr lang="ru-RU" altLang="ru-RU" i="0" dirty="0">
                <a:latin typeface="+mn-lt"/>
              </a:rPr>
              <a:t>(известна топология молекулы) и </a:t>
            </a:r>
            <a:endParaRPr lang="en-US" altLang="ru-RU" i="0" dirty="0">
              <a:latin typeface="+mn-lt"/>
            </a:endParaRPr>
          </a:p>
          <a:p>
            <a:pPr marL="285750" indent="-2857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ru-RU" i="0" dirty="0">
                <a:latin typeface="+mn-lt"/>
              </a:rPr>
              <a:t>1D</a:t>
            </a:r>
            <a:r>
              <a:rPr lang="ru-RU" altLang="ru-RU" i="0" dirty="0">
                <a:latin typeface="+mn-lt"/>
              </a:rPr>
              <a:t> (топология зашифрована в виде текстовой строки)</a:t>
            </a:r>
          </a:p>
        </p:txBody>
      </p:sp>
      <p:pic>
        <p:nvPicPr>
          <p:cNvPr id="7" name="Picture 7" descr="mepindololClean3D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529" y="3351633"/>
            <a:ext cx="3559495" cy="3506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mepindololClean2D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1" t="-249"/>
          <a:stretch>
            <a:fillRect/>
          </a:stretch>
        </p:blipFill>
        <p:spPr bwMode="auto">
          <a:xfrm>
            <a:off x="-96810" y="3088519"/>
            <a:ext cx="3673337" cy="3506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48469" y="2313073"/>
            <a:ext cx="48397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ru-RU" sz="2000" i="0" dirty="0">
                <a:solidFill>
                  <a:schemeClr val="accent1"/>
                </a:solidFill>
                <a:latin typeface="Consolas" panose="020B0609020204030204" pitchFamily="49" charset="0"/>
              </a:rPr>
              <a:t>CC(C)NCC(O)COC1=C2C=C(C)NC2=CC=C1</a:t>
            </a: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2695868" y="4652964"/>
            <a:ext cx="647700" cy="288925"/>
          </a:xfrm>
          <a:prstGeom prst="leftRightArrow">
            <a:avLst>
              <a:gd name="adj1" fmla="val 50000"/>
              <a:gd name="adj2" fmla="val 448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 rot="18713638">
            <a:off x="1865171" y="3046739"/>
            <a:ext cx="647700" cy="288925"/>
          </a:xfrm>
          <a:prstGeom prst="leftRightArrow">
            <a:avLst>
              <a:gd name="adj1" fmla="val 50000"/>
              <a:gd name="adj2" fmla="val 448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 rot="2914580">
            <a:off x="3463361" y="3048544"/>
            <a:ext cx="647700" cy="288925"/>
          </a:xfrm>
          <a:prstGeom prst="leftRightArrow">
            <a:avLst>
              <a:gd name="adj1" fmla="val 50000"/>
              <a:gd name="adj2" fmla="val 448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5519936" y="2205039"/>
            <a:ext cx="5832324" cy="333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i="0" dirty="0">
                <a:latin typeface="+mn-lt"/>
              </a:rPr>
              <a:t>1</a:t>
            </a:r>
            <a:r>
              <a:rPr lang="en-US" altLang="ru-RU" sz="1600" i="0" dirty="0">
                <a:latin typeface="+mn-lt"/>
              </a:rPr>
              <a:t>D-</a:t>
            </a:r>
            <a:r>
              <a:rPr lang="ru-RU" altLang="ru-RU" sz="1600" i="0" dirty="0">
                <a:latin typeface="+mn-lt"/>
              </a:rPr>
              <a:t>форма удобна при построении запросов к базе, позволяет с легкостью искать молекулы, содержащие заданную подструктуру или близкую к ней.</a:t>
            </a:r>
          </a:p>
          <a:p>
            <a:pPr eaLnBrk="1" hangingPunct="1">
              <a:spcBef>
                <a:spcPct val="50000"/>
              </a:spcBef>
            </a:pPr>
            <a:r>
              <a:rPr lang="ru-RU" altLang="ru-RU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«Языки» для </a:t>
            </a:r>
            <a:r>
              <a:rPr lang="en-US" altLang="ru-RU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1D-</a:t>
            </a:r>
            <a:r>
              <a:rPr lang="ru-RU" altLang="ru-RU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представлений:</a:t>
            </a:r>
          </a:p>
          <a:p>
            <a:pPr marL="273050" indent="-2730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ru-RU" sz="1600" i="0" dirty="0">
                <a:latin typeface="+mn-lt"/>
              </a:rPr>
              <a:t>SMILES</a:t>
            </a:r>
          </a:p>
          <a:p>
            <a:pPr marL="273050" indent="-2730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ru-RU" sz="1600" i="0" dirty="0">
                <a:latin typeface="+mn-lt"/>
              </a:rPr>
              <a:t>SMARTS</a:t>
            </a:r>
            <a:r>
              <a:rPr lang="ru-RU" altLang="ru-RU" sz="1600" i="0" dirty="0">
                <a:latin typeface="+mn-lt"/>
              </a:rPr>
              <a:t>: сложные запросы, например, адресовать атомы типа – «углерод, но не амидный»</a:t>
            </a:r>
          </a:p>
          <a:p>
            <a:pPr marL="273050" indent="-2730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ru-RU" sz="1600" i="0" dirty="0">
                <a:latin typeface="+mn-lt"/>
              </a:rPr>
              <a:t>SLN (</a:t>
            </a:r>
            <a:r>
              <a:rPr lang="en-US" altLang="ru-RU" sz="1600" i="0" dirty="0" err="1">
                <a:latin typeface="+mn-lt"/>
              </a:rPr>
              <a:t>Sybyl</a:t>
            </a:r>
            <a:r>
              <a:rPr lang="en-US" altLang="ru-RU" sz="1600" i="0" dirty="0">
                <a:latin typeface="+mn-lt"/>
              </a:rPr>
              <a:t> Line Notation)</a:t>
            </a:r>
            <a:r>
              <a:rPr lang="ru-RU" altLang="ru-RU" sz="1600" i="0" dirty="0">
                <a:latin typeface="+mn-lt"/>
              </a:rPr>
              <a:t>: гибкие запросы, адресация молекулярных фрагментов, </a:t>
            </a:r>
            <a:r>
              <a:rPr lang="ru-RU" altLang="ru-RU" sz="1600" i="0" dirty="0" err="1">
                <a:latin typeface="+mn-lt"/>
              </a:rPr>
              <a:t>макроатомов</a:t>
            </a:r>
            <a:r>
              <a:rPr lang="ru-RU" altLang="ru-RU" sz="1600" i="0" dirty="0">
                <a:latin typeface="+mn-lt"/>
              </a:rPr>
              <a:t>, </a:t>
            </a:r>
            <a:r>
              <a:rPr lang="en-US" altLang="ru-RU" sz="1600" i="0" dirty="0">
                <a:latin typeface="+mn-lt"/>
              </a:rPr>
              <a:t>R- </a:t>
            </a:r>
            <a:r>
              <a:rPr lang="ru-RU" altLang="ru-RU" sz="1600" i="0" dirty="0">
                <a:latin typeface="+mn-lt"/>
              </a:rPr>
              <a:t>и </a:t>
            </a:r>
            <a:r>
              <a:rPr lang="en-US" altLang="ru-RU" sz="1600" i="0" dirty="0">
                <a:latin typeface="+mn-lt"/>
              </a:rPr>
              <a:t>X-</a:t>
            </a:r>
            <a:r>
              <a:rPr lang="ru-RU" altLang="ru-RU" sz="1600" i="0" dirty="0">
                <a:latin typeface="+mn-lt"/>
              </a:rPr>
              <a:t>групп. Поддерживает логические операции, свойства атомов и т.д.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519936" y="5993895"/>
            <a:ext cx="38163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400" i="0" dirty="0">
                <a:latin typeface="+mj-lt"/>
              </a:rPr>
              <a:t>Существует механизм конформационного поиска в </a:t>
            </a:r>
            <a:r>
              <a:rPr lang="en-US" altLang="ru-RU" sz="1400" i="0" dirty="0">
                <a:latin typeface="+mj-lt"/>
              </a:rPr>
              <a:t>1D/2D</a:t>
            </a:r>
            <a:r>
              <a:rPr lang="ru-RU" altLang="ru-RU" sz="1400" i="0" dirty="0">
                <a:latin typeface="+mj-lt"/>
              </a:rPr>
              <a:t> базах: поиск соответствия </a:t>
            </a:r>
            <a:r>
              <a:rPr lang="en-US" altLang="ru-RU" sz="1400" i="0" dirty="0">
                <a:latin typeface="+mj-lt"/>
              </a:rPr>
              <a:t>3D-</a:t>
            </a:r>
            <a:r>
              <a:rPr lang="ru-RU" altLang="ru-RU" sz="1400" i="0" dirty="0" err="1">
                <a:latin typeface="+mj-lt"/>
              </a:rPr>
              <a:t>фармакофорам</a:t>
            </a:r>
            <a:r>
              <a:rPr lang="ru-RU" altLang="ru-RU" sz="1400" i="0" dirty="0">
                <a:latin typeface="+mj-lt"/>
              </a:rPr>
              <a:t> (</a:t>
            </a:r>
            <a:r>
              <a:rPr lang="en-US" altLang="ru-RU" sz="1400" i="0" dirty="0">
                <a:latin typeface="+mj-lt"/>
              </a:rPr>
              <a:t>TRIPOS UNITY</a:t>
            </a:r>
            <a:r>
              <a:rPr lang="ru-RU" altLang="ru-RU" sz="1400" i="0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915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dock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7" y="957704"/>
            <a:ext cx="9941415" cy="5612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424167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In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silico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сканирование: молекулярный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докинг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11" name="Rectangle 5"/>
          <p:cNvSpPr txBox="1">
            <a:spLocks noChangeArrowheads="1"/>
          </p:cNvSpPr>
          <p:nvPr/>
        </p:nvSpPr>
        <p:spPr bwMode="auto">
          <a:xfrm>
            <a:off x="3791744" y="841336"/>
            <a:ext cx="5183807" cy="1579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ru-RU" altLang="ru-RU" sz="2400" dirty="0" err="1"/>
              <a:t>Докингом</a:t>
            </a:r>
            <a:r>
              <a:rPr lang="ru-RU" altLang="ru-RU" sz="2400" dirty="0"/>
              <a:t> называется компьютерное моделирование взаимодействия </a:t>
            </a:r>
            <a:r>
              <a:rPr lang="ru-RU" altLang="ru-RU" sz="2400" dirty="0" err="1"/>
              <a:t>лиганда</a:t>
            </a:r>
            <a:r>
              <a:rPr lang="ru-RU" altLang="ru-RU" sz="2400" dirty="0"/>
              <a:t> с белком:</a:t>
            </a:r>
          </a:p>
        </p:txBody>
      </p:sp>
    </p:spTree>
    <p:extLst>
      <p:ext uri="{BB962C8B-B14F-4D97-AF65-F5344CB8AC3E}">
        <p14:creationId xmlns:p14="http://schemas.microsoft.com/office/powerpoint/2010/main" val="6447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http://www.pnas.org/content/pnas/113/30/E4286/F1.large.jpg?width=800&amp;height=600&amp;carouse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872601"/>
            <a:ext cx="10067427" cy="598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424167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Вариант: белок-белковый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докинг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 rot="16200000">
            <a:off x="-942461" y="5477974"/>
            <a:ext cx="25138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+mj-lt"/>
              </a:rPr>
              <a:t>Padhorny</a:t>
            </a:r>
            <a:r>
              <a:rPr lang="en-US" sz="1000" dirty="0">
                <a:latin typeface="+mj-lt"/>
              </a:rPr>
              <a:t> </a:t>
            </a:r>
            <a:r>
              <a:rPr lang="en-US" sz="1000" i="1" dirty="0">
                <a:latin typeface="+mj-lt"/>
              </a:rPr>
              <a:t>et al.</a:t>
            </a:r>
            <a:r>
              <a:rPr lang="en-US" sz="1000" dirty="0">
                <a:latin typeface="+mj-lt"/>
              </a:rPr>
              <a:t> (2016). </a:t>
            </a:r>
            <a:r>
              <a:rPr lang="en-US" sz="1000" i="1" dirty="0">
                <a:latin typeface="+mj-lt"/>
                <a:hlinkClick r:id="rId3"/>
              </a:rPr>
              <a:t>PNAS</a:t>
            </a:r>
            <a:r>
              <a:rPr lang="en-US" sz="1000" dirty="0">
                <a:latin typeface="+mj-lt"/>
                <a:hlinkClick r:id="rId3"/>
              </a:rPr>
              <a:t> </a:t>
            </a:r>
            <a:r>
              <a:rPr lang="en-US" sz="1000" b="1" dirty="0">
                <a:latin typeface="+mj-lt"/>
                <a:hlinkClick r:id="rId3"/>
              </a:rPr>
              <a:t>113</a:t>
            </a:r>
            <a:r>
              <a:rPr lang="en-US" sz="1000" dirty="0">
                <a:latin typeface="+mj-lt"/>
                <a:hlinkClick r:id="rId3"/>
              </a:rPr>
              <a:t>, E4286</a:t>
            </a:r>
            <a:endParaRPr lang="ru-RU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448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62497" y="287339"/>
            <a:ext cx="1050205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In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silico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сканирование: оценка энергий в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докинге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551384" y="1303002"/>
            <a:ext cx="8229600" cy="539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ru-RU" sz="2800" dirty="0"/>
              <a:t>Назначение оценочной функции </a:t>
            </a:r>
            <a:r>
              <a:rPr lang="ru-RU" sz="2800" dirty="0" err="1"/>
              <a:t>докинга</a:t>
            </a:r>
            <a:r>
              <a:rPr lang="ru-RU" sz="2800" dirty="0"/>
              <a:t> – приближать свободную энергию связывания </a:t>
            </a:r>
            <a:r>
              <a:rPr lang="ru-RU" sz="2800" dirty="0" err="1"/>
              <a:t>лиганда</a:t>
            </a:r>
            <a:r>
              <a:rPr lang="ru-RU" sz="2800" dirty="0"/>
              <a:t> (</a:t>
            </a:r>
            <a:r>
              <a:rPr lang="el-GR" sz="2800" dirty="0"/>
              <a:t>Δ</a:t>
            </a:r>
            <a:r>
              <a:rPr lang="en-US" sz="2800" dirty="0"/>
              <a:t>G</a:t>
            </a:r>
            <a:r>
              <a:rPr lang="ru-RU" sz="2800" dirty="0"/>
              <a:t>)</a:t>
            </a:r>
          </a:p>
          <a:p>
            <a:pPr marL="0" indent="0" eaLnBrk="1" hangingPunct="1">
              <a:buNone/>
              <a:defRPr/>
            </a:pPr>
            <a:endParaRPr lang="ru-RU" sz="2000" dirty="0"/>
          </a:p>
          <a:p>
            <a:pPr marL="0" indent="0" eaLnBrk="1" hangingPunct="1">
              <a:buNone/>
              <a:defRPr/>
            </a:pPr>
            <a:r>
              <a:rPr lang="ru-RU" sz="2400" dirty="0"/>
              <a:t>Строгие методы расчета </a:t>
            </a:r>
            <a:r>
              <a:rPr lang="el-GR" sz="2400" dirty="0"/>
              <a:t>Δ</a:t>
            </a:r>
            <a:r>
              <a:rPr lang="en-US" sz="2400" dirty="0"/>
              <a:t>G</a:t>
            </a:r>
            <a:r>
              <a:rPr lang="ru-RU" sz="2400" dirty="0"/>
              <a:t>:</a:t>
            </a:r>
          </a:p>
          <a:p>
            <a:pPr marL="355600" indent="-355600" eaLnBrk="1" hangingPunct="1">
              <a:buFont typeface="Wingdings" pitchFamily="2" charset="2"/>
              <a:buChar char="§"/>
              <a:defRPr/>
            </a:pPr>
            <a:r>
              <a:rPr lang="en-US" sz="2200" dirty="0"/>
              <a:t>FEP (Free Energy Perturbation)</a:t>
            </a:r>
          </a:p>
          <a:p>
            <a:pPr marL="355600" indent="-355600" eaLnBrk="1" hangingPunct="1">
              <a:buFont typeface="Wingdings" pitchFamily="2" charset="2"/>
              <a:buChar char="§"/>
              <a:defRPr/>
            </a:pPr>
            <a:r>
              <a:rPr lang="en-US" sz="2200" dirty="0"/>
              <a:t>TI (Thermodynamic Integration)</a:t>
            </a:r>
            <a:endParaRPr lang="ru-RU" sz="2200" dirty="0"/>
          </a:p>
          <a:p>
            <a:pPr marL="355600" indent="-355600" eaLnBrk="1" hangingPunct="1">
              <a:buFont typeface="Wingdings" pitchFamily="2" charset="2"/>
              <a:buChar char="§"/>
              <a:defRPr/>
            </a:pPr>
            <a:endParaRPr lang="en-US" sz="2200" dirty="0"/>
          </a:p>
          <a:p>
            <a:pPr marL="0" indent="0" eaLnBrk="1" hangingPunct="1">
              <a:buNone/>
              <a:defRPr/>
            </a:pPr>
            <a:r>
              <a:rPr lang="ru-RU" sz="2400" dirty="0"/>
              <a:t>В </a:t>
            </a:r>
            <a:r>
              <a:rPr lang="ru-RU" sz="2400" dirty="0" err="1"/>
              <a:t>докинге</a:t>
            </a:r>
            <a:r>
              <a:rPr lang="ru-RU" sz="2400" dirty="0"/>
              <a:t> используются функции, основывающиеся на:</a:t>
            </a:r>
          </a:p>
          <a:p>
            <a:pPr marL="355600" indent="-355600" eaLnBrk="1" hangingPunct="1">
              <a:buFont typeface="Wingdings" pitchFamily="2" charset="2"/>
              <a:buChar char="§"/>
              <a:defRPr/>
            </a:pPr>
            <a:r>
              <a:rPr lang="ru-RU" sz="2200" dirty="0"/>
              <a:t>Энергии силового поля (</a:t>
            </a:r>
            <a:r>
              <a:rPr lang="en-US" sz="2200" dirty="0"/>
              <a:t>DOCK, </a:t>
            </a:r>
            <a:r>
              <a:rPr lang="en-US" sz="2200" dirty="0" err="1"/>
              <a:t>AutoDock</a:t>
            </a:r>
            <a:r>
              <a:rPr lang="en-US" sz="2200" dirty="0"/>
              <a:t>, GOLD</a:t>
            </a:r>
            <a:r>
              <a:rPr lang="ru-RU" sz="2200" dirty="0"/>
              <a:t>)</a:t>
            </a:r>
            <a:endParaRPr lang="en-US" sz="2200" dirty="0"/>
          </a:p>
          <a:p>
            <a:pPr marL="355600" indent="-355600" eaLnBrk="1" hangingPunct="1">
              <a:buFont typeface="Wingdings" pitchFamily="2" charset="2"/>
              <a:buChar char="§"/>
              <a:defRPr/>
            </a:pPr>
            <a:r>
              <a:rPr lang="ru-RU" sz="2200" dirty="0"/>
              <a:t>Эмпирических данных (</a:t>
            </a:r>
            <a:r>
              <a:rPr lang="en-US" sz="2200" dirty="0"/>
              <a:t>LUDI, </a:t>
            </a:r>
            <a:r>
              <a:rPr lang="en-US" sz="2200" dirty="0" err="1"/>
              <a:t>FlexX</a:t>
            </a:r>
            <a:r>
              <a:rPr lang="en-US" sz="2200" dirty="0"/>
              <a:t>, Glide, </a:t>
            </a:r>
            <a:r>
              <a:rPr lang="en-US" sz="2200" dirty="0" err="1"/>
              <a:t>LigScore</a:t>
            </a:r>
            <a:r>
              <a:rPr lang="ru-RU" sz="2200" dirty="0"/>
              <a:t>)</a:t>
            </a:r>
          </a:p>
        </p:txBody>
      </p:sp>
      <p:pic>
        <p:nvPicPr>
          <p:cNvPr id="42004" name="Picture 20" descr="https://301-1.ru/important-memes/img/2016_10_24_09_10_31_65e0eac413b4128f86620419f3f896a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1" y="980728"/>
            <a:ext cx="7349856" cy="56198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18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1384" y="287339"/>
            <a:ext cx="849617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In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silico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сканирование: пример оценивающей функции программы DOCK</a:t>
            </a:r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119461"/>
              </p:ext>
            </p:extLst>
          </p:nvPr>
        </p:nvGraphicFramePr>
        <p:xfrm>
          <a:off x="983432" y="1773238"/>
          <a:ext cx="8424862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3724224" imgH="457149" progId="Equation.3">
                  <p:embed/>
                </p:oleObj>
              </mc:Choice>
              <mc:Fallback>
                <p:oleObj name="Формула" r:id="rId2" imgW="3724224" imgH="457149" progId="Equation.3">
                  <p:embed/>
                  <p:pic>
                    <p:nvPicPr>
                      <p:cNvPr id="133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1773238"/>
                        <a:ext cx="8424862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983432" y="3141664"/>
            <a:ext cx="8424862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400" i="0" dirty="0">
                <a:latin typeface="+mn-lt"/>
              </a:rPr>
              <a:t>Основана на поле </a:t>
            </a:r>
            <a:r>
              <a:rPr lang="en-US" altLang="ru-RU" sz="2400" i="0" dirty="0">
                <a:latin typeface="+mn-lt"/>
              </a:rPr>
              <a:t>Amber (</a:t>
            </a:r>
            <a:r>
              <a:rPr lang="ru-RU" altLang="ru-RU" sz="2400" i="0" dirty="0">
                <a:latin typeface="+mn-lt"/>
              </a:rPr>
              <a:t>заряды для атомов белка из </a:t>
            </a:r>
            <a:r>
              <a:rPr lang="en-US" altLang="ru-RU" sz="2400" i="0" dirty="0">
                <a:latin typeface="+mn-lt"/>
              </a:rPr>
              <a:t>Amber</a:t>
            </a:r>
            <a:r>
              <a:rPr lang="ru-RU" altLang="ru-RU" sz="2400" i="0" dirty="0">
                <a:latin typeface="+mn-lt"/>
              </a:rPr>
              <a:t>, для </a:t>
            </a:r>
            <a:r>
              <a:rPr lang="ru-RU" altLang="ru-RU" sz="2400" i="0" dirty="0" err="1">
                <a:latin typeface="+mn-lt"/>
              </a:rPr>
              <a:t>лиганда</a:t>
            </a:r>
            <a:r>
              <a:rPr lang="ru-RU" altLang="ru-RU" sz="2400" i="0" dirty="0">
                <a:latin typeface="+mn-lt"/>
              </a:rPr>
              <a:t> – из расчета </a:t>
            </a:r>
            <a:r>
              <a:rPr lang="ru-RU" altLang="ru-RU" sz="2400" i="0" dirty="0" err="1">
                <a:latin typeface="+mn-lt"/>
              </a:rPr>
              <a:t>Гастигера</a:t>
            </a:r>
            <a:r>
              <a:rPr lang="en-US" altLang="ru-RU" sz="2400" i="0" dirty="0">
                <a:latin typeface="+mn-lt"/>
              </a:rPr>
              <a:t>)</a:t>
            </a:r>
            <a:endParaRPr lang="ru-RU" altLang="ru-RU" sz="2400" i="0" dirty="0">
              <a:latin typeface="+mn-lt"/>
            </a:endParaRP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2000" i="0" dirty="0">
                <a:latin typeface="+mn-lt"/>
              </a:rPr>
              <a:t>Диэлектрические параметры зависят от расстояния </a:t>
            </a:r>
            <a:r>
              <a:rPr lang="en-US" altLang="ru-RU" sz="2000" i="0" dirty="0">
                <a:latin typeface="+mn-lt"/>
              </a:rPr>
              <a:t>D=4</a:t>
            </a:r>
            <a:r>
              <a:rPr lang="el-GR" altLang="ru-RU" sz="2000" i="0" dirty="0">
                <a:latin typeface="+mn-lt"/>
              </a:rPr>
              <a:t>ε</a:t>
            </a:r>
            <a:r>
              <a:rPr lang="en-US" altLang="ru-RU" sz="2000" i="0" dirty="0" err="1">
                <a:latin typeface="+mn-lt"/>
              </a:rPr>
              <a:t>r</a:t>
            </a:r>
            <a:r>
              <a:rPr lang="en-US" altLang="ru-RU" sz="2000" i="0" baseline="-25000" dirty="0" err="1">
                <a:latin typeface="+mn-lt"/>
              </a:rPr>
              <a:t>ij</a:t>
            </a:r>
            <a:endParaRPr lang="en-US" altLang="ru-RU" sz="2000" i="0" baseline="-25000" dirty="0">
              <a:latin typeface="+mn-lt"/>
            </a:endParaRP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2000" i="0" dirty="0">
                <a:latin typeface="+mn-lt"/>
              </a:rPr>
              <a:t>Не учитываются </a:t>
            </a:r>
            <a:r>
              <a:rPr lang="ru-RU" altLang="ru-RU" sz="2000" i="0" dirty="0" err="1">
                <a:latin typeface="+mn-lt"/>
              </a:rPr>
              <a:t>энтропийные</a:t>
            </a:r>
            <a:r>
              <a:rPr lang="ru-RU" altLang="ru-RU" sz="2000" i="0" dirty="0">
                <a:latin typeface="+mn-lt"/>
              </a:rPr>
              <a:t> эффекты</a:t>
            </a: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2000" i="0" dirty="0">
                <a:latin typeface="+mn-lt"/>
              </a:rPr>
              <a:t>Не учитывается влияние растворителя</a:t>
            </a:r>
          </a:p>
        </p:txBody>
      </p:sp>
    </p:spTree>
    <p:extLst>
      <p:ext uri="{BB962C8B-B14F-4D97-AF65-F5344CB8AC3E}">
        <p14:creationId xmlns:p14="http://schemas.microsoft.com/office/powerpoint/2010/main" val="4146419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49617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In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silico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сканирование: ПО для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докинга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graphicFrame>
        <p:nvGraphicFramePr>
          <p:cNvPr id="9" name="Group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46846"/>
              </p:ext>
            </p:extLst>
          </p:nvPr>
        </p:nvGraphicFramePr>
        <p:xfrm>
          <a:off x="1055440" y="1036638"/>
          <a:ext cx="9577064" cy="3122612"/>
        </p:xfrm>
        <a:graphic>
          <a:graphicData uri="http://schemas.openxmlformats.org/drawingml/2006/table">
            <a:tbl>
              <a:tblPr/>
              <a:tblGrid>
                <a:gridCol w="1423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8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4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4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Программа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Оценка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Подвижность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Метод поиска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DOCK</a:t>
                      </a:r>
                    </a:p>
                  </a:txBody>
                  <a:tcPr marL="90009" marR="90009" marT="46815" marB="468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Силовое поле (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Amber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), контактная функция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Торсионные углы, поэтапная надстройка лиганда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Комбинаторный, эвристический, локальная минимизация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7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FlexX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F-score (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эмп.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)</a:t>
                      </a: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Торсионные углы, конформации колец, поэтапная надстройка лиганда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Комбинаторный, поиск по дереву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GOLD</a:t>
                      </a:r>
                    </a:p>
                  </a:txBody>
                  <a:tcPr marL="90009" marR="90009" marT="46815" marB="468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Gold-score (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силовое поле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)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,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ChemScore (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эмп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.)</a:t>
                      </a: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Торсионные углы, флип-флоп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Генетический алгоритм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5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Glide</a:t>
                      </a:r>
                    </a:p>
                  </a:txBody>
                  <a:tcPr marL="90009" marR="90009" marT="46815" marB="468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Силовое поле (модиф.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OPLS-AA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),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ChemScore (</a:t>
                      </a: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эмп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.)</a:t>
                      </a: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Торсионные углы, доскональный перебор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Систематический поиск, иерархическая фильтрация, локальная минимизация и МК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90009" marR="90009" marT="46815" marB="46815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Box 95"/>
          <p:cNvSpPr txBox="1">
            <a:spLocks noChangeArrowheads="1"/>
          </p:cNvSpPr>
          <p:nvPr/>
        </p:nvSpPr>
        <p:spPr bwMode="auto">
          <a:xfrm>
            <a:off x="1127448" y="4292601"/>
            <a:ext cx="8207375" cy="169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Недостатки метода докинга:</a:t>
            </a:r>
          </a:p>
          <a:p>
            <a:pPr>
              <a:defRPr/>
            </a:pPr>
            <a:endParaRPr lang="en-US" sz="100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  <a:p>
            <a:pPr marL="177800" indent="-177800">
              <a:buFont typeface="Wingdings" pitchFamily="2" charset="2"/>
              <a:buChar char="§"/>
              <a:defRPr/>
            </a:pPr>
            <a:r>
              <a:rPr lang="ru-RU" i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Неточная оценка энергий связывания</a:t>
            </a:r>
          </a:p>
          <a:p>
            <a:pPr marL="177800" indent="-177800">
              <a:buFont typeface="Wingdings" pitchFamily="2" charset="2"/>
              <a:buChar char="§"/>
              <a:defRPr/>
            </a:pPr>
            <a:r>
              <a:rPr lang="ru-RU" i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Отсутствие учета </a:t>
            </a:r>
            <a:r>
              <a:rPr lang="ru-RU" i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конформационной</a:t>
            </a:r>
            <a:r>
              <a:rPr lang="ru-RU" i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 подвижности белка</a:t>
            </a:r>
          </a:p>
          <a:p>
            <a:pPr>
              <a:spcBef>
                <a:spcPct val="50000"/>
              </a:spcBef>
              <a:defRPr/>
            </a:pP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074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496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Использования виртуального сканирования</a:t>
            </a:r>
            <a:b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</a:br>
            <a:r>
              <a:rPr lang="ru-RU" sz="2000" i="0" dirty="0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в случае неизвестной структуры белка</a:t>
            </a:r>
          </a:p>
        </p:txBody>
      </p:sp>
      <p:pic>
        <p:nvPicPr>
          <p:cNvPr id="6" name="Picture 6" descr="lbd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262064"/>
            <a:ext cx="8299732" cy="5407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9192344" y="1196975"/>
            <a:ext cx="2664296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i="0" dirty="0">
                <a:solidFill>
                  <a:srgbClr val="FF0000"/>
                </a:solidFill>
                <a:latin typeface="+mj-lt"/>
              </a:rPr>
              <a:t>Лекарство для сердечно-сосудистой сферы</a:t>
            </a:r>
            <a:endParaRPr lang="en-US" altLang="ru-RU" sz="1600" i="0" dirty="0">
              <a:solidFill>
                <a:srgbClr val="FF0000"/>
              </a:solidFill>
              <a:latin typeface="+mj-lt"/>
            </a:endParaRPr>
          </a:p>
          <a:p>
            <a:pPr marL="171450" indent="-1714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/>
              <a:t>циклический пептид </a:t>
            </a:r>
            <a:br>
              <a:rPr lang="ru-RU" altLang="ru-RU" sz="1200" i="0" dirty="0"/>
            </a:br>
            <a:r>
              <a:rPr lang="ru-RU" altLang="ru-RU" sz="1200" i="0" dirty="0" err="1"/>
              <a:t>уротензин</a:t>
            </a:r>
            <a:r>
              <a:rPr lang="ru-RU" altLang="ru-RU" sz="1200" i="0" dirty="0"/>
              <a:t>-II — сильное сосудосуживающее вещество</a:t>
            </a:r>
          </a:p>
          <a:p>
            <a:pPr marL="171450" indent="-1714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/>
              <a:t>Определение его </a:t>
            </a:r>
            <a:r>
              <a:rPr lang="en-US" altLang="ru-RU" sz="1200" i="0" dirty="0"/>
              <a:t>3D-</a:t>
            </a:r>
            <a:r>
              <a:rPr lang="ru-RU" altLang="ru-RU" sz="1200" i="0" dirty="0"/>
              <a:t>структуры методом ЯМР </a:t>
            </a:r>
          </a:p>
          <a:p>
            <a:pPr marL="171450" indent="-1714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 err="1"/>
              <a:t>Фармакофор</a:t>
            </a:r>
            <a:r>
              <a:rPr lang="ru-RU" altLang="ru-RU" sz="1200" i="0" dirty="0"/>
              <a:t>: ТРП-ЛИЗ-ТИР</a:t>
            </a:r>
          </a:p>
          <a:p>
            <a:pPr marL="171450" indent="-1714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/>
              <a:t>Виртуальный скрининг: 418 «кандидатов», только одно соединение активно </a:t>
            </a:r>
            <a:r>
              <a:rPr lang="en-US" altLang="ru-RU" sz="1200" dirty="0"/>
              <a:t>in vitro</a:t>
            </a:r>
            <a:endParaRPr lang="ru-RU" altLang="ru-RU" sz="1200" dirty="0"/>
          </a:p>
          <a:p>
            <a:pPr marL="171450" indent="-171450"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200" i="0" dirty="0"/>
              <a:t>Профит!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53664" y="6316771"/>
            <a:ext cx="28844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ru-RU" sz="1000" i="0" dirty="0" err="1"/>
              <a:t>Flohr</a:t>
            </a:r>
            <a:r>
              <a:rPr lang="en-US" altLang="ru-RU" sz="1000" i="0" dirty="0"/>
              <a:t> </a:t>
            </a:r>
            <a:r>
              <a:rPr lang="en-US" altLang="ru-RU" sz="1000" dirty="0"/>
              <a:t>et al </a:t>
            </a:r>
            <a:r>
              <a:rPr lang="en-US" altLang="ru-RU" sz="1000" i="0" dirty="0"/>
              <a:t>(2002) </a:t>
            </a:r>
            <a:r>
              <a:rPr lang="en-US" altLang="ru-RU" sz="1000" dirty="0">
                <a:hlinkClick r:id="rId3"/>
              </a:rPr>
              <a:t>J. Med. Chem. </a:t>
            </a:r>
            <a:r>
              <a:rPr lang="en-US" altLang="ru-RU" sz="1000" b="1" i="0" dirty="0">
                <a:hlinkClick r:id="rId3"/>
              </a:rPr>
              <a:t>45</a:t>
            </a:r>
            <a:r>
              <a:rPr lang="en-US" altLang="ru-RU" sz="1000" i="0" dirty="0">
                <a:hlinkClick r:id="rId3"/>
              </a:rPr>
              <a:t>, 1799-1805.</a:t>
            </a:r>
            <a:endParaRPr lang="ru-RU" altLang="ru-RU" sz="1000" i="0" dirty="0"/>
          </a:p>
        </p:txBody>
      </p:sp>
    </p:spTree>
    <p:extLst>
      <p:ext uri="{BB962C8B-B14F-4D97-AF65-F5344CB8AC3E}">
        <p14:creationId xmlns:p14="http://schemas.microsoft.com/office/powerpoint/2010/main" val="278315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2276" y="287338"/>
            <a:ext cx="8496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Использования виртуального сканирования</a:t>
            </a:r>
            <a:b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</a:br>
            <a:r>
              <a:rPr lang="ru-RU" sz="2000" i="0" dirty="0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в случае известной структуры белка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992314" y="1484313"/>
            <a:ext cx="8351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ru-RU" altLang="ru-RU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574877" y="1268413"/>
            <a:ext cx="6913736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srgbClr val="FF0000"/>
                </a:solidFill>
                <a:latin typeface="+mj-lt"/>
              </a:rPr>
              <a:t>Антагонисты цинк-содержащей карбоангидразы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II</a:t>
            </a:r>
            <a:r>
              <a:rPr lang="ru-RU" dirty="0">
                <a:solidFill>
                  <a:srgbClr val="FF0000"/>
                </a:solidFill>
                <a:latin typeface="+mj-lt"/>
              </a:rPr>
              <a:t>: лекарства от глаукомы, язвы, диуретики</a:t>
            </a:r>
            <a:endParaRPr lang="en-US" dirty="0">
              <a:solidFill>
                <a:srgbClr val="FF0000"/>
              </a:solidFill>
              <a:latin typeface="+mj-lt"/>
            </a:endParaRPr>
          </a:p>
          <a:p>
            <a:pPr>
              <a:spcBef>
                <a:spcPct val="50000"/>
              </a:spcBef>
              <a:defRPr/>
            </a:pPr>
            <a:r>
              <a:rPr lang="ru-RU" dirty="0">
                <a:latin typeface="+mn-lt"/>
              </a:rPr>
              <a:t>Последовательные этапы скрининга. Контроль: в базу добавлено 35 известных антагонистов, чтобы «с водой не выплеснуть ребенка».</a:t>
            </a:r>
          </a:p>
          <a:p>
            <a:pPr marL="271463" indent="-271463">
              <a:spcBef>
                <a:spcPct val="50000"/>
              </a:spcBef>
              <a:buFontTx/>
              <a:buAutoNum type="arabicPeriod"/>
              <a:defRPr/>
            </a:pPr>
            <a:r>
              <a:rPr lang="ru-RU" dirty="0">
                <a:latin typeface="+mn-lt"/>
              </a:rPr>
              <a:t>90000 → 5800, </a:t>
            </a:r>
            <a:r>
              <a:rPr lang="en-US" dirty="0">
                <a:latin typeface="+mn-lt"/>
              </a:rPr>
              <a:t>2D</a:t>
            </a:r>
            <a:r>
              <a:rPr lang="ru-RU" dirty="0">
                <a:latin typeface="+mn-lt"/>
              </a:rPr>
              <a:t>-фильтр в </a:t>
            </a:r>
            <a:r>
              <a:rPr lang="en-US" dirty="0">
                <a:latin typeface="+mn-lt"/>
              </a:rPr>
              <a:t>UNITY </a:t>
            </a:r>
            <a:r>
              <a:rPr lang="ru-RU" dirty="0">
                <a:latin typeface="+mn-lt"/>
              </a:rPr>
              <a:t>на содержание цинк-координирующих групп</a:t>
            </a:r>
          </a:p>
          <a:p>
            <a:pPr marL="271463" indent="-271463">
              <a:spcBef>
                <a:spcPct val="50000"/>
              </a:spcBef>
              <a:buFontTx/>
              <a:buAutoNum type="arabicPeriod"/>
              <a:defRPr/>
            </a:pPr>
            <a:r>
              <a:rPr lang="ru-RU" dirty="0">
                <a:latin typeface="+mn-lt"/>
              </a:rPr>
              <a:t>5800 → 3314, </a:t>
            </a:r>
            <a:r>
              <a:rPr lang="en-US" dirty="0">
                <a:latin typeface="+mn-lt"/>
              </a:rPr>
              <a:t>3D</a:t>
            </a:r>
            <a:r>
              <a:rPr lang="ru-RU" dirty="0">
                <a:latin typeface="+mn-lt"/>
              </a:rPr>
              <a:t>-</a:t>
            </a:r>
            <a:r>
              <a:rPr lang="ru-RU" dirty="0" err="1">
                <a:latin typeface="+mn-lt"/>
              </a:rPr>
              <a:t>фармакофорный</a:t>
            </a:r>
            <a:r>
              <a:rPr lang="ru-RU" dirty="0">
                <a:latin typeface="+mn-lt"/>
              </a:rPr>
              <a:t> запрос в </a:t>
            </a:r>
            <a:r>
              <a:rPr lang="en-US" dirty="0">
                <a:latin typeface="+mn-lt"/>
              </a:rPr>
              <a:t>UNITY </a:t>
            </a:r>
            <a:r>
              <a:rPr lang="ru-RU" dirty="0">
                <a:latin typeface="+mn-lt"/>
              </a:rPr>
              <a:t>с последующим ре-</a:t>
            </a:r>
            <a:r>
              <a:rPr lang="ru-RU" dirty="0" err="1">
                <a:latin typeface="+mn-lt"/>
              </a:rPr>
              <a:t>скорингом</a:t>
            </a:r>
            <a:r>
              <a:rPr lang="ru-RU" dirty="0">
                <a:latin typeface="+mn-lt"/>
              </a:rPr>
              <a:t> в </a:t>
            </a:r>
            <a:r>
              <a:rPr lang="en-US" dirty="0" err="1">
                <a:latin typeface="+mn-lt"/>
              </a:rPr>
              <a:t>FlexS</a:t>
            </a:r>
            <a:endParaRPr lang="en-US" dirty="0">
              <a:latin typeface="+mn-lt"/>
            </a:endParaRPr>
          </a:p>
          <a:p>
            <a:pPr marL="271463" indent="-271463">
              <a:spcBef>
                <a:spcPct val="50000"/>
              </a:spcBef>
              <a:buFontTx/>
              <a:buAutoNum type="arabicPeriod"/>
              <a:defRPr/>
            </a:pPr>
            <a:r>
              <a:rPr lang="ru-RU" dirty="0">
                <a:latin typeface="+mn-lt"/>
              </a:rPr>
              <a:t>Лучшие 100 вписали в 3</a:t>
            </a:r>
            <a:r>
              <a:rPr lang="en-US" dirty="0">
                <a:latin typeface="+mn-lt"/>
              </a:rPr>
              <a:t>D </a:t>
            </a:r>
            <a:r>
              <a:rPr lang="ru-RU" dirty="0">
                <a:latin typeface="+mn-lt"/>
              </a:rPr>
              <a:t>модель с помощью </a:t>
            </a:r>
            <a:r>
              <a:rPr lang="en-US" dirty="0" err="1">
                <a:latin typeface="+mn-lt"/>
              </a:rPr>
              <a:t>FlexX</a:t>
            </a:r>
            <a:endParaRPr lang="ru-RU" dirty="0">
              <a:latin typeface="+mn-lt"/>
            </a:endParaRPr>
          </a:p>
          <a:p>
            <a:pPr marL="271463" indent="-271463">
              <a:spcBef>
                <a:spcPct val="50000"/>
              </a:spcBef>
              <a:buFontTx/>
              <a:buAutoNum type="arabicPeriod"/>
              <a:defRPr/>
            </a:pPr>
            <a:r>
              <a:rPr lang="ru-RU" dirty="0">
                <a:latin typeface="+mn-lt"/>
              </a:rPr>
              <a:t>Среди лучших 13 соединений обнаружили 4 лиганда со сродством </a:t>
            </a:r>
            <a:r>
              <a:rPr lang="en-US" dirty="0">
                <a:latin typeface="+mn-lt"/>
              </a:rPr>
              <a:t>≤1 </a:t>
            </a:r>
            <a:r>
              <a:rPr lang="ru-RU" dirty="0" err="1">
                <a:latin typeface="+mn-lt"/>
              </a:rPr>
              <a:t>нМ</a:t>
            </a:r>
            <a:r>
              <a:rPr lang="ru-RU" dirty="0">
                <a:latin typeface="+mn-lt"/>
              </a:rPr>
              <a:t> и 6 </a:t>
            </a:r>
            <a:r>
              <a:rPr lang="en-US" dirty="0">
                <a:latin typeface="+mn-lt"/>
              </a:rPr>
              <a:t>~1 </a:t>
            </a:r>
            <a:r>
              <a:rPr lang="el-GR" dirty="0">
                <a:latin typeface="+mn-lt"/>
              </a:rPr>
              <a:t>μ</a:t>
            </a:r>
            <a:r>
              <a:rPr lang="ru-RU" dirty="0">
                <a:latin typeface="+mn-lt"/>
              </a:rPr>
              <a:t>М.</a:t>
            </a:r>
          </a:p>
          <a:p>
            <a:pPr>
              <a:spcBef>
                <a:spcPct val="50000"/>
              </a:spcBef>
              <a:defRPr/>
            </a:pPr>
            <a:endParaRPr lang="ru-RU" dirty="0">
              <a:latin typeface="+mn-lt"/>
            </a:endParaRPr>
          </a:p>
          <a:p>
            <a:pPr>
              <a:spcBef>
                <a:spcPct val="50000"/>
              </a:spcBef>
              <a:defRPr/>
            </a:pPr>
            <a:r>
              <a:rPr lang="ru-RU" dirty="0">
                <a:latin typeface="+mn-lt"/>
              </a:rPr>
              <a:t>Многие из обнаруженных ингибиторов не попадают под действие ни одного из патентов.</a:t>
            </a: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52" y="1196975"/>
            <a:ext cx="2879725" cy="2700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52" y="3933825"/>
            <a:ext cx="2879725" cy="2901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0"/>
          <p:cNvSpPr txBox="1">
            <a:spLocks noChangeArrowheads="1"/>
          </p:cNvSpPr>
          <p:nvPr/>
        </p:nvSpPr>
        <p:spPr bwMode="auto">
          <a:xfrm rot="16200000">
            <a:off x="-1196354" y="5153820"/>
            <a:ext cx="31638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000" i="0" dirty="0" err="1"/>
              <a:t>Gr</a:t>
            </a:r>
            <a:r>
              <a:rPr lang="en-US" altLang="ru-RU" sz="1000" i="0" dirty="0" err="1">
                <a:cs typeface="Arial" panose="020B0604020202020204" pitchFamily="34" charset="0"/>
              </a:rPr>
              <a:t>ü</a:t>
            </a:r>
            <a:r>
              <a:rPr lang="en-US" altLang="ru-RU" sz="1000" i="0" dirty="0" err="1"/>
              <a:t>neberg</a:t>
            </a:r>
            <a:r>
              <a:rPr lang="en-US" altLang="ru-RU" sz="1000" i="0" dirty="0"/>
              <a:t> </a:t>
            </a:r>
            <a:r>
              <a:rPr lang="en-US" altLang="ru-RU" sz="1000" dirty="0"/>
              <a:t>et al </a:t>
            </a:r>
            <a:r>
              <a:rPr lang="en-US" altLang="ru-RU" sz="1000" i="0" dirty="0"/>
              <a:t>(2002) </a:t>
            </a:r>
            <a:r>
              <a:rPr lang="en-US" altLang="ru-RU" sz="1000" dirty="0">
                <a:hlinkClick r:id="rId4"/>
              </a:rPr>
              <a:t>J. Med. Chem. </a:t>
            </a:r>
            <a:r>
              <a:rPr lang="en-US" altLang="ru-RU" sz="1000" b="1" i="0" dirty="0">
                <a:hlinkClick r:id="rId4"/>
              </a:rPr>
              <a:t>45</a:t>
            </a:r>
            <a:r>
              <a:rPr lang="en-US" altLang="ru-RU" sz="1000" i="0" dirty="0">
                <a:hlinkClick r:id="rId4"/>
              </a:rPr>
              <a:t>, 3588-3602</a:t>
            </a:r>
            <a:endParaRPr lang="ru-RU" altLang="ru-RU" sz="1000" i="0" dirty="0"/>
          </a:p>
        </p:txBody>
      </p:sp>
    </p:spTree>
    <p:extLst>
      <p:ext uri="{BB962C8B-B14F-4D97-AF65-F5344CB8AC3E}">
        <p14:creationId xmlns:p14="http://schemas.microsoft.com/office/powerpoint/2010/main" val="356166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http://www.pnas.org/content/pnas/111/14/E1334/F1.large.jpg?width=800&amp;height=600&amp;carousel=1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085"/>
          <a:stretch/>
        </p:blipFill>
        <p:spPr bwMode="auto">
          <a:xfrm>
            <a:off x="729156" y="1976085"/>
            <a:ext cx="9435768" cy="447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0" descr="domain_super_minimalistic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4084" y="1798399"/>
            <a:ext cx="6236012" cy="43740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496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Преодоление недостатков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докинга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</a:t>
            </a:r>
            <a:b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</a:br>
            <a:r>
              <a:rPr lang="ru-RU" sz="2000" i="0" dirty="0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I. Учет конформационной подвижности белка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94259" y="1268413"/>
            <a:ext cx="52562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400" i="0">
                <a:latin typeface="Arial Narrow" panose="020B0606020202030204" pitchFamily="34" charset="0"/>
              </a:rPr>
              <a:t>Молекулярная динамика нуклеотид-связывающего домена </a:t>
            </a:r>
            <a:r>
              <a:rPr lang="en-US" altLang="ru-RU" sz="1400" i="0">
                <a:latin typeface="Arial Narrow" panose="020B0606020202030204" pitchFamily="34" charset="0"/>
              </a:rPr>
              <a:t>Ca</a:t>
            </a:r>
            <a:r>
              <a:rPr lang="en-US" altLang="ru-RU" sz="1400" i="0" baseline="30000">
                <a:latin typeface="Arial Narrow" panose="020B0606020202030204" pitchFamily="34" charset="0"/>
              </a:rPr>
              <a:t>2+</a:t>
            </a:r>
            <a:r>
              <a:rPr lang="en-US" altLang="ru-RU" sz="1400" i="0">
                <a:latin typeface="Arial Narrow" panose="020B0606020202030204" pitchFamily="34" charset="0"/>
              </a:rPr>
              <a:t>-</a:t>
            </a:r>
            <a:r>
              <a:rPr lang="ru-RU" altLang="ru-RU" sz="1400" i="0">
                <a:latin typeface="Arial Narrow" panose="020B0606020202030204" pitchFamily="34" charset="0"/>
              </a:rPr>
              <a:t>АТФазы</a:t>
            </a:r>
            <a:r>
              <a:rPr lang="en-US" altLang="ru-RU" sz="1400" i="0">
                <a:latin typeface="Arial Narrow" panose="020B0606020202030204" pitchFamily="34" charset="0"/>
              </a:rPr>
              <a:t> (</a:t>
            </a:r>
            <a:r>
              <a:rPr lang="ru-RU" altLang="ru-RU" sz="1400" i="0">
                <a:latin typeface="Arial Narrow" panose="020B0606020202030204" pitchFamily="34" charset="0"/>
              </a:rPr>
              <a:t>апо-фермент</a:t>
            </a:r>
            <a:r>
              <a:rPr lang="en-US" altLang="ru-RU" sz="1400" i="0">
                <a:latin typeface="Arial Narrow" panose="020B0606020202030204" pitchFamily="34" charset="0"/>
              </a:rPr>
              <a:t>; PDBId: 1EUL)</a:t>
            </a:r>
            <a:r>
              <a:rPr lang="ru-RU" altLang="ru-RU" sz="1400" i="0">
                <a:latin typeface="Arial Narrow" panose="020B0606020202030204" pitchFamily="34" charset="0"/>
              </a:rPr>
              <a:t> в явно заданном растворителе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999310" y="2635251"/>
            <a:ext cx="566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i="0">
                <a:latin typeface="Arial Narrow" panose="020B0606020202030204" pitchFamily="34" charset="0"/>
              </a:rPr>
              <a:t>АТФ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3431110" y="2924175"/>
            <a:ext cx="71437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3629493" y="6196513"/>
            <a:ext cx="23342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i="0" dirty="0" err="1">
                <a:latin typeface="+mj-lt"/>
              </a:rPr>
              <a:t>Фосфорилируемый</a:t>
            </a:r>
            <a:r>
              <a:rPr lang="ru-RU" altLang="ru-RU" sz="1600" i="0" dirty="0">
                <a:latin typeface="+mj-lt"/>
              </a:rPr>
              <a:t> (</a:t>
            </a:r>
            <a:r>
              <a:rPr lang="en-US" altLang="ru-RU" sz="1600" i="0" dirty="0">
                <a:latin typeface="+mj-lt"/>
              </a:rPr>
              <a:t>P</a:t>
            </a:r>
            <a:r>
              <a:rPr lang="ru-RU" altLang="ru-RU" sz="1600" i="0" dirty="0">
                <a:latin typeface="+mj-lt"/>
              </a:rPr>
              <a:t>)</a:t>
            </a:r>
          </a:p>
          <a:p>
            <a:pPr eaLnBrk="1" hangingPunct="1"/>
            <a:r>
              <a:rPr lang="ru-RU" altLang="ru-RU" sz="1600" i="0" dirty="0">
                <a:latin typeface="+mj-lt"/>
              </a:rPr>
              <a:t>домен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713310" y="6228601"/>
            <a:ext cx="291618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i="0" dirty="0">
                <a:latin typeface="+mj-lt"/>
              </a:rPr>
              <a:t>Нуклеотид-связывающий (</a:t>
            </a:r>
            <a:r>
              <a:rPr lang="en-US" altLang="ru-RU" sz="1600" i="0" dirty="0">
                <a:latin typeface="+mj-lt"/>
              </a:rPr>
              <a:t>N</a:t>
            </a:r>
            <a:r>
              <a:rPr lang="ru-RU" altLang="ru-RU" sz="1600" i="0" dirty="0">
                <a:latin typeface="+mj-lt"/>
              </a:rPr>
              <a:t>)</a:t>
            </a:r>
          </a:p>
          <a:p>
            <a:pPr eaLnBrk="1" hangingPunct="1"/>
            <a:r>
              <a:rPr lang="ru-RU" altLang="ru-RU" sz="1600" i="0" dirty="0">
                <a:latin typeface="+mj-lt"/>
              </a:rPr>
              <a:t>домен</a:t>
            </a: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7104112" y="1916113"/>
            <a:ext cx="3816846" cy="2708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i="0" dirty="0">
                <a:latin typeface="Arial Narrow" pitchFamily="34" charset="0"/>
              </a:rPr>
              <a:t>При связывании лиганда:</a:t>
            </a:r>
          </a:p>
          <a:p>
            <a:pPr marL="177800" indent="-177800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600" dirty="0">
                <a:latin typeface="Arial Narrow" pitchFamily="34" charset="0"/>
              </a:rPr>
              <a:t>Азотистое основание АТФ связывается в </a:t>
            </a:r>
            <a:r>
              <a:rPr lang="en-US" sz="1600" dirty="0">
                <a:latin typeface="Arial Narrow" pitchFamily="34" charset="0"/>
              </a:rPr>
              <a:t>N-</a:t>
            </a:r>
            <a:r>
              <a:rPr lang="ru-RU" sz="1600" dirty="0">
                <a:latin typeface="Arial Narrow" pitchFamily="34" charset="0"/>
              </a:rPr>
              <a:t>домене;</a:t>
            </a:r>
          </a:p>
          <a:p>
            <a:pPr marL="177800" indent="-177800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600" dirty="0">
                <a:latin typeface="Arial Narrow" pitchFamily="34" charset="0"/>
              </a:rPr>
              <a:t>Доменные движения приводят </a:t>
            </a:r>
            <a:r>
              <a:rPr lang="el-GR" sz="1600" dirty="0">
                <a:latin typeface="Arial Narrow" pitchFamily="34" charset="0"/>
              </a:rPr>
              <a:t>γ</a:t>
            </a:r>
            <a:r>
              <a:rPr lang="ru-RU" sz="1600" dirty="0">
                <a:latin typeface="Arial Narrow" pitchFamily="34" charset="0"/>
              </a:rPr>
              <a:t>-</a:t>
            </a:r>
            <a:r>
              <a:rPr lang="ru-RU" sz="1600" dirty="0" err="1">
                <a:latin typeface="Arial Narrow" pitchFamily="34" charset="0"/>
              </a:rPr>
              <a:t>фосфогруппу</a:t>
            </a:r>
            <a:r>
              <a:rPr lang="ru-RU" sz="1600" dirty="0">
                <a:latin typeface="Arial Narrow" pitchFamily="34" charset="0"/>
              </a:rPr>
              <a:t> АТФ и каталитический сайт в </a:t>
            </a:r>
            <a:r>
              <a:rPr lang="en-US" sz="1600" dirty="0">
                <a:latin typeface="Arial Narrow" pitchFamily="34" charset="0"/>
              </a:rPr>
              <a:t>P</a:t>
            </a:r>
            <a:r>
              <a:rPr lang="ru-RU" sz="1600" dirty="0">
                <a:latin typeface="Arial Narrow" pitchFamily="34" charset="0"/>
              </a:rPr>
              <a:t>-домене в непосредственную близость;</a:t>
            </a:r>
          </a:p>
          <a:p>
            <a:pPr marL="177800" indent="-177800"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ru-RU" sz="1600" dirty="0">
                <a:latin typeface="Arial Narrow" pitchFamily="34" charset="0"/>
              </a:rPr>
              <a:t>Концевая </a:t>
            </a:r>
            <a:r>
              <a:rPr lang="ru-RU" sz="1600" dirty="0" err="1">
                <a:latin typeface="Arial Narrow" pitchFamily="34" charset="0"/>
              </a:rPr>
              <a:t>фосфогруппа</a:t>
            </a:r>
            <a:r>
              <a:rPr lang="ru-RU" sz="1600" dirty="0">
                <a:latin typeface="Arial Narrow" pitchFamily="34" charset="0"/>
              </a:rPr>
              <a:t> АТФ </a:t>
            </a:r>
            <a:r>
              <a:rPr lang="ru-RU" sz="1600" dirty="0" err="1">
                <a:latin typeface="Arial Narrow" pitchFamily="34" charset="0"/>
              </a:rPr>
              <a:t>заякоривается</a:t>
            </a:r>
            <a:r>
              <a:rPr lang="ru-RU" sz="1600" dirty="0">
                <a:latin typeface="Arial Narrow" pitchFamily="34" charset="0"/>
              </a:rPr>
              <a:t> на каталитический домен с помощью водородных связей.</a:t>
            </a:r>
            <a:endParaRPr lang="el-GR" sz="1600" dirty="0">
              <a:latin typeface="Arial Narrow" pitchFamily="34" charset="0"/>
            </a:endParaRP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1110185" y="1341438"/>
            <a:ext cx="31845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i="0" dirty="0">
                <a:latin typeface="Arial Narrow" panose="020B0606020202030204" pitchFamily="34" charset="0"/>
              </a:rPr>
              <a:t>Схема строения </a:t>
            </a:r>
            <a:r>
              <a:rPr lang="ru-RU" altLang="ru-RU" b="1" i="0" dirty="0" err="1">
                <a:latin typeface="Arial Narrow" panose="020B0606020202030204" pitchFamily="34" charset="0"/>
              </a:rPr>
              <a:t>АТФазы</a:t>
            </a:r>
            <a:r>
              <a:rPr lang="ru-RU" altLang="ru-RU" b="1" i="0" dirty="0">
                <a:latin typeface="Arial Narrow" panose="020B0606020202030204" pitchFamily="34" charset="0"/>
              </a:rPr>
              <a:t> </a:t>
            </a:r>
            <a:r>
              <a:rPr lang="en-US" altLang="ru-RU" b="1" i="0" dirty="0">
                <a:latin typeface="Arial Narrow" panose="020B0606020202030204" pitchFamily="34" charset="0"/>
              </a:rPr>
              <a:t>P</a:t>
            </a:r>
            <a:r>
              <a:rPr lang="ru-RU" altLang="ru-RU" b="1" i="0" dirty="0">
                <a:latin typeface="Arial Narrow" panose="020B0606020202030204" pitchFamily="34" charset="0"/>
              </a:rPr>
              <a:t>-типа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863183" y="1976086"/>
            <a:ext cx="2015852" cy="18129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25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604665" y="287338"/>
            <a:ext cx="8496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Преодоление недостатков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докинга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</a:t>
            </a:r>
            <a:b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</a:br>
            <a:r>
              <a:rPr lang="ru-RU" sz="2000" i="0" dirty="0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I. Учет конформационной подвижности белка</a:t>
            </a:r>
          </a:p>
        </p:txBody>
      </p:sp>
      <p:pic>
        <p:nvPicPr>
          <p:cNvPr id="10" name="Picture 17" descr="pyrkov_data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1" y="1989138"/>
            <a:ext cx="8273777" cy="289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655466" y="1484313"/>
            <a:ext cx="52084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i="0" dirty="0" err="1">
                <a:latin typeface="+mn-lt"/>
              </a:rPr>
              <a:t>Докинг</a:t>
            </a:r>
            <a:r>
              <a:rPr lang="ru-RU" altLang="ru-RU" i="0" dirty="0">
                <a:latin typeface="+mn-lt"/>
              </a:rPr>
              <a:t> АТФ в МД-</a:t>
            </a:r>
            <a:r>
              <a:rPr lang="ru-RU" altLang="ru-RU" i="0" dirty="0" err="1">
                <a:latin typeface="+mn-lt"/>
              </a:rPr>
              <a:t>конформеры</a:t>
            </a:r>
            <a:r>
              <a:rPr lang="ru-RU" altLang="ru-RU" i="0" dirty="0">
                <a:latin typeface="+mn-lt"/>
              </a:rPr>
              <a:t> </a:t>
            </a:r>
            <a:r>
              <a:rPr lang="en-US" altLang="ru-RU" i="0" dirty="0">
                <a:latin typeface="+mn-lt"/>
              </a:rPr>
              <a:t>Ca</a:t>
            </a:r>
            <a:r>
              <a:rPr lang="en-US" altLang="ru-RU" i="0" baseline="30000" dirty="0">
                <a:latin typeface="+mn-lt"/>
              </a:rPr>
              <a:t>2+</a:t>
            </a:r>
            <a:r>
              <a:rPr lang="en-US" altLang="ru-RU" i="0" dirty="0">
                <a:latin typeface="+mn-lt"/>
              </a:rPr>
              <a:t>-</a:t>
            </a:r>
            <a:r>
              <a:rPr lang="ru-RU" altLang="ru-RU" i="0" dirty="0" err="1">
                <a:latin typeface="+mn-lt"/>
              </a:rPr>
              <a:t>АТФазы</a:t>
            </a:r>
            <a:endParaRPr lang="ru-RU" altLang="ru-RU" i="0" dirty="0">
              <a:latin typeface="+mn-lt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8725024" y="1988840"/>
            <a:ext cx="179997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400" dirty="0">
                <a:latin typeface="+mj-lt"/>
              </a:rPr>
              <a:t>Корректное положение </a:t>
            </a:r>
            <a:r>
              <a:rPr lang="ru-RU" altLang="ru-RU" sz="1400" dirty="0" err="1">
                <a:latin typeface="+mj-lt"/>
              </a:rPr>
              <a:t>аденина</a:t>
            </a:r>
            <a:r>
              <a:rPr lang="ru-RU" altLang="ru-RU" sz="1400" dirty="0">
                <a:latin typeface="+mj-lt"/>
              </a:rPr>
              <a:t> (</a:t>
            </a:r>
            <a:r>
              <a:rPr lang="en-US" altLang="ru-RU" sz="1400" dirty="0">
                <a:latin typeface="+mj-lt"/>
              </a:rPr>
              <a:t>N-</a:t>
            </a:r>
            <a:r>
              <a:rPr lang="ru-RU" altLang="ru-RU" sz="1400" dirty="0">
                <a:latin typeface="+mj-lt"/>
              </a:rPr>
              <a:t>домен)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8725023" y="3284984"/>
            <a:ext cx="21955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400" dirty="0">
                <a:latin typeface="+mj-lt"/>
              </a:rPr>
              <a:t>Корректное положение </a:t>
            </a:r>
            <a:r>
              <a:rPr lang="ru-RU" altLang="ru-RU" sz="1400" dirty="0" err="1">
                <a:latin typeface="+mj-lt"/>
              </a:rPr>
              <a:t>фосфогрупп</a:t>
            </a:r>
            <a:r>
              <a:rPr lang="ru-RU" altLang="ru-RU" sz="1400" dirty="0">
                <a:latin typeface="+mj-lt"/>
              </a:rPr>
              <a:t> (</a:t>
            </a:r>
            <a:r>
              <a:rPr lang="en-US" altLang="ru-RU" sz="1400" dirty="0">
                <a:latin typeface="+mj-lt"/>
              </a:rPr>
              <a:t>P-</a:t>
            </a:r>
            <a:r>
              <a:rPr lang="ru-RU" altLang="ru-RU" sz="1400" dirty="0">
                <a:latin typeface="+mj-lt"/>
              </a:rPr>
              <a:t>домен)</a:t>
            </a: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5807843" y="4725144"/>
            <a:ext cx="1655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6600005" y="4725144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5591944" y="4941045"/>
            <a:ext cx="28796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dirty="0">
                <a:latin typeface="+mj-lt"/>
              </a:rPr>
              <a:t>Корректное положение АТФ получено только для </a:t>
            </a:r>
            <a:r>
              <a:rPr lang="ru-RU" altLang="ru-RU" sz="1600" dirty="0" err="1">
                <a:latin typeface="+mj-lt"/>
              </a:rPr>
              <a:t>конформеров</a:t>
            </a:r>
            <a:r>
              <a:rPr lang="ru-RU" altLang="ru-RU" sz="1600" dirty="0">
                <a:latin typeface="+mj-lt"/>
              </a:rPr>
              <a:t> 1300-1800 </a:t>
            </a:r>
            <a:r>
              <a:rPr lang="ru-RU" altLang="ru-RU" sz="1600" dirty="0" err="1">
                <a:latin typeface="+mj-lt"/>
              </a:rPr>
              <a:t>пс</a:t>
            </a:r>
            <a:endParaRPr lang="ru-RU" altLang="ru-RU" sz="1600" dirty="0">
              <a:latin typeface="+mj-lt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15741" y="5961474"/>
            <a:ext cx="1118085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Вывод:</a:t>
            </a:r>
            <a:r>
              <a:rPr lang="ru-RU" altLang="ru-RU" sz="2000" dirty="0">
                <a:latin typeface="+mn-lt"/>
              </a:rPr>
              <a:t> в некоторых случаях (особенно для белков с доменной организацией) корректный </a:t>
            </a:r>
            <a:r>
              <a:rPr lang="ru-RU" altLang="ru-RU" sz="2000" dirty="0" err="1">
                <a:latin typeface="+mn-lt"/>
              </a:rPr>
              <a:t>докинг</a:t>
            </a:r>
            <a:r>
              <a:rPr lang="ru-RU" altLang="ru-RU" sz="2000" dirty="0">
                <a:latin typeface="+mn-lt"/>
              </a:rPr>
              <a:t> может быть проведен только с учетом динамической подвижности мишени</a:t>
            </a:r>
          </a:p>
        </p:txBody>
      </p:sp>
    </p:spTree>
    <p:extLst>
      <p:ext uri="{BB962C8B-B14F-4D97-AF65-F5344CB8AC3E}">
        <p14:creationId xmlns:p14="http://schemas.microsoft.com/office/powerpoint/2010/main" val="198955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552599" y="287338"/>
            <a:ext cx="8496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Преодоление недостатков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докинга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</a:t>
            </a:r>
            <a:b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</a:br>
            <a:r>
              <a:rPr lang="ru-RU" sz="2000" i="0" dirty="0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II. Оптимизация оценочной функции (ОФ) </a:t>
            </a:r>
            <a:r>
              <a:rPr lang="ru-RU" sz="2000" i="0" dirty="0" err="1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докинга</a:t>
            </a:r>
            <a:endParaRPr lang="ru-RU" sz="2000" i="0" dirty="0">
              <a:solidFill>
                <a:schemeClr val="accent2">
                  <a:lumMod val="75000"/>
                </a:schemeClr>
              </a:solidFill>
              <a:latin typeface="+mj-lt"/>
              <a:cs typeface="+mn-cs"/>
            </a:endParaRPr>
          </a:p>
        </p:txBody>
      </p:sp>
      <p:pic>
        <p:nvPicPr>
          <p:cNvPr id="7" name="Picture 16" descr="mhp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784" y="2977376"/>
            <a:ext cx="4507035" cy="308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41486" y="1341438"/>
            <a:ext cx="10379050" cy="17700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000" dirty="0"/>
              <a:t>Невысокая точность ОФ </a:t>
            </a:r>
            <a:r>
              <a:rPr lang="ru-RU" altLang="ru-RU" sz="2000" dirty="0" err="1"/>
              <a:t>докинга</a:t>
            </a:r>
            <a:r>
              <a:rPr lang="ru-RU" altLang="ru-RU" sz="2000" dirty="0"/>
              <a:t> можно компенсировать дополнительными функциями-«фильтрами», например:</a:t>
            </a:r>
            <a:endParaRPr lang="ru-RU" altLang="ru-RU" sz="20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ru-RU" altLang="ru-RU" sz="2400" dirty="0">
                <a:solidFill>
                  <a:srgbClr val="FF0000"/>
                </a:solidFill>
                <a:latin typeface="+mj-lt"/>
              </a:rPr>
              <a:t>Критерий комплементарности молекулярного гидрофобного потенциала (МГП)</a:t>
            </a:r>
          </a:p>
        </p:txBody>
      </p:sp>
      <p:pic>
        <p:nvPicPr>
          <p:cNvPr id="10" name="Picture 5" descr="spectrum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544" y="3737754"/>
            <a:ext cx="1477743" cy="248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872846"/>
              </p:ext>
            </p:extLst>
          </p:nvPr>
        </p:nvGraphicFramePr>
        <p:xfrm>
          <a:off x="812079" y="5402014"/>
          <a:ext cx="1511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193760" imgH="431640" progId="Equation.3">
                  <p:embed/>
                </p:oleObj>
              </mc:Choice>
              <mc:Fallback>
                <p:oleObj name="Формула" r:id="rId4" imgW="1193760" imgH="431640" progId="Equation.3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79" y="5402014"/>
                        <a:ext cx="1511300" cy="54610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000"/>
                        </a:schemeClr>
                      </a:solidFill>
                      <a:ln w="9525">
                        <a:solidFill>
                          <a:srgbClr val="00336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7"/>
          <p:cNvSpPr>
            <a:spLocks noChangeShapeType="1"/>
          </p:cNvSpPr>
          <p:nvPr/>
        </p:nvSpPr>
        <p:spPr bwMode="auto">
          <a:xfrm flipV="1">
            <a:off x="1575667" y="4576515"/>
            <a:ext cx="349250" cy="550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 flipV="1">
            <a:off x="1575668" y="4357440"/>
            <a:ext cx="293687" cy="771525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 flipV="1">
            <a:off x="1580430" y="4222502"/>
            <a:ext cx="9525" cy="90170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 flipH="1" flipV="1">
            <a:off x="1278805" y="4652714"/>
            <a:ext cx="288925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H="1" flipV="1">
            <a:off x="1301030" y="4370140"/>
            <a:ext cx="271463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H="1" flipV="1">
            <a:off x="1051793" y="4227264"/>
            <a:ext cx="509587" cy="896938"/>
          </a:xfrm>
          <a:prstGeom prst="line">
            <a:avLst/>
          </a:prstGeom>
          <a:noFill/>
          <a:ln w="9525">
            <a:solidFill>
              <a:srgbClr val="808080">
                <a:alpha val="50000"/>
              </a:srgb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 flipH="1" flipV="1">
            <a:off x="1053380" y="3868489"/>
            <a:ext cx="523875" cy="1257300"/>
          </a:xfrm>
          <a:prstGeom prst="line">
            <a:avLst/>
          </a:prstGeom>
          <a:noFill/>
          <a:ln w="9525">
            <a:solidFill>
              <a:srgbClr val="808080">
                <a:alpha val="50000"/>
              </a:srgb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 flipH="1" flipV="1">
            <a:off x="800968" y="4298703"/>
            <a:ext cx="763587" cy="841375"/>
          </a:xfrm>
          <a:prstGeom prst="line">
            <a:avLst/>
          </a:prstGeom>
          <a:noFill/>
          <a:ln w="9525">
            <a:solidFill>
              <a:srgbClr val="808080">
                <a:alpha val="50000"/>
              </a:srgb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" name="Oval 15"/>
          <p:cNvSpPr>
            <a:spLocks noChangeArrowheads="1"/>
          </p:cNvSpPr>
          <p:nvPr/>
        </p:nvSpPr>
        <p:spPr bwMode="auto">
          <a:xfrm>
            <a:off x="1531218" y="5084514"/>
            <a:ext cx="98425" cy="9525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 flipV="1">
            <a:off x="1577254" y="4133603"/>
            <a:ext cx="736600" cy="1000125"/>
          </a:xfrm>
          <a:prstGeom prst="line">
            <a:avLst/>
          </a:prstGeom>
          <a:noFill/>
          <a:ln w="9525">
            <a:solidFill>
              <a:srgbClr val="808080">
                <a:alpha val="50000"/>
              </a:srgb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10463709" y="3543742"/>
            <a:ext cx="16110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1200" dirty="0">
                <a:latin typeface="+mj-lt"/>
              </a:rPr>
              <a:t>гидрофобный</a:t>
            </a: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10463709" y="6254492"/>
            <a:ext cx="172829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1200" dirty="0">
                <a:latin typeface="+mj-lt"/>
              </a:rPr>
              <a:t>гидрофильный</a:t>
            </a:r>
          </a:p>
        </p:txBody>
      </p:sp>
      <p:pic>
        <p:nvPicPr>
          <p:cNvPr id="24" name="Picture 18" descr="mhp_ill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00FFFF"/>
              </a:clrFrom>
              <a:clrTo>
                <a:srgbClr val="00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5" y="3062040"/>
            <a:ext cx="3529013" cy="177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3505647" y="2996952"/>
            <a:ext cx="244633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400" dirty="0">
                <a:solidFill>
                  <a:srgbClr val="FF0000"/>
                </a:solidFill>
                <a:latin typeface="+mj-lt"/>
              </a:rPr>
              <a:t>Принцип МГП:</a:t>
            </a:r>
          </a:p>
          <a:p>
            <a:pPr marL="171450" indent="-17145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Каждому атому присваивают «константу гидрофобности»</a:t>
            </a:r>
            <a:br>
              <a:rPr lang="en-US" altLang="ru-RU" sz="1400" dirty="0">
                <a:latin typeface="+mj-lt"/>
              </a:rPr>
            </a:br>
            <a:r>
              <a:rPr lang="en-US" altLang="ru-RU" sz="10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Viswanadhan</a:t>
            </a:r>
            <a:r>
              <a:rPr lang="en-US" alt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et al. (1989) J. Chem. Inf. </a:t>
            </a:r>
            <a:r>
              <a:rPr lang="en-US" altLang="ru-RU" sz="10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Comput</a:t>
            </a:r>
            <a:r>
              <a:rPr lang="en-US" alt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. Sci. </a:t>
            </a:r>
            <a:r>
              <a:rPr lang="en-US" altLang="ru-RU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29</a:t>
            </a:r>
            <a:r>
              <a:rPr lang="en-US" alt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ru-RU" altLang="ru-RU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163</a:t>
            </a:r>
            <a:endParaRPr lang="en-US" altLang="ru-RU" sz="105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marL="171450" indent="-17145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МГП вычисляется как сумма затухающих вкладов в точках молекулярной поверхности</a:t>
            </a:r>
          </a:p>
          <a:p>
            <a:pPr marL="171450" indent="-17145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sz="1400" dirty="0">
                <a:latin typeface="+mj-lt"/>
              </a:rPr>
              <a:t>Можно проводить сравнение разных распределений МГП </a:t>
            </a:r>
            <a:r>
              <a:rPr lang="en-US" altLang="ru-RU" sz="1400" dirty="0">
                <a:latin typeface="+mj-lt"/>
                <a:sym typeface="Wingdings" panose="05000000000000000000" pitchFamily="2" charset="2"/>
              </a:rPr>
              <a:t> </a:t>
            </a:r>
            <a:r>
              <a:rPr lang="ru-RU" altLang="ru-RU" sz="1400" dirty="0" err="1">
                <a:latin typeface="+mj-lt"/>
                <a:sym typeface="Wingdings" panose="05000000000000000000" pitchFamily="2" charset="2"/>
              </a:rPr>
              <a:t>комплементарность</a:t>
            </a:r>
            <a:endParaRPr lang="ru-RU" altLang="ru-RU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554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btn_surf_total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7BFF"/>
              </a:clrFrom>
              <a:clrTo>
                <a:srgbClr val="007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1" y="1573165"/>
            <a:ext cx="7488832" cy="5283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7" descr="btn_surf_as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7BFF"/>
              </a:clrFrom>
              <a:clrTo>
                <a:srgbClr val="007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1" y="1573165"/>
            <a:ext cx="7488832" cy="528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btn_surf_mhp_self_as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007BFF"/>
              </a:clrFrom>
              <a:clrTo>
                <a:srgbClr val="007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1" y="1573165"/>
            <a:ext cx="7488832" cy="528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9" descr="btn_surf_mhp_prot_as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007BFF"/>
              </a:clrFrom>
              <a:clrTo>
                <a:srgbClr val="007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1" y="1570521"/>
            <a:ext cx="7488832" cy="528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1415579" y="3111501"/>
            <a:ext cx="2808213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dirty="0">
                <a:latin typeface="+mj-lt"/>
              </a:rPr>
              <a:t>Молекулярная поверхность </a:t>
            </a:r>
            <a:r>
              <a:rPr lang="ru-RU" altLang="ru-RU" dirty="0" err="1">
                <a:latin typeface="+mj-lt"/>
              </a:rPr>
              <a:t>лиганда</a:t>
            </a:r>
            <a:endParaRPr lang="ru-RU" altLang="ru-RU" dirty="0">
              <a:latin typeface="+mj-lt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dirty="0">
                <a:latin typeface="+mj-lt"/>
              </a:rPr>
              <a:t>Контактная поверхность </a:t>
            </a:r>
            <a:r>
              <a:rPr lang="ru-RU" altLang="ru-RU" dirty="0" err="1">
                <a:latin typeface="+mj-lt"/>
              </a:rPr>
              <a:t>лиганда</a:t>
            </a:r>
            <a:endParaRPr lang="ru-RU" altLang="ru-RU" dirty="0">
              <a:latin typeface="+mj-lt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dirty="0">
                <a:latin typeface="+mj-lt"/>
              </a:rPr>
              <a:t>МГП, созданный атомами </a:t>
            </a:r>
            <a:r>
              <a:rPr lang="ru-RU" altLang="ru-RU" dirty="0" err="1">
                <a:latin typeface="+mj-lt"/>
              </a:rPr>
              <a:t>лиганда</a:t>
            </a:r>
            <a:endParaRPr lang="ru-RU" altLang="ru-RU" dirty="0">
              <a:latin typeface="+mj-lt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ru-RU" altLang="ru-RU" dirty="0">
                <a:latin typeface="+mj-lt"/>
              </a:rPr>
              <a:t>МГП, созданный атомами белка</a:t>
            </a:r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6163022" y="6138861"/>
            <a:ext cx="23812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u-RU" sz="1600" b="1" dirty="0">
                <a:solidFill>
                  <a:srgbClr val="0070C0"/>
                </a:solidFill>
                <a:latin typeface="+mj-lt"/>
                <a:cs typeface="Arial" panose="020B0604020202020204" pitchFamily="34" charset="0"/>
              </a:rPr>
              <a:t>█</a:t>
            </a:r>
            <a:r>
              <a:rPr lang="en-US" altLang="ru-RU" sz="16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ru-RU" altLang="ru-RU" sz="1600" b="1" dirty="0">
                <a:solidFill>
                  <a:srgbClr val="0070C0"/>
                </a:solidFill>
                <a:latin typeface="+mj-lt"/>
                <a:cs typeface="Arial" panose="020B0604020202020204" pitchFamily="34" charset="0"/>
              </a:rPr>
              <a:t>Гидрофобная</a:t>
            </a:r>
            <a:endParaRPr lang="en-US" altLang="ru-RU" sz="1600" b="1" dirty="0">
              <a:solidFill>
                <a:srgbClr val="0070C0"/>
              </a:solidFill>
              <a:latin typeface="+mj-lt"/>
            </a:endParaRPr>
          </a:p>
          <a:p>
            <a:pPr>
              <a:spcBef>
                <a:spcPct val="50000"/>
              </a:spcBef>
            </a:pPr>
            <a:r>
              <a:rPr lang="en-US" altLang="ru-RU" sz="1600" b="1" dirty="0">
                <a:solidFill>
                  <a:srgbClr val="FF3300"/>
                </a:solidFill>
                <a:latin typeface="+mj-lt"/>
              </a:rPr>
              <a:t>█</a:t>
            </a:r>
            <a:r>
              <a:rPr lang="ru-RU" altLang="ru-RU" sz="1600" b="1" dirty="0">
                <a:solidFill>
                  <a:srgbClr val="FF3300"/>
                </a:solidFill>
                <a:latin typeface="+mj-lt"/>
              </a:rPr>
              <a:t> Гидрофильная</a:t>
            </a:r>
            <a:endParaRPr lang="ru-RU" altLang="ru-RU" sz="1600" b="1" dirty="0">
              <a:latin typeface="+mj-lt"/>
            </a:endParaRP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9854278" y="6381751"/>
            <a:ext cx="23035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ru-RU" sz="1200" b="1" dirty="0">
                <a:latin typeface="+mj-lt"/>
              </a:rPr>
              <a:t>1STP: </a:t>
            </a:r>
            <a:r>
              <a:rPr lang="ru-RU" altLang="ru-RU" sz="1200" dirty="0">
                <a:latin typeface="+mj-lt"/>
              </a:rPr>
              <a:t>Комплекс </a:t>
            </a:r>
            <a:r>
              <a:rPr lang="ru-RU" altLang="ru-RU" sz="1200" dirty="0" err="1">
                <a:latin typeface="+mj-lt"/>
              </a:rPr>
              <a:t>стрептавидина</a:t>
            </a:r>
            <a:r>
              <a:rPr lang="ru-RU" altLang="ru-RU" sz="1200" dirty="0">
                <a:latin typeface="+mj-lt"/>
              </a:rPr>
              <a:t> с биотином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0BED1E5-B377-4383-B4F7-E6F5EC57804F}"/>
              </a:ext>
            </a:extLst>
          </p:cNvPr>
          <p:cNvSpPr txBox="1">
            <a:spLocks noChangeArrowheads="1"/>
          </p:cNvSpPr>
          <p:nvPr/>
        </p:nvSpPr>
        <p:spPr>
          <a:xfrm>
            <a:off x="541486" y="1341438"/>
            <a:ext cx="10379050" cy="17700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000" dirty="0"/>
              <a:t>Невысокая точность ОФ </a:t>
            </a:r>
            <a:r>
              <a:rPr lang="ru-RU" altLang="ru-RU" sz="2000" dirty="0" err="1"/>
              <a:t>докинга</a:t>
            </a:r>
            <a:r>
              <a:rPr lang="ru-RU" altLang="ru-RU" sz="2000" dirty="0"/>
              <a:t> можно компенсировать дополнительными функциями-«фильтрами», например:</a:t>
            </a:r>
            <a:endParaRPr lang="ru-RU" altLang="ru-RU" sz="20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ru-RU" altLang="ru-RU" sz="2400" dirty="0">
                <a:solidFill>
                  <a:srgbClr val="FF0000"/>
                </a:solidFill>
                <a:latin typeface="+mj-lt"/>
              </a:rPr>
              <a:t>Критерий комплементарности молекулярного гидрофобного потенциала (МГП)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0A4E1B29-5CA5-4040-A3D4-C1A7A011F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599" y="287338"/>
            <a:ext cx="8496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Преодоление недостатков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докинга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</a:t>
            </a:r>
            <a:b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</a:br>
            <a:r>
              <a:rPr lang="ru-RU" sz="2000" i="0" dirty="0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II. Оптимизация оценочной функции (ОФ) </a:t>
            </a:r>
            <a:r>
              <a:rPr lang="ru-RU" sz="2000" i="0" dirty="0" err="1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докинга</a:t>
            </a:r>
            <a:endParaRPr lang="ru-RU" sz="2000" i="0" dirty="0">
              <a:solidFill>
                <a:schemeClr val="accent2">
                  <a:lumMod val="75000"/>
                </a:schemeClr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03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551707" y="287338"/>
            <a:ext cx="8496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Преодоление недостатков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докинга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</a:t>
            </a:r>
            <a:b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</a:br>
            <a:r>
              <a:rPr lang="ru-RU" sz="2000" i="0" dirty="0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II. Оптимизация оценочной функции </a:t>
            </a:r>
            <a:r>
              <a:rPr lang="ru-RU" sz="2000" i="0" dirty="0" err="1">
                <a:solidFill>
                  <a:schemeClr val="accent2">
                    <a:lumMod val="75000"/>
                  </a:schemeClr>
                </a:solidFill>
                <a:latin typeface="+mj-lt"/>
                <a:cs typeface="+mn-cs"/>
              </a:rPr>
              <a:t>докинга</a:t>
            </a:r>
            <a:endParaRPr lang="ru-RU" sz="2000" i="0" dirty="0">
              <a:solidFill>
                <a:schemeClr val="accent2">
                  <a:lumMod val="75000"/>
                </a:schemeClr>
              </a:solidFill>
              <a:latin typeface="+mj-lt"/>
              <a:cs typeface="+mn-cs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540594" y="1341438"/>
            <a:ext cx="944383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7088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5075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43063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ru-RU" altLang="ru-RU" sz="2000" dirty="0">
                <a:latin typeface="+mj-lt"/>
              </a:rPr>
              <a:t>Критерий МГП-комплементарности используется для ре-ранжирования результатов </a:t>
            </a:r>
            <a:r>
              <a:rPr lang="ru-RU" altLang="ru-RU" sz="2000" dirty="0" err="1">
                <a:latin typeface="+mj-lt"/>
              </a:rPr>
              <a:t>докинга</a:t>
            </a:r>
            <a:r>
              <a:rPr lang="ru-RU" altLang="ru-RU" sz="2000" dirty="0">
                <a:latin typeface="+mj-lt"/>
              </a:rPr>
              <a:t>. Критерий полезности — «степень обогащения»</a:t>
            </a:r>
            <a:endParaRPr lang="ru-RU" altLang="ru-RU" sz="2400" dirty="0">
              <a:latin typeface="+mj-lt"/>
            </a:endParaRPr>
          </a:p>
        </p:txBody>
      </p:sp>
      <p:pic>
        <p:nvPicPr>
          <p:cNvPr id="14" name="Picture 6" descr="pykov-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2132855"/>
            <a:ext cx="6624736" cy="448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7104112" y="2780928"/>
            <a:ext cx="302418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sz="1600" dirty="0" err="1">
                <a:latin typeface="+mj-lt"/>
              </a:rPr>
              <a:t>Докинг</a:t>
            </a:r>
            <a:r>
              <a:rPr lang="ru-RU" altLang="ru-RU" sz="1600" dirty="0">
                <a:latin typeface="+mj-lt"/>
              </a:rPr>
              <a:t> АТФ в </a:t>
            </a:r>
            <a:r>
              <a:rPr lang="en-US" altLang="ru-RU" sz="1600" dirty="0">
                <a:latin typeface="+mj-lt"/>
              </a:rPr>
              <a:t>Ca</a:t>
            </a:r>
            <a:r>
              <a:rPr lang="en-US" altLang="ru-RU" sz="1600" baseline="30000" dirty="0">
                <a:latin typeface="+mj-lt"/>
              </a:rPr>
              <a:t>2+</a:t>
            </a:r>
            <a:r>
              <a:rPr lang="ru-RU" altLang="ru-RU" sz="1600" dirty="0">
                <a:latin typeface="+mj-lt"/>
              </a:rPr>
              <a:t>-</a:t>
            </a:r>
            <a:r>
              <a:rPr lang="ru-RU" altLang="ru-RU" sz="1600" dirty="0" err="1">
                <a:latin typeface="+mj-lt"/>
              </a:rPr>
              <a:t>АТФазу</a:t>
            </a:r>
            <a:endParaRPr lang="ru-RU" altLang="ru-RU" sz="1600" dirty="0">
              <a:latin typeface="+mj-lt"/>
            </a:endParaRPr>
          </a:p>
          <a:p>
            <a:pPr>
              <a:spcBef>
                <a:spcPct val="50000"/>
              </a:spcBef>
            </a:pPr>
            <a:r>
              <a:rPr lang="ru-RU" altLang="ru-RU" sz="1600" dirty="0">
                <a:latin typeface="+mj-lt"/>
              </a:rPr>
              <a:t>Число МД-</a:t>
            </a:r>
            <a:r>
              <a:rPr lang="ru-RU" altLang="ru-RU" sz="1600" dirty="0" err="1">
                <a:latin typeface="+mj-lt"/>
              </a:rPr>
              <a:t>конформеров</a:t>
            </a:r>
            <a:r>
              <a:rPr lang="ru-RU" altLang="ru-RU" sz="1600" dirty="0">
                <a:latin typeface="+mj-lt"/>
              </a:rPr>
              <a:t>: 250</a:t>
            </a:r>
          </a:p>
          <a:p>
            <a:pPr>
              <a:spcBef>
                <a:spcPct val="50000"/>
              </a:spcBef>
            </a:pPr>
            <a:r>
              <a:rPr lang="ru-RU" altLang="ru-RU" sz="1600" dirty="0">
                <a:latin typeface="+mj-lt"/>
              </a:rPr>
              <a:t>Общее число решений </a:t>
            </a:r>
            <a:r>
              <a:rPr lang="ru-RU" altLang="ru-RU" sz="1600" dirty="0" err="1">
                <a:latin typeface="+mj-lt"/>
              </a:rPr>
              <a:t>докинга</a:t>
            </a:r>
            <a:r>
              <a:rPr lang="ru-RU" altLang="ru-RU" sz="1600" dirty="0">
                <a:latin typeface="+mj-lt"/>
              </a:rPr>
              <a:t>: </a:t>
            </a:r>
            <a:r>
              <a:rPr lang="en-US" altLang="ru-RU" sz="1600" dirty="0">
                <a:latin typeface="+mj-lt"/>
              </a:rPr>
              <a:t>~</a:t>
            </a:r>
            <a:r>
              <a:rPr lang="ru-RU" altLang="ru-RU" sz="1600" dirty="0">
                <a:latin typeface="+mj-lt"/>
              </a:rPr>
              <a:t>15000</a:t>
            </a: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7104113" y="4508127"/>
            <a:ext cx="3203575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altLang="ru-RU" b="1" i="0" dirty="0">
                <a:solidFill>
                  <a:srgbClr val="0070C0"/>
                </a:solidFill>
                <a:latin typeface="+mj-lt"/>
              </a:rPr>
              <a:t>— </a:t>
            </a:r>
            <a:r>
              <a:rPr lang="ru-RU" altLang="ru-RU" sz="1600" dirty="0" err="1">
                <a:solidFill>
                  <a:srgbClr val="0070C0"/>
                </a:solidFill>
                <a:latin typeface="+mj-lt"/>
              </a:rPr>
              <a:t>Докинг</a:t>
            </a:r>
            <a:r>
              <a:rPr lang="ru-RU" altLang="ru-RU" sz="1600" dirty="0">
                <a:solidFill>
                  <a:srgbClr val="0070C0"/>
                </a:solidFill>
                <a:latin typeface="+mj-lt"/>
              </a:rPr>
              <a:t> с помощью </a:t>
            </a:r>
            <a:r>
              <a:rPr lang="en-US" altLang="ru-RU" sz="1600" dirty="0">
                <a:solidFill>
                  <a:srgbClr val="0070C0"/>
                </a:solidFill>
                <a:latin typeface="+mj-lt"/>
              </a:rPr>
              <a:t>GOLD</a:t>
            </a:r>
            <a:r>
              <a:rPr lang="ru-RU" altLang="ru-RU" sz="1600" dirty="0">
                <a:solidFill>
                  <a:srgbClr val="0070C0"/>
                </a:solidFill>
                <a:latin typeface="+mj-lt"/>
              </a:rPr>
              <a:t> (на уровне случайного выбора </a:t>
            </a:r>
            <a:r>
              <a:rPr lang="ru-RU" altLang="ru-RU" sz="1600" dirty="0" err="1">
                <a:solidFill>
                  <a:srgbClr val="0070C0"/>
                </a:solidFill>
                <a:latin typeface="+mj-lt"/>
              </a:rPr>
              <a:t>конформеров</a:t>
            </a:r>
            <a:r>
              <a:rPr lang="ru-RU" altLang="ru-RU" sz="1600" dirty="0">
                <a:solidFill>
                  <a:srgbClr val="0070C0"/>
                </a:solidFill>
                <a:latin typeface="+mj-lt"/>
              </a:rPr>
              <a:t>)</a:t>
            </a:r>
            <a:endParaRPr lang="en-US" altLang="ru-RU" sz="1600" dirty="0">
              <a:solidFill>
                <a:srgbClr val="0070C0"/>
              </a:solidFill>
              <a:latin typeface="+mj-lt"/>
            </a:endParaRPr>
          </a:p>
          <a:p>
            <a:pPr>
              <a:spcBef>
                <a:spcPct val="50000"/>
              </a:spcBef>
            </a:pPr>
            <a:r>
              <a:rPr lang="ru-RU" altLang="ru-RU" b="1" i="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— </a:t>
            </a:r>
            <a:r>
              <a:rPr lang="ru-RU" altLang="ru-RU" sz="16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Ре-ранжирование по МГП-комплементарности</a:t>
            </a:r>
          </a:p>
        </p:txBody>
      </p:sp>
    </p:spTree>
    <p:extLst>
      <p:ext uri="{BB962C8B-B14F-4D97-AF65-F5344CB8AC3E}">
        <p14:creationId xmlns:p14="http://schemas.microsoft.com/office/powerpoint/2010/main" val="4279881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551384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Выводы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51384" y="958463"/>
            <a:ext cx="8461375" cy="319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6700" indent="-2667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r>
              <a:rPr lang="ru-RU" sz="2800" i="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Докинг</a:t>
            </a:r>
            <a:r>
              <a:rPr lang="ru-RU" sz="28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— способ промоделировать взаимодействие двух молекул</a:t>
            </a:r>
          </a:p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endParaRPr lang="ru-RU" sz="28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r>
              <a:rPr lang="ru-RU" sz="28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Часто используется для задач драг-дизайна</a:t>
            </a:r>
          </a:p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endParaRPr lang="ru-RU" sz="28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eaLnBrk="1" hangingPunct="1">
              <a:spcAft>
                <a:spcPts val="1000"/>
              </a:spcAft>
              <a:buFont typeface="Wingdings" pitchFamily="2" charset="2"/>
              <a:buChar char="§"/>
            </a:pPr>
            <a:r>
              <a:rPr lang="ru-RU" sz="2800" i="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Это очень молодая и незрелая область</a:t>
            </a:r>
            <a:endParaRPr lang="en-US" sz="2800" i="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7050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Спасибо за внимание!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0378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00843B"/>
      </a:hlink>
      <a:folHlink>
        <a:srgbClr val="B2B2B2"/>
      </a:folHlink>
    </a:clrScheme>
    <a:fontScheme name="Требушет / Джорджия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2788</TotalTime>
  <Words>2308</Words>
  <Application>Microsoft Office PowerPoint</Application>
  <PresentationFormat>Широкоэкранный</PresentationFormat>
  <Paragraphs>284</Paragraphs>
  <Slides>23</Slides>
  <Notes>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23</vt:i4>
      </vt:variant>
    </vt:vector>
  </HeadingPairs>
  <TitlesOfParts>
    <vt:vector size="33" baseType="lpstr">
      <vt:lpstr>Arial</vt:lpstr>
      <vt:lpstr>Arial Narrow</vt:lpstr>
      <vt:lpstr>Calibri</vt:lpstr>
      <vt:lpstr>Consolas</vt:lpstr>
      <vt:lpstr>Georgia</vt:lpstr>
      <vt:lpstr>Trebuchet MS</vt:lpstr>
      <vt:lpstr>Wingdings</vt:lpstr>
      <vt:lpstr>Тема Office</vt:lpstr>
      <vt:lpstr>CS ChemDraw Drawing</vt:lpstr>
      <vt:lpstr>Формула</vt:lpstr>
      <vt:lpstr>Компьютерный докинг и виртуальный скрининг молекулярных баз данных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Антон</dc:creator>
  <cp:lastModifiedBy>Антон Чугунов</cp:lastModifiedBy>
  <cp:revision>207</cp:revision>
  <dcterms:created xsi:type="dcterms:W3CDTF">2010-04-27T11:58:13Z</dcterms:created>
  <dcterms:modified xsi:type="dcterms:W3CDTF">2023-10-30T09:19:32Z</dcterms:modified>
</cp:coreProperties>
</file>